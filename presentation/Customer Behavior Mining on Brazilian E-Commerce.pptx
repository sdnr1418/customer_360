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embeddedFontLst>
    <p:embeddedFont>
      <p:font typeface="Quattrocento Sans" charset="-122" pitchFamily="34"/>
      <p:regular r:id="rId26"/>
    </p:embeddedFont>
    <p:embeddedFont>
      <p:font typeface="Unna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Relationship Id="rId2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619500"/>
            <a:ext cx="2540000" cy="381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spc="100" kern="0" dirty="0">
                <a:solidFill>
                  <a:srgbClr val="F7F5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Customer Behavior Mining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413000" y="3937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Data Mining Pipeline from Raw Data to Actionable Business Insights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Brazilian E-Commerce (Olist) Dataset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953000" y="787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MINING COURSE PROJECT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46990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63500" cy="2921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841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111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we are building, dataset overview, and the complete pipeline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651000"/>
            <a:ext cx="46990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5778500" y="1651000"/>
            <a:ext cx="63500" cy="2921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1841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 &amp; EDA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3111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consolidation, cleaning, feature engineering, scaling, and exploratory analysis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651000"/>
            <a:ext cx="46990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0" y="1651000"/>
            <a:ext cx="63500" cy="2921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6" name="Text 14"/>
          <p:cNvSpPr/>
          <p:nvPr/>
        </p:nvSpPr>
        <p:spPr>
          <a:xfrm>
            <a:off x="11112500" y="1841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12500" y="2603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Rule Mining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2500" y="3111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Cross-category and intra-category purchase patterns using FP-Growth algorithm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953000"/>
            <a:ext cx="46990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953000"/>
            <a:ext cx="63500" cy="2921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5143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9500" y="5905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9500" y="6413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K-Prototype clustering with mixed-type features to discover customer personas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8500" y="4953000"/>
            <a:ext cx="46990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5" name="Shape 23"/>
          <p:cNvSpPr/>
          <p:nvPr/>
        </p:nvSpPr>
        <p:spPr>
          <a:xfrm>
            <a:off x="5778500" y="4953000"/>
            <a:ext cx="63500" cy="2921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26" name="Text 24"/>
          <p:cNvSpPr/>
          <p:nvPr/>
        </p:nvSpPr>
        <p:spPr>
          <a:xfrm>
            <a:off x="6096000" y="5143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0" y="5905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&amp; Insights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96000" y="6413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Segment-specific association rules revealing three shopping personalities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795000" y="4953000"/>
            <a:ext cx="4699000" cy="2921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95000" y="4953000"/>
            <a:ext cx="63500" cy="2921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31" name="Text 29"/>
          <p:cNvSpPr/>
          <p:nvPr/>
        </p:nvSpPr>
        <p:spPr>
          <a:xfrm>
            <a:off x="11112500" y="51435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12500" y="5905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&amp; Recommendations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12500" y="64135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 and actionable business recommendations for stakeholders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DATA PIPELINE &amp; EDA | ASSOCIATION RULES | SEGMENTATION | INTEGRATION |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What We Are Building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2794000" cy="1143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3970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Pipeline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+ Cleaning + Features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83000" y="1841500"/>
            <a:ext cx="381000" cy="0"/>
          </a:xfrm>
          <a:prstGeom prst="straightConnector1">
            <a:avLst/>
          </a:prstGeom>
          <a:noFill/>
          <a:ln w="25400">
            <a:solidFill>
              <a:srgbClr val="C87E2E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191000" y="1397000"/>
            <a:ext cx="2794000" cy="1143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0" name="Text 8"/>
          <p:cNvSpPr/>
          <p:nvPr/>
        </p:nvSpPr>
        <p:spPr>
          <a:xfrm>
            <a:off x="4191000" y="13970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Distributions &amp; Behavior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12000" y="1841500"/>
            <a:ext cx="381000" cy="0"/>
          </a:xfrm>
          <a:prstGeom prst="straightConnector1">
            <a:avLst/>
          </a:prstGeom>
          <a:noFill/>
          <a:ln w="25400">
            <a:solidFill>
              <a:srgbClr val="C87E2E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620000" y="1397000"/>
            <a:ext cx="2794000" cy="1143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0" y="13970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ARM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 Rules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541000" y="1841500"/>
            <a:ext cx="381000" cy="0"/>
          </a:xfrm>
          <a:prstGeom prst="straightConnector1">
            <a:avLst/>
          </a:prstGeom>
          <a:noFill/>
          <a:ln w="25400">
            <a:solidFill>
              <a:srgbClr val="C87E2E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1049000" y="1397000"/>
            <a:ext cx="2794000" cy="1143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0" y="13970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Clustering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K-Prototype Segments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970000" y="1841500"/>
            <a:ext cx="381000" cy="0"/>
          </a:xfrm>
          <a:prstGeom prst="straightConnector1">
            <a:avLst/>
          </a:prstGeom>
          <a:noFill/>
          <a:ln w="25400">
            <a:solidFill>
              <a:srgbClr val="C87E2E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4478000" y="1397000"/>
            <a:ext cx="1270000" cy="508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9" name="Text 17"/>
          <p:cNvSpPr/>
          <p:nvPr/>
        </p:nvSpPr>
        <p:spPr>
          <a:xfrm>
            <a:off x="14478000" y="1397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292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93,398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62000" y="35560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Customers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5000" y="292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96,478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445000" y="35560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8000" y="292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128000" y="35560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11000" y="2921000"/>
            <a:ext cx="342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11811000" y="3556000"/>
            <a:ext cx="342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4127500"/>
            <a:ext cx="14732000" cy="12700"/>
          </a:xfrm>
          <a:prstGeom prst="rect">
            <a:avLst/>
          </a:prstGeom>
          <a:solidFill>
            <a:srgbClr val="6B8E8E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438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4889500"/>
            <a:ext cx="6858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Traditional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RFM analysis fails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 this dataset because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97% of customers are one-time buyers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Frequency and Recency collapse into near-uniform distributions.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Our solution: engineer 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purchase-behavior features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discriminate even among single-purchase customers: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Spending power (monetary, avg_order_value)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Category preferences (preferred_category)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Geographic signals (customer_state, is_sp)</a:t>
            </a:r>
            <a:endParaRPr lang="en-US" sz="1800" dirty="0"/>
          </a:p>
          <a:p>
            <a:pPr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Temporal patterns (recency_quartile)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128000" y="4381500"/>
            <a:ext cx="7366000" cy="3937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2" name="Text 30"/>
          <p:cNvSpPr/>
          <p:nvPr/>
        </p:nvSpPr>
        <p:spPr>
          <a:xfrm>
            <a:off x="8445500" y="4572000"/>
            <a:ext cx="673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Breakdown (13 Total)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45500" y="5080000"/>
          <a:ext cx="6731000" cy="3505200"/>
        </p:xfrm>
        <a:graphic>
          <a:graphicData uri="http://schemas.openxmlformats.org/drawingml/2006/table">
            <a:tbl>
              <a:tblPr/>
              <a:tblGrid>
                <a:gridCol w="2355850"/>
                <a:gridCol w="2355850"/>
                <a:gridCol w="2019300"/>
              </a:tblGrid>
              <a:tr h="52259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num_orders, monetary, avg_order_value, total_items_bought, avg_item_price, recency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65005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recency_quartile, preferred_category, customer_state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52259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Binary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is_repeat_customer, is_high_value, is_sp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48435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customer_unique_id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48435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Total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302000"/>
            <a:ext cx="1270000" cy="381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7F5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DATA PIPELINE &amp; EDA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81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raw CSVs to analysis-ready features across 96K transactions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| 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PIPELINE &amp; EDA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ASSOCIATION RULES | SEGMENTATION | INTEGRATION |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Phase 1: Building the Data Foundation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3429000" cy="2032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498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19304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23114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JOIN across 5 tables creating a Customer 360 view with delivered orders only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0" y="1397000"/>
            <a:ext cx="3429000" cy="2032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1" name="Text 9"/>
          <p:cNvSpPr/>
          <p:nvPr/>
        </p:nvSpPr>
        <p:spPr>
          <a:xfrm>
            <a:off x="4635500" y="1498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5500" y="19304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5500" y="23114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Filled null categories, removed duplicates &amp; invalid prices. ~87% data retention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1397000"/>
            <a:ext cx="3429000" cy="2032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8318500" y="1498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18500" y="19304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18500" y="23114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features: 6 continuous + 3 categorical + 3 binary + 1 ID for traceability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11000" y="1397000"/>
            <a:ext cx="3429000" cy="2032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12001500" y="14986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01500" y="19304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Scaling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01500" y="23114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log1p transform + RobustScaler. K-selection via 4 metrics: Elbow, Silhouette, DB, CH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746500"/>
            <a:ext cx="50800" cy="4699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381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Pipeline Decisions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4318000"/>
            <a:ext cx="6858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log1p + RobustScaler?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Monetary has extreme outliers ($0.85 to $13,000+). Log1p compresses the right tail; RobustScaler uses median/IQR, ignoring extremes.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K-Prototype over K-Means?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Our data has 6 continuous + 3 categorical features. K-Prototype handles mixed data natively.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15 categories?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Increased from 10 to enrich Phase 2 association mining with more granular affinities.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82000" y="3810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Dataset Variants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4318000"/>
            <a:ext cx="6858000" cy="101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4381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Ready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Numerical only (6 scaled features)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Use: Baseline comparison only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5461000"/>
            <a:ext cx="6858000" cy="101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9" name="Text 27"/>
          <p:cNvSpPr/>
          <p:nvPr/>
        </p:nvSpPr>
        <p:spPr>
          <a:xfrm>
            <a:off x="8572500" y="5524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K-Prototype Ready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Mixed-type (6 numeric + 3 categorical) [PRIMARY]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Use: Main clustering algorithm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82000" y="6604000"/>
            <a:ext cx="6858000" cy="101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31" name="Text 29"/>
          <p:cNvSpPr/>
          <p:nvPr/>
        </p:nvSpPr>
        <p:spPr>
          <a:xfrm>
            <a:off x="8572500" y="6667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K-Medoids + Gower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Mixed-type with original scales [SECONDARY]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Use: Robust alternative, O(n²) cost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| 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PIPELINE &amp; EDA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ASSOCIATION RULES | SEGMENTATION | INTEGRATION |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EDA Insight: Highly Skewed Spending Patterns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33500"/>
            <a:ext cx="6858000" cy="952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33500"/>
            <a:ext cx="50800" cy="9525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397000"/>
            <a:ext cx="647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six numerical features show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 right-skewness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Monetary skewness exceeds 2.0, with range from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$0.85 to $13,000+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pic>
        <p:nvPicPr>
          <p:cNvPr id="9" name="Image 0" descr="https://kimi-img.moonshot.cn/pub/slides/okc/hd6xwpyn4ztnc/mnt/agents/upload/01_numerical_distributions.png">    </p:cNvPr>
          <p:cNvPicPr>
            <a:picLocks noChangeAspect="1"/>
          </p:cNvPicPr>
          <p:nvPr/>
        </p:nvPicPr>
        <p:blipFill>
          <a:blip r:embed="rId1"/>
          <a:srcRect l="0" r="0" t="-2986" b="-2986"/>
          <a:stretch/>
        </p:blipFill>
        <p:spPr>
          <a:xfrm>
            <a:off x="762000" y="2540000"/>
            <a:ext cx="8890000" cy="5842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160000" y="2540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160000" y="3111500"/>
            <a:ext cx="5334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Skewness Severity: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monetary: ~2.5 | num_orders: ~2.0 | avg_item_price: ~1.8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flagged as HIGHLY SKEWED (&gt;1.0)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Outlier Impact: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IQR method flags 5-15% as outliers per feature.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 Transform Benefit: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 log1p, monetary skew drops from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2.5 to ~0.3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enabling reliable clustering.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Correlation Check: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correlations &gt;0.80. Features are independent.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| 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PIPELINE &amp; EDA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ASSOCIATION RULES | SEGMENTATION | INTEGRATION |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EDA Insight: Market Basket Composition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33500"/>
            <a:ext cx="8890000" cy="889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33500"/>
            <a:ext cx="50800" cy="889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39700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orders contain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items from single categories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Only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3.1% are repeat buyers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5% qualify as high-value.</a:t>
            </a:r>
            <a:endParaRPr lang="en-US" sz="1600" dirty="0"/>
          </a:p>
        </p:txBody>
      </p:sp>
      <p:pic>
        <p:nvPicPr>
          <p:cNvPr id="9" name="Image 0" descr="https://kimi-img.moonshot.cn/pub/slides/okc/hd6xwpyn4ztnc/mnt/agents/upload/03_categorical_distributions.png">    </p:cNvPr>
          <p:cNvPicPr>
            <a:picLocks noChangeAspect="1"/>
          </p:cNvPicPr>
          <p:nvPr/>
        </p:nvPicPr>
        <p:blipFill>
          <a:blip r:embed="rId1"/>
          <a:srcRect l="0" r="0" t="-70543" b="-70543"/>
          <a:stretch/>
        </p:blipFill>
        <p:spPr>
          <a:xfrm>
            <a:off x="762000" y="2349500"/>
            <a:ext cx="8128000" cy="609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98000" y="2349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Business Context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398000" y="2921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3.1%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9398000" y="3492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Buyers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192000" y="2921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12192000" y="3492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High-Value Customers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398000" y="4064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41%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9398000" y="463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Sao Paulo (SP)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192000" y="4064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12192000" y="4635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Categories Tracked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398000" y="5207000"/>
            <a:ext cx="6096000" cy="12700"/>
          </a:xfrm>
          <a:prstGeom prst="rect">
            <a:avLst/>
          </a:prstGeom>
          <a:solidFill>
            <a:srgbClr val="6B8E8E"/>
          </a:solidFill>
          <a:ln/>
        </p:spPr>
      </p:sp>
      <p:sp>
        <p:nvSpPr>
          <p:cNvPr id="20" name="Text 17"/>
          <p:cNvSpPr/>
          <p:nvPr/>
        </p:nvSpPr>
        <p:spPr>
          <a:xfrm>
            <a:off x="9398000" y="5397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 on Strategy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98000" y="59055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RFM analysis fails here — Frequency and Recency collapse with 97% one-time buyers.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pivoted to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purchase-behavior features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discriminate even among single-purchase customers: spending power, category preference, and geographic signals.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| 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PIPELINE &amp; EDA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ASSOCIATION RULES | SEGMENTATION | INTEGRATION |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EDA Insight: Customer Behavior Patterns</a:t>
            </a:r>
            <a:endParaRPr lang="en-US" sz="2800" dirty="0"/>
          </a:p>
        </p:txBody>
      </p:sp>
      <p:pic>
        <p:nvPicPr>
          <p:cNvPr id="6" name="Image 0" descr="https://kimi-img.moonshot.cn/pub/slides/okc/hd6xwpyn4ztnc/mnt/agents/upload/09_recency_monetary_behavior.png">    </p:cNvPr>
          <p:cNvPicPr>
            <a:picLocks noChangeAspect="1"/>
          </p:cNvPicPr>
          <p:nvPr/>
        </p:nvPicPr>
        <p:blipFill>
          <a:blip r:embed="rId1"/>
          <a:srcRect l="0" r="0" t="-47318" b="-47318"/>
          <a:stretch/>
        </p:blipFill>
        <p:spPr>
          <a:xfrm>
            <a:off x="762000" y="1397000"/>
            <a:ext cx="9144000" cy="673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14000" y="139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Behavioral Zones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414000" y="1968500"/>
            <a:ext cx="5080000" cy="1397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Shape 6"/>
          <p:cNvSpPr/>
          <p:nvPr/>
        </p:nvSpPr>
        <p:spPr>
          <a:xfrm>
            <a:off x="10414000" y="1968500"/>
            <a:ext cx="50800" cy="1270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0" name="Text 7"/>
          <p:cNvSpPr/>
          <p:nvPr/>
        </p:nvSpPr>
        <p:spPr>
          <a:xfrm>
            <a:off x="10668000" y="2032000"/>
            <a:ext cx="469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High-Value Active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Lower-left cluster: recent purchases + high spending. These are the platform's most valuable engaged customers.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414000" y="3365500"/>
            <a:ext cx="5080000" cy="1460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2" name="Shape 9"/>
          <p:cNvSpPr/>
          <p:nvPr/>
        </p:nvSpPr>
        <p:spPr>
          <a:xfrm>
            <a:off x="10414000" y="3365500"/>
            <a:ext cx="50800" cy="1460500"/>
          </a:xfrm>
          <a:prstGeom prst="rect">
            <a:avLst/>
          </a:prstGeom>
          <a:solidFill>
            <a:srgbClr val="6B8E8E"/>
          </a:solidFill>
          <a:ln/>
        </p:spPr>
      </p:sp>
      <p:sp>
        <p:nvSpPr>
          <p:cNvPr id="13" name="Text 10"/>
          <p:cNvSpPr/>
          <p:nvPr/>
        </p:nvSpPr>
        <p:spPr>
          <a:xfrm>
            <a:off x="10668000" y="3429000"/>
            <a:ext cx="469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One-Time Low-Value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concentration in low-monetary, high-recency region. The majority of customers — single purchase, long ago.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414000" y="4762500"/>
            <a:ext cx="5080000" cy="1206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14000" y="4762500"/>
            <a:ext cx="50800" cy="12065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6" name="Text 13"/>
          <p:cNvSpPr/>
          <p:nvPr/>
        </p:nvSpPr>
        <p:spPr>
          <a:xfrm>
            <a:off x="10668000" y="4826000"/>
            <a:ext cx="469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Small Buyers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spending but recent activity. Potential for nurturing into repeat customers with targeted campaigns.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414000" y="6223000"/>
            <a:ext cx="5080000" cy="2159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8" name="Text 15"/>
          <p:cNvSpPr/>
          <p:nvPr/>
        </p:nvSpPr>
        <p:spPr>
          <a:xfrm>
            <a:off x="10668000" y="63500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hexbin density map confirms most customers cluster in the low-spending, high-recency region. This validates our decision to engineer features beyond simple RFM.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302000"/>
            <a:ext cx="1270000" cy="381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7F5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ASSOCIATION RULE MINING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81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Discovering cross-category and intra-category purchase patterns with FP-Growth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| DATA PIPELINE &amp; EDA | 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ASSOCIATION RULES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SEGMENTATION | INTEGRATION |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Phase 2: Cross-Category Rules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33500"/>
            <a:ext cx="2286000" cy="8255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3716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18034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Rules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38500" y="1333500"/>
            <a:ext cx="2286000" cy="8255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0" name="Text 8"/>
          <p:cNvSpPr/>
          <p:nvPr/>
        </p:nvSpPr>
        <p:spPr>
          <a:xfrm>
            <a:off x="3238500" y="13716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6.84x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38500" y="18034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Lift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1333500"/>
            <a:ext cx="2286000" cy="8255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13716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41.05x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0" y="18034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Lift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91500" y="1333500"/>
            <a:ext cx="2286000" cy="8255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6" name="Text 14"/>
          <p:cNvSpPr/>
          <p:nvPr/>
        </p:nvSpPr>
        <p:spPr>
          <a:xfrm>
            <a:off x="8191500" y="13716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91500" y="18034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Multi-Cat Orders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668000" y="1333500"/>
            <a:ext cx="2286000" cy="8255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0" y="13716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0.32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0" y="18034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Kulczynski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144500" y="1333500"/>
            <a:ext cx="2286000" cy="8255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13144500" y="13716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144500" y="18034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Convergence</a:t>
            </a:r>
            <a:endParaRPr lang="en-US" sz="1600" dirty="0"/>
          </a:p>
        </p:txBody>
      </p:sp>
      <p:pic>
        <p:nvPicPr>
          <p:cNvPr id="24" name="Image 0" descr="https://kimi-img.moonshot.cn/pub/slides/okc/hd6xwpyn4ztnc/mnt/agents/upload/01_top15_rules_by_lift.png">    </p:cNvPr>
          <p:cNvPicPr>
            <a:picLocks noChangeAspect="1"/>
          </p:cNvPicPr>
          <p:nvPr/>
        </p:nvPicPr>
        <p:blipFill>
          <a:blip r:embed="rId1"/>
          <a:srcRect l="0" r="0" t="-735" b="-735"/>
          <a:stretch/>
        </p:blipFill>
        <p:spPr>
          <a:xfrm>
            <a:off x="762000" y="2413000"/>
            <a:ext cx="8636000" cy="58420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906000" y="2413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Rules by Lift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906000" y="2921000"/>
            <a:ext cx="5588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construction_tools_garden -&gt; watches_gifts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Lift: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41.05x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Rare but extremely strong affinity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telephony -&gt; computers_accessories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Lift: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~20x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Tech buyers cross-shop categories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furniture_decor -&gt; bed_bath_table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Lift: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~15x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Home furnishing cluster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sports_leisure -&gt; health_beauty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Lift: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~12x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Wellness lifestyle pattern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500"/>
              </a:spcBef>
            </a:pPr>
            <a:r>
              <a:rPr lang="en-US" sz="13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Algorithm: FP-Growth | Support: 0.2% | Confidence: 30% | Dataset: 780 multi-category orders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| DATA PIPELINE &amp; EDA | 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ASSOCIATION RULES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SEGMENTATION | INTEGRATION |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Phase 2: Intra-Category Rules &amp; Validation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33500"/>
            <a:ext cx="8890000" cy="889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33500"/>
            <a:ext cx="50800" cy="762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39700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Intra-category mining on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2,417 single-category multi-item orders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yielded only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rules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confirming most customers buy single items per category.</a:t>
            </a:r>
            <a:endParaRPr lang="en-US" sz="1600" dirty="0"/>
          </a:p>
        </p:txBody>
      </p:sp>
      <p:pic>
        <p:nvPicPr>
          <p:cNvPr id="9" name="Image 0" descr="https://kimi-img.moonshot.cn/pub/slides/okc/hd6xwpyn4ztnc/mnt/agents/upload/03_interestingness_heatmap.png">    </p:cNvPr>
          <p:cNvPicPr>
            <a:picLocks noChangeAspect="1"/>
          </p:cNvPicPr>
          <p:nvPr/>
        </p:nvPicPr>
        <p:blipFill>
          <a:blip r:embed="rId1"/>
          <a:srcRect l="0" r="0" t="-6250" b="-6250"/>
          <a:stretch/>
        </p:blipFill>
        <p:spPr>
          <a:xfrm>
            <a:off x="762000" y="2349500"/>
            <a:ext cx="8128000" cy="609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98000" y="2349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Intra-Category Metrics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398000" y="2921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45.05x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398000" y="34290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Lift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446000" y="2921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446000" y="34290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Cosine / Kulczynski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398000" y="3873500"/>
            <a:ext cx="6096000" cy="12700"/>
          </a:xfrm>
          <a:prstGeom prst="rect">
            <a:avLst/>
          </a:prstGeom>
          <a:solidFill>
            <a:srgbClr val="6B8E8E"/>
          </a:solidFill>
          <a:ln/>
        </p:spPr>
      </p:sp>
      <p:sp>
        <p:nvSpPr>
          <p:cNvPr id="16" name="Text 13"/>
          <p:cNvSpPr/>
          <p:nvPr/>
        </p:nvSpPr>
        <p:spPr>
          <a:xfrm>
            <a:off x="9398000" y="4064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Application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398000" y="4572000"/>
            <a:ext cx="6096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scarcity of intra-category rules (only 2 from 2,417 orders) reveals a critical insight: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rarely buy multiple items from the same category in one order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means cross-category recommendations are far more valuable than within-category bundling for this platform.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bundling recommendations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Cross-merchandising strategy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positioning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Convergence: PASS | 3,677 unique SKUs analyzed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302000"/>
            <a:ext cx="1270000" cy="381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7F5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81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K-Prototype clustering on 93,398 customers with mixed-type features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| DATA PIPELINE &amp; EDA | ASSOCIATION RULES | 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SEGMENTATION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INTEGRATION |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Phase 3: Finding the Optimal K</a:t>
            </a:r>
            <a:endParaRPr lang="en-US" sz="2800" dirty="0"/>
          </a:p>
        </p:txBody>
      </p:sp>
      <p:pic>
        <p:nvPicPr>
          <p:cNvPr id="6" name="Image 0" descr="https://kimi-img.moonshot.cn/pub/slides/okc/hd6xwpyn4ztnc/mnt/agents/upload/consensus_k_selection.png">    </p:cNvPr>
          <p:cNvPicPr>
            <a:picLocks noChangeAspect="1"/>
          </p:cNvPicPr>
          <p:nvPr/>
        </p:nvPicPr>
        <p:blipFill>
          <a:blip r:embed="rId1"/>
          <a:srcRect l="0" r="0" t="-15370" b="-15370"/>
          <a:stretch/>
        </p:blipFill>
        <p:spPr>
          <a:xfrm>
            <a:off x="762000" y="1397000"/>
            <a:ext cx="8890000" cy="673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0000" y="13970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Validation Metrics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0" y="1968500"/>
            <a:ext cx="5334000" cy="1206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Shape 6"/>
          <p:cNvSpPr/>
          <p:nvPr/>
        </p:nvSpPr>
        <p:spPr>
          <a:xfrm>
            <a:off x="10160000" y="1968500"/>
            <a:ext cx="50800" cy="12065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0" name="Text 7"/>
          <p:cNvSpPr/>
          <p:nvPr/>
        </p:nvSpPr>
        <p:spPr>
          <a:xfrm>
            <a:off x="10414000" y="2032000"/>
            <a:ext cx="4889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Elbow Method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Inertia curve shows diminishing returns after K=3. The "elbow" is clearly visible at K=3.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160000" y="3365500"/>
            <a:ext cx="5334000" cy="1206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2" name="Shape 9"/>
          <p:cNvSpPr/>
          <p:nvPr/>
        </p:nvSpPr>
        <p:spPr>
          <a:xfrm>
            <a:off x="10160000" y="3365500"/>
            <a:ext cx="50800" cy="12065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3" name="Text 10"/>
          <p:cNvSpPr/>
          <p:nvPr/>
        </p:nvSpPr>
        <p:spPr>
          <a:xfrm>
            <a:off x="10414000" y="3429000"/>
            <a:ext cx="4889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Silhouette Score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Peaks at K=3 with GOOD quality (0.3-0.5 range). Higher is better — measures cluster coherence.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160000" y="4762500"/>
            <a:ext cx="5334000" cy="1206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60000" y="4762500"/>
            <a:ext cx="50800" cy="12065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6" name="Text 13"/>
          <p:cNvSpPr/>
          <p:nvPr/>
        </p:nvSpPr>
        <p:spPr>
          <a:xfrm>
            <a:off x="10414000" y="4826000"/>
            <a:ext cx="4889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Davies-Bouldin Index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Minimum at K=3, indicating best cluster separation. Lower is better.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160000" y="6159500"/>
            <a:ext cx="5334000" cy="1206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8" name="Shape 15"/>
          <p:cNvSpPr/>
          <p:nvPr/>
        </p:nvSpPr>
        <p:spPr>
          <a:xfrm>
            <a:off x="10160000" y="6159500"/>
            <a:ext cx="50800" cy="12065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9" name="Text 16"/>
          <p:cNvSpPr/>
          <p:nvPr/>
        </p:nvSpPr>
        <p:spPr>
          <a:xfrm>
            <a:off x="10414000" y="6223000"/>
            <a:ext cx="4889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Calinski-Harabasz Index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F-statistic supporting K=3. Higher is better — measures between-cluster variance.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160000" y="7620000"/>
            <a:ext cx="5334000" cy="6985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21" name="Text 18"/>
          <p:cNvSpPr/>
          <p:nvPr/>
        </p:nvSpPr>
        <p:spPr>
          <a:xfrm>
            <a:off x="10414000" y="7683500"/>
            <a:ext cx="482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Consensus: K = 3 is optimal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| DATA PIPELINE &amp; EDA | ASSOCIATION RULES | 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SEGMENTATION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INTEGRATION |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Phase 3: The Three Segments</a:t>
            </a:r>
            <a:endParaRPr lang="en-US" sz="2800" dirty="0"/>
          </a:p>
        </p:txBody>
      </p:sp>
      <p:pic>
        <p:nvPicPr>
          <p:cNvPr id="6" name="Image 0" descr="https://kimi-img.moonshot.cn/pub/slides/okc/hd6xwpyn4ztnc/mnt/agents/upload/segment_profiles_k3.png">    </p:cNvPr>
          <p:cNvPicPr>
            <a:picLocks noChangeAspect="1"/>
          </p:cNvPicPr>
          <p:nvPr/>
        </p:nvPicPr>
        <p:blipFill>
          <a:blip r:embed="rId1"/>
          <a:srcRect l="0" r="0" t="-9548" b="-9548"/>
          <a:stretch/>
        </p:blipFill>
        <p:spPr>
          <a:xfrm>
            <a:off x="762000" y="1397000"/>
            <a:ext cx="9144000" cy="673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14000" y="139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Profiles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414000" y="1968500"/>
            <a:ext cx="5080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Shape 6"/>
          <p:cNvSpPr/>
          <p:nvPr/>
        </p:nvSpPr>
        <p:spPr>
          <a:xfrm>
            <a:off x="10414000" y="1968500"/>
            <a:ext cx="50800" cy="1270000"/>
          </a:xfrm>
          <a:prstGeom prst="rect">
            <a:avLst/>
          </a:prstGeom>
          <a:solidFill>
            <a:srgbClr val="6B8E8E"/>
          </a:solidFill>
          <a:ln/>
        </p:spPr>
      </p:sp>
      <p:sp>
        <p:nvSpPr>
          <p:cNvPr id="10" name="Text 7"/>
          <p:cNvSpPr/>
          <p:nvPr/>
        </p:nvSpPr>
        <p:spPr>
          <a:xfrm>
            <a:off x="10668000" y="2032000"/>
            <a:ext cx="463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0: Low-Value Impulse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(~35%)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avg spending. Highest recency (most inactive). Perfumery &amp; Fashion Accessories dominate.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414000" y="3429000"/>
            <a:ext cx="5080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2" name="Shape 9"/>
          <p:cNvSpPr/>
          <p:nvPr/>
        </p:nvSpPr>
        <p:spPr>
          <a:xfrm>
            <a:off x="10414000" y="3429000"/>
            <a:ext cx="50800" cy="1270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3" name="Text 10"/>
          <p:cNvSpPr/>
          <p:nvPr/>
        </p:nvSpPr>
        <p:spPr>
          <a:xfrm>
            <a:off x="10668000" y="3492500"/>
            <a:ext cx="463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1: High-Value Project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(~28%)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8x higher spending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Segment 0. 100% of high-value customers. Audio/Watches &amp; Construction/Garden.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414000" y="4889500"/>
            <a:ext cx="5080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14000" y="4889500"/>
            <a:ext cx="50800" cy="1270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6" name="Text 13"/>
          <p:cNvSpPr/>
          <p:nvPr/>
        </p:nvSpPr>
        <p:spPr>
          <a:xfrm>
            <a:off x="10668000" y="4953000"/>
            <a:ext cx="463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2: Recent-Active Household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(~37%)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recency (most active). Highest repeat rate. Food, Health &amp; Beauty, Home Comfort staples.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414000" y="6413500"/>
            <a:ext cx="5080000" cy="1524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8" name="Text 15"/>
          <p:cNvSpPr/>
          <p:nvPr/>
        </p:nvSpPr>
        <p:spPr>
          <a:xfrm>
            <a:off x="10668000" y="65024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Algorithm: K-Prototype (Mixed-Type)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Trained on 15% stratified sample, predicted on full 93,398 customers. Handles 6 numeric + 3 categorical features simultaneously.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0"/>
            <a:ext cx="381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00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302000"/>
            <a:ext cx="1270000" cy="381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55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7F5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INTEGRATION &amp; BUSINESS INSIGHTS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81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Bridging segmentation and association rules to discover persona-based patterns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| DATA PIPELINE &amp; EDA | ASSOCIATION RULES | SEGMENTATION | 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INTEGRATION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Phase 4: The Three Shopping Personalities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4699000" cy="3429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97000"/>
            <a:ext cx="4699000" cy="63500"/>
          </a:xfrm>
          <a:prstGeom prst="rect">
            <a:avLst/>
          </a:prstGeom>
          <a:solidFill>
            <a:srgbClr val="6B8E8E"/>
          </a:solidFill>
          <a:ln/>
        </p:spPr>
      </p:sp>
      <p:sp>
        <p:nvSpPr>
          <p:cNvPr id="8" name="Shape 6"/>
          <p:cNvSpPr/>
          <p:nvPr/>
        </p:nvSpPr>
        <p:spPr>
          <a:xfrm>
            <a:off x="1044575" y="165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42875" y="71438"/>
                </a:moveTo>
                <a:cubicBezTo>
                  <a:pt x="142875" y="39916"/>
                  <a:pt x="168503" y="14288"/>
                  <a:pt x="200025" y="14288"/>
                </a:cubicBezTo>
                <a:cubicBezTo>
                  <a:pt x="231547" y="14288"/>
                  <a:pt x="257175" y="39916"/>
                  <a:pt x="257175" y="71438"/>
                </a:cubicBezTo>
                <a:lnTo>
                  <a:pt x="257175" y="114300"/>
                </a:lnTo>
                <a:lnTo>
                  <a:pt x="142875" y="114300"/>
                </a:lnTo>
                <a:lnTo>
                  <a:pt x="142875" y="71438"/>
                </a:lnTo>
                <a:close/>
                <a:moveTo>
                  <a:pt x="100013" y="114300"/>
                </a:moveTo>
                <a:lnTo>
                  <a:pt x="42863" y="114300"/>
                </a:lnTo>
                <a:cubicBezTo>
                  <a:pt x="19199" y="114300"/>
                  <a:pt x="0" y="133499"/>
                  <a:pt x="0" y="157163"/>
                </a:cubicBezTo>
                <a:lnTo>
                  <a:pt x="0" y="342900"/>
                </a:lnTo>
                <a:cubicBezTo>
                  <a:pt x="0" y="390227"/>
                  <a:pt x="38398" y="428625"/>
                  <a:pt x="85725" y="428625"/>
                </a:cubicBezTo>
                <a:lnTo>
                  <a:pt x="314325" y="428625"/>
                </a:lnTo>
                <a:cubicBezTo>
                  <a:pt x="361652" y="428625"/>
                  <a:pt x="400050" y="390227"/>
                  <a:pt x="400050" y="342900"/>
                </a:cubicBezTo>
                <a:lnTo>
                  <a:pt x="400050" y="157163"/>
                </a:lnTo>
                <a:cubicBezTo>
                  <a:pt x="400050" y="133499"/>
                  <a:pt x="380851" y="114300"/>
                  <a:pt x="357188" y="114300"/>
                </a:cubicBezTo>
                <a:lnTo>
                  <a:pt x="300038" y="114300"/>
                </a:lnTo>
                <a:lnTo>
                  <a:pt x="300038" y="71438"/>
                </a:lnTo>
                <a:cubicBezTo>
                  <a:pt x="300038" y="16163"/>
                  <a:pt x="255300" y="-28575"/>
                  <a:pt x="200025" y="-28575"/>
                </a:cubicBezTo>
                <a:cubicBezTo>
                  <a:pt x="144750" y="-28575"/>
                  <a:pt x="100013" y="16163"/>
                  <a:pt x="100013" y="71438"/>
                </a:cubicBezTo>
                <a:lnTo>
                  <a:pt x="100013" y="114300"/>
                </a:lnTo>
                <a:close/>
                <a:moveTo>
                  <a:pt x="121444" y="157163"/>
                </a:moveTo>
                <a:cubicBezTo>
                  <a:pt x="133272" y="157163"/>
                  <a:pt x="142875" y="166766"/>
                  <a:pt x="142875" y="178594"/>
                </a:cubicBezTo>
                <a:cubicBezTo>
                  <a:pt x="142875" y="190422"/>
                  <a:pt x="133272" y="200025"/>
                  <a:pt x="121444" y="200025"/>
                </a:cubicBezTo>
                <a:cubicBezTo>
                  <a:pt x="109616" y="200025"/>
                  <a:pt x="100013" y="190422"/>
                  <a:pt x="100013" y="178594"/>
                </a:cubicBezTo>
                <a:cubicBezTo>
                  <a:pt x="100013" y="166766"/>
                  <a:pt x="109616" y="157163"/>
                  <a:pt x="121444" y="157163"/>
                </a:cubicBezTo>
                <a:close/>
                <a:moveTo>
                  <a:pt x="257175" y="178594"/>
                </a:moveTo>
                <a:cubicBezTo>
                  <a:pt x="257175" y="166766"/>
                  <a:pt x="266778" y="157163"/>
                  <a:pt x="278606" y="157163"/>
                </a:cubicBezTo>
                <a:cubicBezTo>
                  <a:pt x="290434" y="157163"/>
                  <a:pt x="300038" y="166766"/>
                  <a:pt x="300038" y="178594"/>
                </a:cubicBezTo>
                <a:cubicBezTo>
                  <a:pt x="300038" y="190422"/>
                  <a:pt x="290434" y="200025"/>
                  <a:pt x="278606" y="200025"/>
                </a:cubicBezTo>
                <a:cubicBezTo>
                  <a:pt x="266778" y="200025"/>
                  <a:pt x="257175" y="190422"/>
                  <a:pt x="257175" y="178594"/>
                </a:cubicBezTo>
                <a:close/>
              </a:path>
            </a:pathLst>
          </a:custGeom>
          <a:solidFill>
            <a:srgbClr val="6B8E8E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651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Low-Value Impulse Shopper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2225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0 | ~35% of customers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2603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associations: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Perfumery, Fashion Accessories, Health/Beauty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Treats Olist as a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"vanity boutique."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Low-cost, high-frequency treat-yourself items.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Risk: HIGH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one-off purchases, no foundational buying.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1397000"/>
            <a:ext cx="4699000" cy="3429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8500" y="1397000"/>
            <a:ext cx="4699000" cy="635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2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9133" y="7680"/>
                </a:moveTo>
                <a:cubicBezTo>
                  <a:pt x="220117" y="-2500"/>
                  <a:pt x="237083" y="-2500"/>
                  <a:pt x="247977" y="7680"/>
                </a:cubicBezTo>
                <a:lnTo>
                  <a:pt x="328613" y="82421"/>
                </a:lnTo>
                <a:lnTo>
                  <a:pt x="328613" y="71438"/>
                </a:lnTo>
                <a:cubicBezTo>
                  <a:pt x="328613" y="55632"/>
                  <a:pt x="341382" y="42863"/>
                  <a:pt x="357188" y="42863"/>
                </a:cubicBezTo>
                <a:lnTo>
                  <a:pt x="385763" y="42863"/>
                </a:lnTo>
                <a:cubicBezTo>
                  <a:pt x="401568" y="42863"/>
                  <a:pt x="414338" y="55632"/>
                  <a:pt x="414338" y="71438"/>
                </a:cubicBezTo>
                <a:lnTo>
                  <a:pt x="414338" y="162074"/>
                </a:lnTo>
                <a:lnTo>
                  <a:pt x="448092" y="193417"/>
                </a:lnTo>
                <a:cubicBezTo>
                  <a:pt x="456664" y="201454"/>
                  <a:pt x="459522" y="213866"/>
                  <a:pt x="455235" y="224760"/>
                </a:cubicBezTo>
                <a:cubicBezTo>
                  <a:pt x="450949" y="235654"/>
                  <a:pt x="440412" y="242888"/>
                  <a:pt x="428625" y="242888"/>
                </a:cubicBezTo>
                <a:lnTo>
                  <a:pt x="414338" y="242888"/>
                </a:lnTo>
                <a:lnTo>
                  <a:pt x="414338" y="400050"/>
                </a:lnTo>
                <a:cubicBezTo>
                  <a:pt x="414338" y="431572"/>
                  <a:pt x="388709" y="457200"/>
                  <a:pt x="357188" y="457200"/>
                </a:cubicBezTo>
                <a:lnTo>
                  <a:pt x="100013" y="457200"/>
                </a:lnTo>
                <a:cubicBezTo>
                  <a:pt x="68491" y="457200"/>
                  <a:pt x="42863" y="431572"/>
                  <a:pt x="42863" y="400050"/>
                </a:cubicBezTo>
                <a:lnTo>
                  <a:pt x="42863" y="242888"/>
                </a:lnTo>
                <a:lnTo>
                  <a:pt x="28575" y="242888"/>
                </a:lnTo>
                <a:cubicBezTo>
                  <a:pt x="16788" y="242888"/>
                  <a:pt x="6251" y="235654"/>
                  <a:pt x="1965" y="224760"/>
                </a:cubicBezTo>
                <a:cubicBezTo>
                  <a:pt x="-2322" y="213866"/>
                  <a:pt x="536" y="201364"/>
                  <a:pt x="9108" y="193417"/>
                </a:cubicBezTo>
                <a:lnTo>
                  <a:pt x="209133" y="7680"/>
                </a:lnTo>
                <a:close/>
                <a:moveTo>
                  <a:pt x="214313" y="285750"/>
                </a:moveTo>
                <a:cubicBezTo>
                  <a:pt x="190649" y="285750"/>
                  <a:pt x="171450" y="304949"/>
                  <a:pt x="171450" y="328613"/>
                </a:cubicBezTo>
                <a:lnTo>
                  <a:pt x="171450" y="414338"/>
                </a:lnTo>
                <a:lnTo>
                  <a:pt x="285750" y="414338"/>
                </a:lnTo>
                <a:lnTo>
                  <a:pt x="285750" y="328613"/>
                </a:lnTo>
                <a:cubicBezTo>
                  <a:pt x="285750" y="304949"/>
                  <a:pt x="266551" y="285750"/>
                  <a:pt x="242888" y="285750"/>
                </a:cubicBezTo>
                <a:lnTo>
                  <a:pt x="214313" y="285750"/>
                </a:lnTo>
                <a:close/>
              </a:path>
            </a:pathLst>
          </a:custGeom>
          <a:solidFill>
            <a:srgbClr val="C87E2E"/>
          </a:solidFill>
          <a:ln/>
        </p:spPr>
      </p:sp>
      <p:sp>
        <p:nvSpPr>
          <p:cNvPr id="15" name="Text 13"/>
          <p:cNvSpPr/>
          <p:nvPr/>
        </p:nvSpPr>
        <p:spPr>
          <a:xfrm>
            <a:off x="6616700" y="1651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High-Value Project Planner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22225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1 | ~28% of customers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2603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associations: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Audio/Watches, Construction/Garden tools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High-net-worth individuals doing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"project-based" shopping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renovating, gardening.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Risk: MEDIUM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long gaps between durable purchases.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0" y="1397000"/>
            <a:ext cx="4699000" cy="3429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95000" y="1397000"/>
            <a:ext cx="4699000" cy="635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91850" y="1651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1431" y="-14287"/>
                </a:moveTo>
                <a:cubicBezTo>
                  <a:pt x="9555" y="-14287"/>
                  <a:pt x="0" y="-4733"/>
                  <a:pt x="0" y="7144"/>
                </a:cubicBezTo>
                <a:cubicBezTo>
                  <a:pt x="0" y="19020"/>
                  <a:pt x="9555" y="28575"/>
                  <a:pt x="21431" y="28575"/>
                </a:cubicBezTo>
                <a:lnTo>
                  <a:pt x="61883" y="28575"/>
                </a:lnTo>
                <a:cubicBezTo>
                  <a:pt x="65365" y="28575"/>
                  <a:pt x="68312" y="31075"/>
                  <a:pt x="68937" y="34469"/>
                </a:cubicBezTo>
                <a:lnTo>
                  <a:pt x="115461" y="290126"/>
                </a:lnTo>
                <a:cubicBezTo>
                  <a:pt x="120997" y="320665"/>
                  <a:pt x="147608" y="342900"/>
                  <a:pt x="178683" y="342900"/>
                </a:cubicBezTo>
                <a:lnTo>
                  <a:pt x="407194" y="342900"/>
                </a:lnTo>
                <a:cubicBezTo>
                  <a:pt x="419070" y="342900"/>
                  <a:pt x="428625" y="333345"/>
                  <a:pt x="428625" y="321469"/>
                </a:cubicBezTo>
                <a:cubicBezTo>
                  <a:pt x="428625" y="309592"/>
                  <a:pt x="419070" y="300038"/>
                  <a:pt x="407194" y="300038"/>
                </a:cubicBezTo>
                <a:lnTo>
                  <a:pt x="178683" y="300038"/>
                </a:lnTo>
                <a:cubicBezTo>
                  <a:pt x="168325" y="300038"/>
                  <a:pt x="159484" y="292626"/>
                  <a:pt x="157609" y="282446"/>
                </a:cubicBezTo>
                <a:lnTo>
                  <a:pt x="153055" y="257175"/>
                </a:lnTo>
                <a:lnTo>
                  <a:pt x="424160" y="257175"/>
                </a:lnTo>
                <a:cubicBezTo>
                  <a:pt x="451664" y="257175"/>
                  <a:pt x="475238" y="237619"/>
                  <a:pt x="480328" y="210562"/>
                </a:cubicBezTo>
                <a:lnTo>
                  <a:pt x="508010" y="62419"/>
                </a:lnTo>
                <a:cubicBezTo>
                  <a:pt x="511314" y="44827"/>
                  <a:pt x="497830" y="28575"/>
                  <a:pt x="479881" y="28575"/>
                </a:cubicBezTo>
                <a:lnTo>
                  <a:pt x="111353" y="28575"/>
                </a:lnTo>
                <a:lnTo>
                  <a:pt x="110996" y="26789"/>
                </a:lnTo>
                <a:cubicBezTo>
                  <a:pt x="106710" y="3036"/>
                  <a:pt x="85993" y="-14287"/>
                  <a:pt x="61793" y="-14287"/>
                </a:cubicBezTo>
                <a:lnTo>
                  <a:pt x="21431" y="-14287"/>
                </a:lnTo>
                <a:close/>
                <a:moveTo>
                  <a:pt x="185738" y="457200"/>
                </a:moveTo>
                <a:cubicBezTo>
                  <a:pt x="209394" y="457200"/>
                  <a:pt x="228600" y="437994"/>
                  <a:pt x="228600" y="414338"/>
                </a:cubicBezTo>
                <a:cubicBezTo>
                  <a:pt x="228600" y="390681"/>
                  <a:pt x="209394" y="371475"/>
                  <a:pt x="185738" y="371475"/>
                </a:cubicBezTo>
                <a:cubicBezTo>
                  <a:pt x="162081" y="371475"/>
                  <a:pt x="142875" y="390681"/>
                  <a:pt x="142875" y="414338"/>
                </a:cubicBezTo>
                <a:cubicBezTo>
                  <a:pt x="142875" y="437994"/>
                  <a:pt x="162081" y="457200"/>
                  <a:pt x="185738" y="457200"/>
                </a:cubicBezTo>
                <a:close/>
                <a:moveTo>
                  <a:pt x="385763" y="457200"/>
                </a:moveTo>
                <a:cubicBezTo>
                  <a:pt x="409419" y="457200"/>
                  <a:pt x="428625" y="437994"/>
                  <a:pt x="428625" y="414338"/>
                </a:cubicBezTo>
                <a:cubicBezTo>
                  <a:pt x="428625" y="390681"/>
                  <a:pt x="409419" y="371475"/>
                  <a:pt x="385763" y="371475"/>
                </a:cubicBezTo>
                <a:cubicBezTo>
                  <a:pt x="362106" y="371475"/>
                  <a:pt x="342900" y="390681"/>
                  <a:pt x="342900" y="414338"/>
                </a:cubicBezTo>
                <a:cubicBezTo>
                  <a:pt x="342900" y="437994"/>
                  <a:pt x="362106" y="457200"/>
                  <a:pt x="385763" y="457200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21" name="Text 19"/>
          <p:cNvSpPr/>
          <p:nvPr/>
        </p:nvSpPr>
        <p:spPr>
          <a:xfrm>
            <a:off x="11633200" y="1651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Recent-Active Household Manager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0" y="22225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2 | ~37% of customers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0" y="2603500"/>
            <a:ext cx="4191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associations: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Food, Health &amp; Beauty, Home Comfort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loyal segment. Uses Olist for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daily/weekly domestic needs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Risk: LOW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recurring needs drive constant engagement.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5143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We Discovered This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651500"/>
            <a:ext cx="736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ran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 separately on each segment's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multi-category transactions. This bridges Phase 2 (ARM) and Phase 3 (Clustering) — moving from generic platform-wide trends to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highly targeted, persona-based behavioral insights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rule cited has an absolute frequency of at least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separate orders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within its specific segment, ensuring we act on trends, not flukes.</a:t>
            </a:r>
            <a:endParaRPr lang="en-US" sz="1600" dirty="0"/>
          </a:p>
        </p:txBody>
      </p:sp>
      <p:pic>
        <p:nvPicPr>
          <p:cNvPr id="26" name="Image 0" descr="https://kimi-img.moonshot.cn/pub/slides/okc/hd6xwpyn4ztnc/mnt/agents/upload/evaluation_metrics_comparison.png">    </p:cNvPr>
          <p:cNvPicPr>
            <a:picLocks noChangeAspect="1"/>
          </p:cNvPicPr>
          <p:nvPr/>
        </p:nvPicPr>
        <p:blipFill>
          <a:blip r:embed="rId1"/>
          <a:srcRect l="-18633" r="-18633" t="0" b="0"/>
          <a:stretch/>
        </p:blipFill>
        <p:spPr>
          <a:xfrm>
            <a:off x="8636000" y="5143500"/>
            <a:ext cx="6858000" cy="3048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| DATA PIPELINE &amp; EDA | ASSOCIATION RULES | SEGMENTATION | 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INTEGRATION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Phase 4: Comparative Metrics &amp; Validation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333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Rule Comparison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14732000" cy="3302000"/>
        </p:xfrm>
        <a:graphic>
          <a:graphicData uri="http://schemas.openxmlformats.org/drawingml/2006/table">
            <a:tbl>
              <a:tblPr/>
              <a:tblGrid>
                <a:gridCol w="3241040"/>
                <a:gridCol w="3830320"/>
                <a:gridCol w="3830320"/>
                <a:gridCol w="3830320"/>
              </a:tblGrid>
              <a:tr h="59920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Metric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Low-Value (Seg 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High-Value (Seg 1)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Recent-Active (Seg 2)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Top Association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Perfumery -&gt; Beauty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Construction -&gt; Garden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Food -&gt; Health/Beauty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Typical Lift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3.5x - 4.5x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4.0x - 6.0x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5.0x - 7.5x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Shopping Logic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Impulse / Vanity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Lifestyle / Project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Recurring / Domestic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Churn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7E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7E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B4D4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62000" y="5461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Validation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6032500"/>
            <a:ext cx="3429000" cy="1270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60960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Universe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780 multi-category transactions across all 3 segments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45000" y="6032500"/>
            <a:ext cx="3429000" cy="1270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2" name="Text 9"/>
          <p:cNvSpPr/>
          <p:nvPr/>
        </p:nvSpPr>
        <p:spPr>
          <a:xfrm>
            <a:off x="4635500" y="60960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 with dynamic per-segment support thresholds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28000" y="6032500"/>
            <a:ext cx="3429000" cy="1270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4" name="Text 11"/>
          <p:cNvSpPr/>
          <p:nvPr/>
        </p:nvSpPr>
        <p:spPr>
          <a:xfrm>
            <a:off x="8318500" y="60960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Soundness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rule has &gt;=3 orders within its segment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811000" y="6032500"/>
            <a:ext cx="3429000" cy="1270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6" name="Text 13"/>
          <p:cNvSpPr/>
          <p:nvPr/>
        </p:nvSpPr>
        <p:spPr>
          <a:xfrm>
            <a:off x="12001500" y="60960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Support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/ segment_size ensures statistical validity regardless of segment size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7620000"/>
            <a:ext cx="14732000" cy="6985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8" name="Shape 15"/>
          <p:cNvSpPr/>
          <p:nvPr/>
        </p:nvSpPr>
        <p:spPr>
          <a:xfrm>
            <a:off x="762000" y="7620000"/>
            <a:ext cx="50800" cy="6985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9" name="Text 16"/>
          <p:cNvSpPr/>
          <p:nvPr/>
        </p:nvSpPr>
        <p:spPr>
          <a:xfrm>
            <a:off x="1016000" y="76835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Insight: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same platform hosts three fundamentally different shopping logics. Generic recommendations ignore this —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segment-aware logic is essential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F7F5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 | DATA PIPELINE &amp; EDA | ASSOCIATION RULES | SEGMENTATION | INTEGRATION | </a:t>
            </a:r>
            <a:pPr algn="ctr">
              <a:lnSpc>
                <a:spcPct val="100000"/>
              </a:lnSpc>
            </a:pPr>
            <a:r>
              <a:rPr lang="en-US" sz="1200" spc="50" kern="0" dirty="0">
                <a:solidFill>
                  <a:srgbClr val="C87E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711200"/>
            <a:ext cx="50800" cy="3556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6604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50" kern="0" dirty="0">
                <a:solidFill>
                  <a:srgbClr val="1B4D4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Strategic Recommendations for Stakeholders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4699000" cy="3429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97000"/>
            <a:ext cx="63500" cy="3429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1524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133600"/>
            <a:ext cx="412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Recommendations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2603500"/>
            <a:ext cx="4127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 generic "Customers also bought" with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segment-aware logic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 2 -&gt; "Household Essentials"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 0 -&gt; "Trending Fashion"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 1 -&gt; "Complete Your Project"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lift: 3.5x - 7.5x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1397000"/>
            <a:ext cx="4699000" cy="3429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2" name="Shape 10"/>
          <p:cNvSpPr/>
          <p:nvPr/>
        </p:nvSpPr>
        <p:spPr>
          <a:xfrm>
            <a:off x="5778500" y="1397000"/>
            <a:ext cx="63500" cy="3429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1524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2133600"/>
            <a:ext cx="412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 Prevention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2603500"/>
            <a:ext cx="4127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1 (High-Value)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they hit the 270-day inactivity mark.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specific cross-category rules: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"Ready for your next project?"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Garden Maintenance bundles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Re-engagement window: 6-12 months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1397000"/>
            <a:ext cx="4699000" cy="3429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1397000"/>
            <a:ext cx="63500" cy="34290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18" name="Text 16"/>
          <p:cNvSpPr/>
          <p:nvPr/>
        </p:nvSpPr>
        <p:spPr>
          <a:xfrm>
            <a:off x="11112500" y="1524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12500" y="2133600"/>
            <a:ext cx="4127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Basket Growth &amp; Loyalty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12500" y="2603500"/>
            <a:ext cx="4127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2 (Recent-Active)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immediate revenue growth.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Their Food-&gt;Home associations have: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conversion probability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frequent occurrence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C87E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 automated monthly deliveries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207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Roadmap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778500"/>
          <a:ext cx="14732000" cy="2413000"/>
        </p:xfrm>
        <a:graphic>
          <a:graphicData uri="http://schemas.openxmlformats.org/drawingml/2006/table">
            <a:tbl>
              <a:tblPr/>
              <a:tblGrid>
                <a:gridCol w="2946400"/>
                <a:gridCol w="3683000"/>
                <a:gridCol w="4419600"/>
                <a:gridCol w="3683000"/>
              </a:tblGrid>
              <a:tr h="53622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Target Segment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7F5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Expected Impact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62559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Quick Win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Deploy segment-aware widgets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3 segments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3.5x - 7.5x lift improvement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  <a:tr h="62559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Short-term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Launch re-engagement campaigns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Segment 1 (High-Value)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Reduce 270-day churn by 15-20%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4DE"/>
                    </a:solidFill>
                  </a:tcPr>
                </a:tc>
              </a:tr>
              <a:tr h="62559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Long-term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Subscription &amp; loyalty program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Segment 2 (Household)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Predictable monthly revenue stream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4986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8E8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4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270000"/>
            <a:ext cx="2540000" cy="38100"/>
          </a:xfrm>
          <a:prstGeom prst="rect">
            <a:avLst/>
          </a:prstGeom>
          <a:solidFill>
            <a:srgbClr val="C87E2E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1524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200" kern="0" dirty="0">
                <a:solidFill>
                  <a:srgbClr val="F7F5F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78000" y="2667000"/>
            <a:ext cx="12700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032000" y="2794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1000" y="2794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93,398 customers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segmented into 3 distinct personas using K-Prototype mixed-type clustering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78000" y="3937000"/>
            <a:ext cx="12700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032000" y="4064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1000" y="4064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Cross-category ARM discovered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rules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6.84x average lift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780 multi-category orders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78000" y="5207000"/>
            <a:ext cx="12700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032000" y="5334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1000" y="5334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Segment-specific rules reveal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fundamentally different shopping logics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Impulse vs Project vs Recurring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78000" y="6477000"/>
            <a:ext cx="12700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032000" y="6604000"/>
            <a:ext cx="7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1000" y="6604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recommendations are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actionable and measurable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7F5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each backed by specific lift values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18000" y="7874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spc="300" kern="0" dirty="0">
                <a:solidFill>
                  <a:srgbClr val="C87E2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8000" y="8509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B8E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Mining on Brazilian E-Commerce</dc:title>
  <dc:subject>Customer Behavior Mining on Brazilian E-Commerce</dc:subject>
  <dc:creator>Kimi</dc:creator>
  <cp:lastModifiedBy>Kimi</cp:lastModifiedBy>
  <cp:revision>1</cp:revision>
  <dcterms:created xsi:type="dcterms:W3CDTF">2026-04-26T11:21:20Z</dcterms:created>
  <dcterms:modified xsi:type="dcterms:W3CDTF">2026-04-26T11:21:20Z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{"Label":"Customer Behavior Mining on Brazilian E-Commerce","ContentProducer":"001191110108MACG2KBH8F10000","ProduceID":"19dc96cc-2972-86d6-8000-000024fdce4d","ReservedCode1":"","ContentPropagator":"001191110108MACG2KBH8F20000","PropagateID":"19dc96cc-2972-86d6-8000-000024fdce4d","ReservedCode2":""}</vt:lpwstr>
  </property>
</Properties>
</file>