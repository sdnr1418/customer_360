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5efbf3576fc750e48712db00456f44a629abe0e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38100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Mining Term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647700"/>
            <a:ext cx="3276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University of Computer and Emerging Sciences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52663"/>
            <a:ext cx="68770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360°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10063"/>
            <a:ext cx="65341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Unlocking the Full Picture: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Customers Buy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They Are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6096119"/>
            <a:ext cx="2676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45" kern="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86500"/>
            <a:ext cx="268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Saad Nasir • Ibrahim Moeed • Abdullah Azmat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06008" y="6096119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spc="45" kern="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06008" y="628650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Mr. Tahir Ejaz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066859" y="6096119"/>
            <a:ext cx="74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spc="45" kern="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057334" y="6286500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Mining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The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Critical Questions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89710"/>
            <a:ext cx="5551170" cy="4103370"/>
          </a:xfrm>
          <a:custGeom>
            <a:avLst/>
            <a:gdLst/>
            <a:ahLst/>
            <a:cxnLst/>
            <a:rect l="l" t="t" r="r" b="b"/>
            <a:pathLst>
              <a:path w="5551170" h="4103370">
                <a:moveTo>
                  <a:pt x="114320" y="0"/>
                </a:moveTo>
                <a:lnTo>
                  <a:pt x="5436850" y="0"/>
                </a:lnTo>
                <a:cubicBezTo>
                  <a:pt x="5499987" y="0"/>
                  <a:pt x="5551170" y="51183"/>
                  <a:pt x="5551170" y="114320"/>
                </a:cubicBezTo>
                <a:lnTo>
                  <a:pt x="5551170" y="3989050"/>
                </a:lnTo>
                <a:cubicBezTo>
                  <a:pt x="5551170" y="4052187"/>
                  <a:pt x="5499987" y="4103370"/>
                  <a:pt x="5436850" y="4103370"/>
                </a:cubicBezTo>
                <a:lnTo>
                  <a:pt x="114320" y="4103370"/>
                </a:lnTo>
                <a:cubicBezTo>
                  <a:pt x="51183" y="4103370"/>
                  <a:pt x="0" y="4052187"/>
                  <a:pt x="0" y="3989050"/>
                </a:cubicBezTo>
                <a:lnTo>
                  <a:pt x="0" y="114320"/>
                </a:lnTo>
                <a:cubicBezTo>
                  <a:pt x="0" y="51183"/>
                  <a:pt x="51183" y="0"/>
                  <a:pt x="11432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20000"/>
                </a:srgbClr>
              </a:gs>
              <a:gs pos="100000">
                <a:srgbClr val="3A5F7F">
                  <a:alpha val="5000"/>
                </a:srgbClr>
              </a:gs>
            </a:gsLst>
            <a:lin ang="2700000" scaled="1"/>
          </a:gra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420" y="23443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5345" y="253484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455420" y="2344341"/>
            <a:ext cx="4314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products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 together?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55420" y="3144441"/>
            <a:ext cx="42576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businesses collect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vast amounts of customer data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but struggle to extract actionable insights about product relationships and purchasing patterns.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2470" y="4208859"/>
            <a:ext cx="4914900" cy="533400"/>
          </a:xfrm>
          <a:custGeom>
            <a:avLst/>
            <a:gdLst/>
            <a:ahLst/>
            <a:cxnLst/>
            <a:rect l="l" t="t" r="r" b="b"/>
            <a:pathLst>
              <a:path w="4914900" h="533400">
                <a:moveTo>
                  <a:pt x="38100" y="0"/>
                </a:moveTo>
                <a:lnTo>
                  <a:pt x="4838698" y="0"/>
                </a:lnTo>
                <a:cubicBezTo>
                  <a:pt x="4880783" y="0"/>
                  <a:pt x="4914900" y="34117"/>
                  <a:pt x="4914900" y="76202"/>
                </a:cubicBezTo>
                <a:lnTo>
                  <a:pt x="4914900" y="457198"/>
                </a:lnTo>
                <a:cubicBezTo>
                  <a:pt x="4914900" y="499283"/>
                  <a:pt x="4880783" y="533400"/>
                  <a:pt x="483869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12470" y="4208859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883920" y="4361259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Answered by: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Association Rule Mining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2210" y="1489710"/>
            <a:ext cx="5551170" cy="4103370"/>
          </a:xfrm>
          <a:custGeom>
            <a:avLst/>
            <a:gdLst/>
            <a:ahLst/>
            <a:cxnLst/>
            <a:rect l="l" t="t" r="r" b="b"/>
            <a:pathLst>
              <a:path w="5551170" h="4103370">
                <a:moveTo>
                  <a:pt x="114320" y="0"/>
                </a:moveTo>
                <a:lnTo>
                  <a:pt x="5436850" y="0"/>
                </a:lnTo>
                <a:cubicBezTo>
                  <a:pt x="5499987" y="0"/>
                  <a:pt x="5551170" y="51183"/>
                  <a:pt x="5551170" y="114320"/>
                </a:cubicBezTo>
                <a:lnTo>
                  <a:pt x="5551170" y="3989050"/>
                </a:lnTo>
                <a:cubicBezTo>
                  <a:pt x="5551170" y="4052187"/>
                  <a:pt x="5499987" y="4103370"/>
                  <a:pt x="5436850" y="4103370"/>
                </a:cubicBezTo>
                <a:lnTo>
                  <a:pt x="114320" y="4103370"/>
                </a:lnTo>
                <a:cubicBezTo>
                  <a:pt x="51183" y="4103370"/>
                  <a:pt x="0" y="4052187"/>
                  <a:pt x="0" y="3989050"/>
                </a:cubicBezTo>
                <a:lnTo>
                  <a:pt x="0" y="114320"/>
                </a:lnTo>
                <a:cubicBezTo>
                  <a:pt x="0" y="51183"/>
                  <a:pt x="51183" y="0"/>
                  <a:pt x="11432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20000"/>
                </a:srgbClr>
              </a:gs>
              <a:gs pos="100000">
                <a:srgbClr val="3A5F7F">
                  <a:alpha val="5000"/>
                </a:srgbClr>
              </a:gs>
            </a:gsLst>
            <a:lin ang="2700000" scaled="1"/>
          </a:gra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0820" y="23443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722745" y="253484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7322820" y="2344341"/>
            <a:ext cx="43148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are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customers?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22820" y="3144441"/>
            <a:ext cx="42576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customer identity, behavior, and preferences is crucial for personalized marketing, but traditional approaches often miss the complete picture.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79870" y="4208859"/>
            <a:ext cx="4914900" cy="533400"/>
          </a:xfrm>
          <a:custGeom>
            <a:avLst/>
            <a:gdLst/>
            <a:ahLst/>
            <a:cxnLst/>
            <a:rect l="l" t="t" r="r" b="b"/>
            <a:pathLst>
              <a:path w="4914900" h="533400">
                <a:moveTo>
                  <a:pt x="38100" y="0"/>
                </a:moveTo>
                <a:lnTo>
                  <a:pt x="4838698" y="0"/>
                </a:lnTo>
                <a:cubicBezTo>
                  <a:pt x="4880783" y="0"/>
                  <a:pt x="4914900" y="34117"/>
                  <a:pt x="4914900" y="76202"/>
                </a:cubicBezTo>
                <a:lnTo>
                  <a:pt x="4914900" y="457198"/>
                </a:lnTo>
                <a:cubicBezTo>
                  <a:pt x="4914900" y="499283"/>
                  <a:pt x="4880783" y="533400"/>
                  <a:pt x="483869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79870" y="4208859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6751320" y="4361259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Answered by: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 Segmentation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5829300"/>
            <a:ext cx="11410950" cy="647700"/>
          </a:xfrm>
          <a:custGeom>
            <a:avLst/>
            <a:gdLst/>
            <a:ahLst/>
            <a:cxnLst/>
            <a:rect l="l" t="t" r="r" b="b"/>
            <a:pathLst>
              <a:path w="11410950" h="647700">
                <a:moveTo>
                  <a:pt x="0" y="0"/>
                </a:moveTo>
                <a:lnTo>
                  <a:pt x="11296650" y="0"/>
                </a:lnTo>
                <a:cubicBezTo>
                  <a:pt x="11359776" y="0"/>
                  <a:pt x="11410950" y="51174"/>
                  <a:pt x="11410950" y="114300"/>
                </a:cubicBezTo>
                <a:lnTo>
                  <a:pt x="11410950" y="533400"/>
                </a:lnTo>
                <a:cubicBezTo>
                  <a:pt x="11410950" y="596526"/>
                  <a:pt x="11359776" y="647700"/>
                  <a:pt x="11296650" y="647700"/>
                </a:cubicBez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00050" y="58293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Shape 21"/>
          <p:cNvSpPr/>
          <p:nvPr/>
        </p:nvSpPr>
        <p:spPr>
          <a:xfrm>
            <a:off x="657225" y="604266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933450" y="6019800"/>
            <a:ext cx="1078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Individually, each provides valuable insights. </a:t>
            </a:r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Together, they create a Customer 360° view.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The Gap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Siloed Insights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716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approaches treat these questions separately — missing the bigger picture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870710"/>
            <a:ext cx="5589270" cy="3341370"/>
          </a:xfrm>
          <a:custGeom>
            <a:avLst/>
            <a:gdLst/>
            <a:ahLst/>
            <a:cxnLst/>
            <a:rect l="l" t="t" r="r" b="b"/>
            <a:pathLst>
              <a:path w="5589270" h="3341370">
                <a:moveTo>
                  <a:pt x="114308" y="0"/>
                </a:moveTo>
                <a:lnTo>
                  <a:pt x="5474962" y="0"/>
                </a:lnTo>
                <a:cubicBezTo>
                  <a:pt x="5538092" y="0"/>
                  <a:pt x="5589270" y="51178"/>
                  <a:pt x="5589270" y="114308"/>
                </a:cubicBezTo>
                <a:lnTo>
                  <a:pt x="5589270" y="3227062"/>
                </a:lnTo>
                <a:cubicBezTo>
                  <a:pt x="5589270" y="3290192"/>
                  <a:pt x="5538092" y="3341370"/>
                  <a:pt x="5474962" y="3341370"/>
                </a:cubicBezTo>
                <a:lnTo>
                  <a:pt x="114308" y="3341370"/>
                </a:lnTo>
                <a:cubicBezTo>
                  <a:pt x="51178" y="3341370"/>
                  <a:pt x="0" y="3290192"/>
                  <a:pt x="0" y="322706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3A5F7F">
              <a:alpha val="10196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21031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F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8664" y="22364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5E7A91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79320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2712720"/>
            <a:ext cx="5124450" cy="838200"/>
          </a:xfrm>
          <a:custGeom>
            <a:avLst/>
            <a:gdLst/>
            <a:ahLst/>
            <a:cxnLst/>
            <a:rect l="l" t="t" r="r" b="b"/>
            <a:pathLst>
              <a:path w="5124450" h="838200">
                <a:moveTo>
                  <a:pt x="76201" y="0"/>
                </a:moveTo>
                <a:lnTo>
                  <a:pt x="5048249" y="0"/>
                </a:lnTo>
                <a:cubicBezTo>
                  <a:pt x="5090334" y="0"/>
                  <a:pt x="5124450" y="34116"/>
                  <a:pt x="5124450" y="76201"/>
                </a:cubicBezTo>
                <a:lnTo>
                  <a:pt x="5124450" y="761999"/>
                </a:lnTo>
                <a:cubicBezTo>
                  <a:pt x="5124450" y="804084"/>
                  <a:pt x="5090334" y="838200"/>
                  <a:pt x="50482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9620" y="2895600"/>
            <a:ext cx="60031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Tells us: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9620" y="316992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a customer buys Product A, they're likely to buy Product B"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" y="3669030"/>
            <a:ext cx="5122545" cy="1303020"/>
          </a:xfrm>
          <a:custGeom>
            <a:avLst/>
            <a:gdLst/>
            <a:ahLst/>
            <a:cxnLst/>
            <a:rect l="l" t="t" r="r" b="b"/>
            <a:pathLst>
              <a:path w="5122545" h="1303020">
                <a:moveTo>
                  <a:pt x="76201" y="0"/>
                </a:moveTo>
                <a:lnTo>
                  <a:pt x="5046344" y="0"/>
                </a:lnTo>
                <a:cubicBezTo>
                  <a:pt x="5088429" y="0"/>
                  <a:pt x="5122545" y="34116"/>
                  <a:pt x="5122545" y="76201"/>
                </a:cubicBezTo>
                <a:lnTo>
                  <a:pt x="5122545" y="1226819"/>
                </a:lnTo>
                <a:cubicBezTo>
                  <a:pt x="5122545" y="1268904"/>
                  <a:pt x="5088429" y="1303020"/>
                  <a:pt x="5046344" y="1303020"/>
                </a:cubicBezTo>
                <a:lnTo>
                  <a:pt x="76201" y="1303020"/>
                </a:lnTo>
                <a:cubicBezTo>
                  <a:pt x="34116" y="1303020"/>
                  <a:pt x="0" y="1268904"/>
                  <a:pt x="0" y="12268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55720"/>
            <a:ext cx="60543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130040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making these purchases?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358640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 patterns differ by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type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587240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Are associations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segment-specific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4110" y="1870710"/>
            <a:ext cx="5589270" cy="3341370"/>
          </a:xfrm>
          <a:custGeom>
            <a:avLst/>
            <a:gdLst/>
            <a:ahLst/>
            <a:cxnLst/>
            <a:rect l="l" t="t" r="r" b="b"/>
            <a:pathLst>
              <a:path w="5589270" h="3341370">
                <a:moveTo>
                  <a:pt x="114308" y="0"/>
                </a:moveTo>
                <a:lnTo>
                  <a:pt x="5474962" y="0"/>
                </a:lnTo>
                <a:cubicBezTo>
                  <a:pt x="5538092" y="0"/>
                  <a:pt x="5589270" y="51178"/>
                  <a:pt x="5589270" y="114308"/>
                </a:cubicBezTo>
                <a:lnTo>
                  <a:pt x="5589270" y="3227062"/>
                </a:lnTo>
                <a:cubicBezTo>
                  <a:pt x="5589270" y="3290192"/>
                  <a:pt x="5538092" y="3341370"/>
                  <a:pt x="5474962" y="3341370"/>
                </a:cubicBezTo>
                <a:lnTo>
                  <a:pt x="114308" y="3341370"/>
                </a:lnTo>
                <a:cubicBezTo>
                  <a:pt x="51178" y="3341370"/>
                  <a:pt x="0" y="3290192"/>
                  <a:pt x="0" y="322706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3A5F7F">
              <a:alpha val="10196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1031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A5F7F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56057" y="22364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5287" y="2977"/>
                </a:moveTo>
                <a:cubicBezTo>
                  <a:pt x="119929" y="2977"/>
                  <a:pt x="139936" y="22983"/>
                  <a:pt x="139936" y="47625"/>
                </a:cubicBezTo>
                <a:cubicBezTo>
                  <a:pt x="139936" y="72267"/>
                  <a:pt x="119929" y="92273"/>
                  <a:pt x="95287" y="92273"/>
                </a:cubicBezTo>
                <a:cubicBezTo>
                  <a:pt x="70645" y="92273"/>
                  <a:pt x="50639" y="72267"/>
                  <a:pt x="50639" y="47625"/>
                </a:cubicBezTo>
                <a:cubicBezTo>
                  <a:pt x="50639" y="22983"/>
                  <a:pt x="70645" y="2977"/>
                  <a:pt x="95287" y="2977"/>
                </a:cubicBezTo>
                <a:close/>
                <a:moveTo>
                  <a:pt x="84237" y="113109"/>
                </a:moveTo>
                <a:lnTo>
                  <a:pt x="106338" y="113109"/>
                </a:lnTo>
                <a:cubicBezTo>
                  <a:pt x="108831" y="113109"/>
                  <a:pt x="111249" y="113258"/>
                  <a:pt x="113667" y="113519"/>
                </a:cubicBezTo>
                <a:cubicBezTo>
                  <a:pt x="113333" y="115342"/>
                  <a:pt x="113147" y="117202"/>
                  <a:pt x="113147" y="119100"/>
                </a:cubicBezTo>
                <a:lnTo>
                  <a:pt x="113147" y="153367"/>
                </a:lnTo>
                <a:cubicBezTo>
                  <a:pt x="113147" y="162855"/>
                  <a:pt x="116904" y="171934"/>
                  <a:pt x="123602" y="178631"/>
                </a:cubicBezTo>
                <a:lnTo>
                  <a:pt x="135471" y="190500"/>
                </a:lnTo>
                <a:lnTo>
                  <a:pt x="28947" y="190500"/>
                </a:lnTo>
                <a:cubicBezTo>
                  <a:pt x="22845" y="190500"/>
                  <a:pt x="17897" y="185551"/>
                  <a:pt x="17897" y="179450"/>
                </a:cubicBezTo>
                <a:cubicBezTo>
                  <a:pt x="17897" y="142801"/>
                  <a:pt x="47588" y="113109"/>
                  <a:pt x="84237" y="113109"/>
                </a:cubicBezTo>
                <a:close/>
                <a:moveTo>
                  <a:pt x="131006" y="153367"/>
                </a:moveTo>
                <a:lnTo>
                  <a:pt x="131006" y="119100"/>
                </a:lnTo>
                <a:cubicBezTo>
                  <a:pt x="131006" y="112514"/>
                  <a:pt x="136327" y="107193"/>
                  <a:pt x="142912" y="107193"/>
                </a:cubicBezTo>
                <a:lnTo>
                  <a:pt x="177180" y="107193"/>
                </a:lnTo>
                <a:cubicBezTo>
                  <a:pt x="181905" y="107193"/>
                  <a:pt x="186444" y="109091"/>
                  <a:pt x="189793" y="112440"/>
                </a:cubicBezTo>
                <a:lnTo>
                  <a:pt x="225512" y="148158"/>
                </a:lnTo>
                <a:cubicBezTo>
                  <a:pt x="232470" y="155116"/>
                  <a:pt x="232470" y="166427"/>
                  <a:pt x="225512" y="173422"/>
                </a:cubicBezTo>
                <a:lnTo>
                  <a:pt x="197197" y="201737"/>
                </a:lnTo>
                <a:cubicBezTo>
                  <a:pt x="190240" y="208694"/>
                  <a:pt x="178929" y="208694"/>
                  <a:pt x="171934" y="201737"/>
                </a:cubicBezTo>
                <a:lnTo>
                  <a:pt x="136215" y="166018"/>
                </a:lnTo>
                <a:cubicBezTo>
                  <a:pt x="132866" y="162669"/>
                  <a:pt x="130969" y="158130"/>
                  <a:pt x="130969" y="153405"/>
                </a:cubicBezTo>
                <a:close/>
                <a:moveTo>
                  <a:pt x="169701" y="136922"/>
                </a:moveTo>
                <a:cubicBezTo>
                  <a:pt x="169701" y="131993"/>
                  <a:pt x="165700" y="127992"/>
                  <a:pt x="160772" y="127992"/>
                </a:cubicBezTo>
                <a:cubicBezTo>
                  <a:pt x="155843" y="127992"/>
                  <a:pt x="151842" y="131993"/>
                  <a:pt x="151842" y="136922"/>
                </a:cubicBezTo>
                <a:cubicBezTo>
                  <a:pt x="151842" y="141850"/>
                  <a:pt x="155843" y="145852"/>
                  <a:pt x="160772" y="145852"/>
                </a:cubicBezTo>
                <a:cubicBezTo>
                  <a:pt x="165700" y="145852"/>
                  <a:pt x="169701" y="141850"/>
                  <a:pt x="169701" y="136922"/>
                </a:cubicBezTo>
                <a:close/>
              </a:path>
            </a:pathLst>
          </a:custGeom>
          <a:solidFill>
            <a:srgbClr val="5E7A91"/>
          </a:solidFill>
          <a:ln/>
        </p:spPr>
      </p:sp>
      <p:sp>
        <p:nvSpPr>
          <p:cNvPr id="21" name="Text 19"/>
          <p:cNvSpPr/>
          <p:nvPr/>
        </p:nvSpPr>
        <p:spPr>
          <a:xfrm>
            <a:off x="7018020" y="217932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6520" y="2712720"/>
            <a:ext cx="5124450" cy="838200"/>
          </a:xfrm>
          <a:custGeom>
            <a:avLst/>
            <a:gdLst/>
            <a:ahLst/>
            <a:cxnLst/>
            <a:rect l="l" t="t" r="r" b="b"/>
            <a:pathLst>
              <a:path w="5124450" h="838200">
                <a:moveTo>
                  <a:pt x="76201" y="0"/>
                </a:moveTo>
                <a:lnTo>
                  <a:pt x="5048249" y="0"/>
                </a:lnTo>
                <a:cubicBezTo>
                  <a:pt x="5090334" y="0"/>
                  <a:pt x="5124450" y="34116"/>
                  <a:pt x="5124450" y="76201"/>
                </a:cubicBezTo>
                <a:lnTo>
                  <a:pt x="5124450" y="761999"/>
                </a:lnTo>
                <a:cubicBezTo>
                  <a:pt x="5124450" y="804084"/>
                  <a:pt x="5090334" y="838200"/>
                  <a:pt x="50482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98920" y="2895600"/>
            <a:ext cx="60031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Tells us: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98920" y="316992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have 5 customer segments based on spending &amp; behavior"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50330" y="3669030"/>
            <a:ext cx="5122545" cy="1303020"/>
          </a:xfrm>
          <a:custGeom>
            <a:avLst/>
            <a:gdLst/>
            <a:ahLst/>
            <a:cxnLst/>
            <a:rect l="l" t="t" r="r" b="b"/>
            <a:pathLst>
              <a:path w="5122545" h="1303020">
                <a:moveTo>
                  <a:pt x="76201" y="0"/>
                </a:moveTo>
                <a:lnTo>
                  <a:pt x="5046344" y="0"/>
                </a:lnTo>
                <a:cubicBezTo>
                  <a:pt x="5088429" y="0"/>
                  <a:pt x="5122545" y="34116"/>
                  <a:pt x="5122545" y="76201"/>
                </a:cubicBezTo>
                <a:lnTo>
                  <a:pt x="5122545" y="1226819"/>
                </a:lnTo>
                <a:cubicBezTo>
                  <a:pt x="5122545" y="1268904"/>
                  <a:pt x="5088429" y="1303020"/>
                  <a:pt x="5046344" y="1303020"/>
                </a:cubicBezTo>
                <a:lnTo>
                  <a:pt x="76201" y="1303020"/>
                </a:lnTo>
                <a:cubicBezTo>
                  <a:pt x="34116" y="1303020"/>
                  <a:pt x="0" y="1268904"/>
                  <a:pt x="0" y="12268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82181A">
              <a:alpha val="20000"/>
            </a:srgbClr>
          </a:solidFill>
          <a:ln w="1016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6540" y="3855720"/>
            <a:ext cx="60543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06540" y="4130040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What products do they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 together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06540" y="4358640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Are there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segment-specific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patterns?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06540" y="4587240"/>
            <a:ext cx="488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How to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cross-selling?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8620" y="5448300"/>
            <a:ext cx="11416665" cy="1082040"/>
          </a:xfrm>
          <a:custGeom>
            <a:avLst/>
            <a:gdLst/>
            <a:ahLst/>
            <a:cxnLst/>
            <a:rect l="l" t="t" r="r" b="b"/>
            <a:pathLst>
              <a:path w="11416665" h="1082040">
                <a:moveTo>
                  <a:pt x="114296" y="0"/>
                </a:moveTo>
                <a:lnTo>
                  <a:pt x="11302369" y="0"/>
                </a:lnTo>
                <a:cubicBezTo>
                  <a:pt x="11365493" y="0"/>
                  <a:pt x="11416665" y="51172"/>
                  <a:pt x="11416665" y="114296"/>
                </a:cubicBezTo>
                <a:lnTo>
                  <a:pt x="11416665" y="967744"/>
                </a:lnTo>
                <a:cubicBezTo>
                  <a:pt x="11416665" y="1030868"/>
                  <a:pt x="11365493" y="1082040"/>
                  <a:pt x="11302369" y="1082040"/>
                </a:cubicBezTo>
                <a:lnTo>
                  <a:pt x="114296" y="1082040"/>
                </a:lnTo>
                <a:cubicBezTo>
                  <a:pt x="51172" y="1082040"/>
                  <a:pt x="0" y="1030868"/>
                  <a:pt x="0" y="96774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30000"/>
                </a:srgbClr>
              </a:gs>
              <a:gs pos="50000">
                <a:srgbClr val="4ECDC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20320">
            <a:solidFill>
              <a:srgbClr val="4ECD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840" y="56845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2" name="Shape 30"/>
          <p:cNvSpPr/>
          <p:nvPr/>
        </p:nvSpPr>
        <p:spPr>
          <a:xfrm>
            <a:off x="820102" y="583692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28575" y="71438"/>
                </a:moveTo>
                <a:cubicBezTo>
                  <a:pt x="28575" y="47774"/>
                  <a:pt x="47774" y="28575"/>
                  <a:pt x="71438" y="28575"/>
                </a:cubicBezTo>
                <a:cubicBezTo>
                  <a:pt x="95101" y="28575"/>
                  <a:pt x="114300" y="47774"/>
                  <a:pt x="114300" y="71438"/>
                </a:cubicBezTo>
                <a:cubicBezTo>
                  <a:pt x="114300" y="90502"/>
                  <a:pt x="101843" y="106665"/>
                  <a:pt x="84609" y="112246"/>
                </a:cubicBezTo>
                <a:cubicBezTo>
                  <a:pt x="71929" y="116354"/>
                  <a:pt x="57150" y="128007"/>
                  <a:pt x="57150" y="146447"/>
                </a:cubicBezTo>
                <a:lnTo>
                  <a:pt x="57150" y="157163"/>
                </a:lnTo>
                <a:cubicBezTo>
                  <a:pt x="57150" y="165065"/>
                  <a:pt x="63535" y="171450"/>
                  <a:pt x="71438" y="171450"/>
                </a:cubicBezTo>
                <a:cubicBezTo>
                  <a:pt x="79340" y="171450"/>
                  <a:pt x="85725" y="165065"/>
                  <a:pt x="85725" y="157163"/>
                </a:cubicBezTo>
                <a:lnTo>
                  <a:pt x="85725" y="146447"/>
                </a:lnTo>
                <a:cubicBezTo>
                  <a:pt x="85725" y="145688"/>
                  <a:pt x="85993" y="144616"/>
                  <a:pt x="87288" y="143188"/>
                </a:cubicBezTo>
                <a:cubicBezTo>
                  <a:pt x="88627" y="141714"/>
                  <a:pt x="90815" y="140285"/>
                  <a:pt x="93405" y="139437"/>
                </a:cubicBezTo>
                <a:cubicBezTo>
                  <a:pt x="122113" y="130195"/>
                  <a:pt x="142875" y="103272"/>
                  <a:pt x="142875" y="71438"/>
                </a:cubicBezTo>
                <a:cubicBezTo>
                  <a:pt x="142875" y="31968"/>
                  <a:pt x="110907" y="0"/>
                  <a:pt x="71438" y="0"/>
                </a:cubicBezTo>
                <a:cubicBezTo>
                  <a:pt x="31968" y="0"/>
                  <a:pt x="0" y="31968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cubicBezTo>
                  <a:pt x="22190" y="85725"/>
                  <a:pt x="28575" y="79340"/>
                  <a:pt x="28575" y="71438"/>
                </a:cubicBezTo>
                <a:close/>
                <a:moveTo>
                  <a:pt x="71438" y="228600"/>
                </a:moveTo>
                <a:cubicBezTo>
                  <a:pt x="81305" y="228600"/>
                  <a:pt x="89297" y="220608"/>
                  <a:pt x="89297" y="210741"/>
                </a:cubicBezTo>
                <a:cubicBezTo>
                  <a:pt x="89297" y="200873"/>
                  <a:pt x="81305" y="192881"/>
                  <a:pt x="71438" y="192881"/>
                </a:cubicBezTo>
                <a:cubicBezTo>
                  <a:pt x="61570" y="192881"/>
                  <a:pt x="53578" y="200873"/>
                  <a:pt x="53578" y="210741"/>
                </a:cubicBezTo>
                <a:cubicBezTo>
                  <a:pt x="53578" y="220608"/>
                  <a:pt x="61570" y="228600"/>
                  <a:pt x="71438" y="228600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3" name="Text 31"/>
          <p:cNvSpPr/>
          <p:nvPr/>
        </p:nvSpPr>
        <p:spPr>
          <a:xfrm>
            <a:off x="1310640" y="5684520"/>
            <a:ext cx="805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Real Question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10640" y="5951220"/>
            <a:ext cx="813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do product associations differ across customer segments?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Our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360° Framework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51610"/>
            <a:ext cx="6713220" cy="2426970"/>
          </a:xfrm>
          <a:custGeom>
            <a:avLst/>
            <a:gdLst/>
            <a:ahLst/>
            <a:cxnLst/>
            <a:rect l="l" t="t" r="r" b="b"/>
            <a:pathLst>
              <a:path w="6713220" h="2426970">
                <a:moveTo>
                  <a:pt x="114310" y="0"/>
                </a:moveTo>
                <a:lnTo>
                  <a:pt x="6598910" y="0"/>
                </a:lnTo>
                <a:cubicBezTo>
                  <a:pt x="6662042" y="0"/>
                  <a:pt x="6713220" y="51178"/>
                  <a:pt x="6713220" y="114310"/>
                </a:cubicBezTo>
                <a:lnTo>
                  <a:pt x="6713220" y="2312660"/>
                </a:lnTo>
                <a:cubicBezTo>
                  <a:pt x="6713220" y="2375792"/>
                  <a:pt x="6662042" y="2426970"/>
                  <a:pt x="6598910" y="2426970"/>
                </a:cubicBezTo>
                <a:lnTo>
                  <a:pt x="114310" y="2426970"/>
                </a:lnTo>
                <a:cubicBezTo>
                  <a:pt x="51178" y="2426970"/>
                  <a:pt x="0" y="2375792"/>
                  <a:pt x="0" y="231266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6459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9378" y="170307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4420" y="1703070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 Mining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" y="2179320"/>
            <a:ext cx="3105150" cy="685800"/>
          </a:xfrm>
          <a:custGeom>
            <a:avLst/>
            <a:gdLst/>
            <a:ahLst/>
            <a:cxnLst/>
            <a:rect l="l" t="t" r="r" b="b"/>
            <a:pathLst>
              <a:path w="3105150" h="685800">
                <a:moveTo>
                  <a:pt x="76199" y="0"/>
                </a:moveTo>
                <a:lnTo>
                  <a:pt x="3028951" y="0"/>
                </a:lnTo>
                <a:cubicBezTo>
                  <a:pt x="3071034" y="0"/>
                  <a:pt x="3105150" y="34116"/>
                  <a:pt x="3105150" y="76199"/>
                </a:cubicBezTo>
                <a:lnTo>
                  <a:pt x="3105150" y="609601"/>
                </a:lnTo>
                <a:cubicBezTo>
                  <a:pt x="3105150" y="651684"/>
                  <a:pt x="3071034" y="685800"/>
                  <a:pt x="3028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3420" y="2293620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420" y="252222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Apriori &amp; FP-Growth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8570" y="2179320"/>
            <a:ext cx="3105150" cy="685800"/>
          </a:xfrm>
          <a:custGeom>
            <a:avLst/>
            <a:gdLst/>
            <a:ahLst/>
            <a:cxnLst/>
            <a:rect l="l" t="t" r="r" b="b"/>
            <a:pathLst>
              <a:path w="3105150" h="685800">
                <a:moveTo>
                  <a:pt x="76199" y="0"/>
                </a:moveTo>
                <a:lnTo>
                  <a:pt x="3028951" y="0"/>
                </a:lnTo>
                <a:cubicBezTo>
                  <a:pt x="3071034" y="0"/>
                  <a:pt x="3105150" y="34116"/>
                  <a:pt x="3105150" y="76199"/>
                </a:cubicBezTo>
                <a:lnTo>
                  <a:pt x="3105150" y="609601"/>
                </a:lnTo>
                <a:cubicBezTo>
                  <a:pt x="3105150" y="651684"/>
                  <a:pt x="3071034" y="685800"/>
                  <a:pt x="3028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912870" y="2293620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12870" y="252222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Relationships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120" y="2979420"/>
            <a:ext cx="6400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products frequently purchased together using support, confidence, and lift metrics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4042410"/>
            <a:ext cx="6713220" cy="2426970"/>
          </a:xfrm>
          <a:custGeom>
            <a:avLst/>
            <a:gdLst/>
            <a:ahLst/>
            <a:cxnLst/>
            <a:rect l="l" t="t" r="r" b="b"/>
            <a:pathLst>
              <a:path w="6713220" h="2426970">
                <a:moveTo>
                  <a:pt x="114310" y="0"/>
                </a:moveTo>
                <a:lnTo>
                  <a:pt x="6598910" y="0"/>
                </a:lnTo>
                <a:cubicBezTo>
                  <a:pt x="6662042" y="0"/>
                  <a:pt x="6713220" y="51178"/>
                  <a:pt x="6713220" y="114310"/>
                </a:cubicBezTo>
                <a:lnTo>
                  <a:pt x="6713220" y="2312660"/>
                </a:lnTo>
                <a:cubicBezTo>
                  <a:pt x="6713220" y="2375792"/>
                  <a:pt x="6662042" y="2426970"/>
                  <a:pt x="6598910" y="2426970"/>
                </a:cubicBezTo>
                <a:lnTo>
                  <a:pt x="114310" y="2426970"/>
                </a:lnTo>
                <a:cubicBezTo>
                  <a:pt x="51178" y="2426970"/>
                  <a:pt x="0" y="2375792"/>
                  <a:pt x="0" y="231266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120" y="42367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21043" y="429387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4420" y="429387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9120" y="4770120"/>
            <a:ext cx="3105150" cy="685800"/>
          </a:xfrm>
          <a:custGeom>
            <a:avLst/>
            <a:gdLst/>
            <a:ahLst/>
            <a:cxnLst/>
            <a:rect l="l" t="t" r="r" b="b"/>
            <a:pathLst>
              <a:path w="3105150" h="685800">
                <a:moveTo>
                  <a:pt x="76199" y="0"/>
                </a:moveTo>
                <a:lnTo>
                  <a:pt x="3028951" y="0"/>
                </a:lnTo>
                <a:cubicBezTo>
                  <a:pt x="3071034" y="0"/>
                  <a:pt x="3105150" y="34116"/>
                  <a:pt x="3105150" y="76199"/>
                </a:cubicBezTo>
                <a:lnTo>
                  <a:pt x="3105150" y="609601"/>
                </a:lnTo>
                <a:cubicBezTo>
                  <a:pt x="3105150" y="651684"/>
                  <a:pt x="3071034" y="685800"/>
                  <a:pt x="3028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3420" y="4884420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3420" y="511302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&amp; RFM Analysis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98570" y="4770120"/>
            <a:ext cx="3105150" cy="685800"/>
          </a:xfrm>
          <a:custGeom>
            <a:avLst/>
            <a:gdLst/>
            <a:ahLst/>
            <a:cxnLst/>
            <a:rect l="l" t="t" r="r" b="b"/>
            <a:pathLst>
              <a:path w="3105150" h="685800">
                <a:moveTo>
                  <a:pt x="76199" y="0"/>
                </a:moveTo>
                <a:lnTo>
                  <a:pt x="3028951" y="0"/>
                </a:lnTo>
                <a:cubicBezTo>
                  <a:pt x="3071034" y="0"/>
                  <a:pt x="3105150" y="34116"/>
                  <a:pt x="3105150" y="76199"/>
                </a:cubicBezTo>
                <a:lnTo>
                  <a:pt x="3105150" y="609601"/>
                </a:lnTo>
                <a:cubicBezTo>
                  <a:pt x="3105150" y="651684"/>
                  <a:pt x="3071034" y="685800"/>
                  <a:pt x="30289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912870" y="4884420"/>
            <a:ext cx="2943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12870" y="511302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Groups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9120" y="5570220"/>
            <a:ext cx="6400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 natural customer groups based on Recency, Frequency, and Monetary behavior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38060" y="1455420"/>
            <a:ext cx="4463415" cy="3625215"/>
          </a:xfrm>
          <a:custGeom>
            <a:avLst/>
            <a:gdLst/>
            <a:ahLst/>
            <a:cxnLst/>
            <a:rect l="l" t="t" r="r" b="b"/>
            <a:pathLst>
              <a:path w="4463415" h="3625215">
                <a:moveTo>
                  <a:pt x="114303" y="0"/>
                </a:moveTo>
                <a:lnTo>
                  <a:pt x="4349112" y="0"/>
                </a:lnTo>
                <a:cubicBezTo>
                  <a:pt x="4412240" y="0"/>
                  <a:pt x="4463415" y="51175"/>
                  <a:pt x="4463415" y="114303"/>
                </a:cubicBezTo>
                <a:lnTo>
                  <a:pt x="4463415" y="3510912"/>
                </a:lnTo>
                <a:cubicBezTo>
                  <a:pt x="4463415" y="3574040"/>
                  <a:pt x="4412240" y="3625215"/>
                  <a:pt x="4349112" y="3625215"/>
                </a:cubicBezTo>
                <a:lnTo>
                  <a:pt x="114303" y="3625215"/>
                </a:lnTo>
                <a:cubicBezTo>
                  <a:pt x="51175" y="3625215"/>
                  <a:pt x="0" y="3574040"/>
                  <a:pt x="0" y="351091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3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0320">
            <a:solidFill>
              <a:srgbClr val="4ECD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65920" y="20057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Shape 27"/>
          <p:cNvSpPr/>
          <p:nvPr/>
        </p:nvSpPr>
        <p:spPr>
          <a:xfrm>
            <a:off x="9456420" y="21962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0" name="Text 28"/>
          <p:cNvSpPr/>
          <p:nvPr/>
        </p:nvSpPr>
        <p:spPr>
          <a:xfrm>
            <a:off x="7517130" y="2729626"/>
            <a:ext cx="410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Integration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31418" y="3262908"/>
            <a:ext cx="40767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both perspectives to answer: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93330" y="3693914"/>
            <a:ext cx="3971925" cy="838200"/>
          </a:xfrm>
          <a:custGeom>
            <a:avLst/>
            <a:gdLst/>
            <a:ahLst/>
            <a:cxnLst/>
            <a:rect l="l" t="t" r="r" b="b"/>
            <a:pathLst>
              <a:path w="3971925" h="838200">
                <a:moveTo>
                  <a:pt x="38100" y="0"/>
                </a:moveTo>
                <a:lnTo>
                  <a:pt x="3895724" y="0"/>
                </a:lnTo>
                <a:cubicBezTo>
                  <a:pt x="3937809" y="0"/>
                  <a:pt x="3971925" y="34116"/>
                  <a:pt x="3971925" y="76201"/>
                </a:cubicBezTo>
                <a:lnTo>
                  <a:pt x="3971925" y="761999"/>
                </a:lnTo>
                <a:cubicBezTo>
                  <a:pt x="3971925" y="804084"/>
                  <a:pt x="3937809" y="838200"/>
                  <a:pt x="3895724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593330" y="3693914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4" name="Text 32"/>
          <p:cNvSpPr/>
          <p:nvPr/>
        </p:nvSpPr>
        <p:spPr>
          <a:xfrm>
            <a:off x="7721918" y="3846314"/>
            <a:ext cx="373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do product associations differ across customer segments?"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34250" y="5246371"/>
            <a:ext cx="4474845" cy="1226820"/>
          </a:xfrm>
          <a:custGeom>
            <a:avLst/>
            <a:gdLst/>
            <a:ahLst/>
            <a:cxnLst/>
            <a:rect l="l" t="t" r="r" b="b"/>
            <a:pathLst>
              <a:path w="4474845" h="1226820">
                <a:moveTo>
                  <a:pt x="114303" y="0"/>
                </a:moveTo>
                <a:lnTo>
                  <a:pt x="4360542" y="0"/>
                </a:lnTo>
                <a:cubicBezTo>
                  <a:pt x="4423670" y="0"/>
                  <a:pt x="4474845" y="51175"/>
                  <a:pt x="4474845" y="114303"/>
                </a:cubicBezTo>
                <a:lnTo>
                  <a:pt x="4474845" y="1112517"/>
                </a:lnTo>
                <a:cubicBezTo>
                  <a:pt x="4474845" y="1175603"/>
                  <a:pt x="4423628" y="1226820"/>
                  <a:pt x="4360542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7610" y="54711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7" name="Text 35"/>
          <p:cNvSpPr/>
          <p:nvPr/>
        </p:nvSpPr>
        <p:spPr>
          <a:xfrm>
            <a:off x="7776210" y="5440680"/>
            <a:ext cx="391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28560" y="5783580"/>
            <a:ext cx="4162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not just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customers buy, but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they are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purchasing patterns differ across segments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Data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Brazilian E-Commerce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89710"/>
            <a:ext cx="7532370" cy="2141220"/>
          </a:xfrm>
          <a:custGeom>
            <a:avLst/>
            <a:gdLst/>
            <a:ahLst/>
            <a:cxnLst/>
            <a:rect l="l" t="t" r="r" b="b"/>
            <a:pathLst>
              <a:path w="7532370" h="2141220">
                <a:moveTo>
                  <a:pt x="114298" y="0"/>
                </a:moveTo>
                <a:lnTo>
                  <a:pt x="7418072" y="0"/>
                </a:lnTo>
                <a:cubicBezTo>
                  <a:pt x="7481197" y="0"/>
                  <a:pt x="7532370" y="51173"/>
                  <a:pt x="7532370" y="114298"/>
                </a:cubicBezTo>
                <a:lnTo>
                  <a:pt x="7532370" y="2026922"/>
                </a:lnTo>
                <a:cubicBezTo>
                  <a:pt x="7532370" y="2090047"/>
                  <a:pt x="7481197" y="2141220"/>
                  <a:pt x="7418072" y="2141220"/>
                </a:cubicBezTo>
                <a:lnTo>
                  <a:pt x="114298" y="2141220"/>
                </a:lnTo>
                <a:cubicBezTo>
                  <a:pt x="51173" y="2141220"/>
                  <a:pt x="0" y="2090047"/>
                  <a:pt x="0" y="202692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7221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3908" y="18745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1722120"/>
            <a:ext cx="276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Olist 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3020" y="2103002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Kaggle | Time Period: 2016–2018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2484002"/>
            <a:ext cx="2257425" cy="914400"/>
          </a:xfrm>
          <a:custGeom>
            <a:avLst/>
            <a:gdLst/>
            <a:ahLst/>
            <a:cxnLst/>
            <a:rect l="l" t="t" r="r" b="b"/>
            <a:pathLst>
              <a:path w="2257425" h="914400">
                <a:moveTo>
                  <a:pt x="76197" y="0"/>
                </a:moveTo>
                <a:lnTo>
                  <a:pt x="2181228" y="0"/>
                </a:lnTo>
                <a:cubicBezTo>
                  <a:pt x="2223310" y="0"/>
                  <a:pt x="2257425" y="34115"/>
                  <a:pt x="2257425" y="76197"/>
                </a:cubicBezTo>
                <a:lnTo>
                  <a:pt x="2257425" y="838203"/>
                </a:lnTo>
                <a:cubicBezTo>
                  <a:pt x="2257425" y="880285"/>
                  <a:pt x="2223310" y="914400"/>
                  <a:pt x="21812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3895" y="2636402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283" y="3055502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25140" y="2484002"/>
            <a:ext cx="2257425" cy="914400"/>
          </a:xfrm>
          <a:custGeom>
            <a:avLst/>
            <a:gdLst/>
            <a:ahLst/>
            <a:cxnLst/>
            <a:rect l="l" t="t" r="r" b="b"/>
            <a:pathLst>
              <a:path w="2257425" h="914400">
                <a:moveTo>
                  <a:pt x="76197" y="0"/>
                </a:moveTo>
                <a:lnTo>
                  <a:pt x="2181228" y="0"/>
                </a:lnTo>
                <a:cubicBezTo>
                  <a:pt x="2223310" y="0"/>
                  <a:pt x="2257425" y="34115"/>
                  <a:pt x="2257425" y="76197"/>
                </a:cubicBezTo>
                <a:lnTo>
                  <a:pt x="2257425" y="838203"/>
                </a:lnTo>
                <a:cubicBezTo>
                  <a:pt x="2257425" y="880285"/>
                  <a:pt x="2223310" y="914400"/>
                  <a:pt x="21812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091815" y="2636402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44203" y="3055502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Interconnected Tables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33060" y="2484002"/>
            <a:ext cx="2257425" cy="914400"/>
          </a:xfrm>
          <a:custGeom>
            <a:avLst/>
            <a:gdLst/>
            <a:ahLst/>
            <a:cxnLst/>
            <a:rect l="l" t="t" r="r" b="b"/>
            <a:pathLst>
              <a:path w="2257425" h="914400">
                <a:moveTo>
                  <a:pt x="76197" y="0"/>
                </a:moveTo>
                <a:lnTo>
                  <a:pt x="2181228" y="0"/>
                </a:lnTo>
                <a:cubicBezTo>
                  <a:pt x="2223310" y="0"/>
                  <a:pt x="2257425" y="34115"/>
                  <a:pt x="2257425" y="76197"/>
                </a:cubicBezTo>
                <a:lnTo>
                  <a:pt x="2257425" y="838203"/>
                </a:lnTo>
                <a:cubicBezTo>
                  <a:pt x="2257425" y="880285"/>
                  <a:pt x="2223310" y="914400"/>
                  <a:pt x="21812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99735" y="2636402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52123" y="3055502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Span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3867032"/>
            <a:ext cx="7532370" cy="2607945"/>
          </a:xfrm>
          <a:custGeom>
            <a:avLst/>
            <a:gdLst/>
            <a:ahLst/>
            <a:cxnLst/>
            <a:rect l="l" t="t" r="r" b="b"/>
            <a:pathLst>
              <a:path w="7532370" h="2607945">
                <a:moveTo>
                  <a:pt x="114306" y="0"/>
                </a:moveTo>
                <a:lnTo>
                  <a:pt x="7418064" y="0"/>
                </a:lnTo>
                <a:cubicBezTo>
                  <a:pt x="7481193" y="0"/>
                  <a:pt x="7532370" y="51177"/>
                  <a:pt x="7532370" y="114306"/>
                </a:cubicBezTo>
                <a:lnTo>
                  <a:pt x="7532370" y="2493639"/>
                </a:lnTo>
                <a:cubicBezTo>
                  <a:pt x="7532370" y="2556768"/>
                  <a:pt x="7481193" y="2607945"/>
                  <a:pt x="7418064" y="2607945"/>
                </a:cubicBezTo>
                <a:lnTo>
                  <a:pt x="114306" y="2607945"/>
                </a:lnTo>
                <a:cubicBezTo>
                  <a:pt x="51177" y="2607945"/>
                  <a:pt x="0" y="2556768"/>
                  <a:pt x="0" y="2493639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939" y="412992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912495" y="4099440"/>
            <a:ext cx="6867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Data Tables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" y="4518540"/>
            <a:ext cx="3476625" cy="457200"/>
          </a:xfrm>
          <a:custGeom>
            <a:avLst/>
            <a:gdLst/>
            <a:ahLst/>
            <a:cxnLst/>
            <a:rect l="l" t="t" r="r" b="b"/>
            <a:pathLst>
              <a:path w="3476625" h="457200">
                <a:moveTo>
                  <a:pt x="76202" y="0"/>
                </a:moveTo>
                <a:lnTo>
                  <a:pt x="3400423" y="0"/>
                </a:lnTo>
                <a:cubicBezTo>
                  <a:pt x="3442508" y="0"/>
                  <a:pt x="3476625" y="34117"/>
                  <a:pt x="3476625" y="76202"/>
                </a:cubicBezTo>
                <a:lnTo>
                  <a:pt x="3476625" y="380998"/>
                </a:lnTo>
                <a:cubicBezTo>
                  <a:pt x="3476625" y="423083"/>
                  <a:pt x="3442508" y="457200"/>
                  <a:pt x="34004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60095" y="467094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47625" y="23813"/>
                </a:moveTo>
                <a:cubicBezTo>
                  <a:pt x="47625" y="13305"/>
                  <a:pt x="56168" y="4763"/>
                  <a:pt x="66675" y="4763"/>
                </a:cubicBezTo>
                <a:cubicBezTo>
                  <a:pt x="77182" y="4763"/>
                  <a:pt x="85725" y="13305"/>
                  <a:pt x="85725" y="23813"/>
                </a:cubicBezTo>
                <a:lnTo>
                  <a:pt x="85725" y="38100"/>
                </a:lnTo>
                <a:lnTo>
                  <a:pt x="47625" y="38100"/>
                </a:lnTo>
                <a:lnTo>
                  <a:pt x="47625" y="23813"/>
                </a:lnTo>
                <a:close/>
                <a:moveTo>
                  <a:pt x="33338" y="38100"/>
                </a:moveTo>
                <a:lnTo>
                  <a:pt x="14288" y="38100"/>
                </a:lnTo>
                <a:cubicBezTo>
                  <a:pt x="6400" y="38100"/>
                  <a:pt x="0" y="44500"/>
                  <a:pt x="0" y="52388"/>
                </a:cubicBezTo>
                <a:lnTo>
                  <a:pt x="0" y="114300"/>
                </a:lnTo>
                <a:cubicBezTo>
                  <a:pt x="0" y="130076"/>
                  <a:pt x="12799" y="142875"/>
                  <a:pt x="28575" y="142875"/>
                </a:cubicBezTo>
                <a:lnTo>
                  <a:pt x="104775" y="142875"/>
                </a:lnTo>
                <a:cubicBezTo>
                  <a:pt x="120551" y="142875"/>
                  <a:pt x="133350" y="130076"/>
                  <a:pt x="133350" y="114300"/>
                </a:cubicBezTo>
                <a:lnTo>
                  <a:pt x="133350" y="52388"/>
                </a:lnTo>
                <a:cubicBezTo>
                  <a:pt x="133350" y="44500"/>
                  <a:pt x="126950" y="38100"/>
                  <a:pt x="119062" y="38100"/>
                </a:cubicBezTo>
                <a:lnTo>
                  <a:pt x="100013" y="38100"/>
                </a:lnTo>
                <a:lnTo>
                  <a:pt x="100013" y="23813"/>
                </a:lnTo>
                <a:cubicBezTo>
                  <a:pt x="100013" y="5388"/>
                  <a:pt x="85100" y="-9525"/>
                  <a:pt x="66675" y="-9525"/>
                </a:cubicBezTo>
                <a:cubicBezTo>
                  <a:pt x="48250" y="-9525"/>
                  <a:pt x="33338" y="5388"/>
                  <a:pt x="33338" y="23813"/>
                </a:cubicBezTo>
                <a:lnTo>
                  <a:pt x="33338" y="38100"/>
                </a:lnTo>
                <a:close/>
                <a:moveTo>
                  <a:pt x="40481" y="52388"/>
                </a:moveTo>
                <a:cubicBezTo>
                  <a:pt x="44424" y="52388"/>
                  <a:pt x="47625" y="55589"/>
                  <a:pt x="47625" y="59531"/>
                </a:cubicBezTo>
                <a:cubicBezTo>
                  <a:pt x="47625" y="63474"/>
                  <a:pt x="44424" y="66675"/>
                  <a:pt x="40481" y="66675"/>
                </a:cubicBezTo>
                <a:cubicBezTo>
                  <a:pt x="36539" y="66675"/>
                  <a:pt x="33338" y="63474"/>
                  <a:pt x="33338" y="59531"/>
                </a:cubicBezTo>
                <a:cubicBezTo>
                  <a:pt x="33338" y="55589"/>
                  <a:pt x="36539" y="52388"/>
                  <a:pt x="40481" y="52388"/>
                </a:cubicBezTo>
                <a:close/>
                <a:moveTo>
                  <a:pt x="85725" y="59531"/>
                </a:moveTo>
                <a:cubicBezTo>
                  <a:pt x="85725" y="55589"/>
                  <a:pt x="88926" y="52388"/>
                  <a:pt x="92869" y="52388"/>
                </a:cubicBezTo>
                <a:cubicBezTo>
                  <a:pt x="96811" y="52388"/>
                  <a:pt x="100013" y="55589"/>
                  <a:pt x="100013" y="59531"/>
                </a:cubicBezTo>
                <a:cubicBezTo>
                  <a:pt x="100013" y="63474"/>
                  <a:pt x="96811" y="66675"/>
                  <a:pt x="92869" y="66675"/>
                </a:cubicBezTo>
                <a:cubicBezTo>
                  <a:pt x="88926" y="66675"/>
                  <a:pt x="85725" y="63474"/>
                  <a:pt x="85725" y="595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1036320" y="463284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 &amp; Order Items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10050" y="4518540"/>
            <a:ext cx="3476625" cy="457200"/>
          </a:xfrm>
          <a:custGeom>
            <a:avLst/>
            <a:gdLst/>
            <a:ahLst/>
            <a:cxnLst/>
            <a:rect l="l" t="t" r="r" b="b"/>
            <a:pathLst>
              <a:path w="3476625" h="457200">
                <a:moveTo>
                  <a:pt x="76202" y="0"/>
                </a:moveTo>
                <a:lnTo>
                  <a:pt x="3400423" y="0"/>
                </a:lnTo>
                <a:cubicBezTo>
                  <a:pt x="3442508" y="0"/>
                  <a:pt x="3476625" y="34117"/>
                  <a:pt x="3476625" y="76202"/>
                </a:cubicBezTo>
                <a:lnTo>
                  <a:pt x="3476625" y="380998"/>
                </a:lnTo>
                <a:cubicBezTo>
                  <a:pt x="3476625" y="423083"/>
                  <a:pt x="3442508" y="457200"/>
                  <a:pt x="34004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24350" y="467094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Text 25"/>
          <p:cNvSpPr/>
          <p:nvPr/>
        </p:nvSpPr>
        <p:spPr>
          <a:xfrm>
            <a:off x="4629150" y="463284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220" y="5090040"/>
            <a:ext cx="3476625" cy="457200"/>
          </a:xfrm>
          <a:custGeom>
            <a:avLst/>
            <a:gdLst/>
            <a:ahLst/>
            <a:cxnLst/>
            <a:rect l="l" t="t" r="r" b="b"/>
            <a:pathLst>
              <a:path w="3476625" h="457200">
                <a:moveTo>
                  <a:pt x="76202" y="0"/>
                </a:moveTo>
                <a:lnTo>
                  <a:pt x="3400423" y="0"/>
                </a:lnTo>
                <a:cubicBezTo>
                  <a:pt x="3442508" y="0"/>
                  <a:pt x="3476625" y="34117"/>
                  <a:pt x="3476625" y="76202"/>
                </a:cubicBezTo>
                <a:lnTo>
                  <a:pt x="3476625" y="380998"/>
                </a:lnTo>
                <a:cubicBezTo>
                  <a:pt x="3476625" y="423083"/>
                  <a:pt x="3442508" y="457200"/>
                  <a:pt x="34004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60095" y="524244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9954" y="38100"/>
                </a:moveTo>
                <a:lnTo>
                  <a:pt x="99745" y="23813"/>
                </a:lnTo>
                <a:lnTo>
                  <a:pt x="33635" y="23813"/>
                </a:lnTo>
                <a:lnTo>
                  <a:pt x="23426" y="38100"/>
                </a:lnTo>
                <a:lnTo>
                  <a:pt x="109954" y="38100"/>
                </a:lnTo>
                <a:close/>
                <a:moveTo>
                  <a:pt x="0" y="44202"/>
                </a:moveTo>
                <a:cubicBezTo>
                  <a:pt x="0" y="40243"/>
                  <a:pt x="1250" y="36374"/>
                  <a:pt x="3542" y="33129"/>
                </a:cubicBezTo>
                <a:lnTo>
                  <a:pt x="18127" y="12740"/>
                </a:lnTo>
                <a:cubicBezTo>
                  <a:pt x="21699" y="7739"/>
                  <a:pt x="27474" y="4763"/>
                  <a:pt x="33605" y="4763"/>
                </a:cubicBezTo>
                <a:lnTo>
                  <a:pt x="99715" y="4763"/>
                </a:lnTo>
                <a:cubicBezTo>
                  <a:pt x="105876" y="4763"/>
                  <a:pt x="111651" y="7739"/>
                  <a:pt x="115223" y="12740"/>
                </a:cubicBezTo>
                <a:lnTo>
                  <a:pt x="129778" y="33129"/>
                </a:lnTo>
                <a:cubicBezTo>
                  <a:pt x="132100" y="36374"/>
                  <a:pt x="133320" y="40243"/>
                  <a:pt x="133320" y="44202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4420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1036320" y="5204340"/>
            <a:ext cx="65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10050" y="5090040"/>
            <a:ext cx="3476625" cy="457200"/>
          </a:xfrm>
          <a:custGeom>
            <a:avLst/>
            <a:gdLst/>
            <a:ahLst/>
            <a:cxnLst/>
            <a:rect l="l" t="t" r="r" b="b"/>
            <a:pathLst>
              <a:path w="3476625" h="457200">
                <a:moveTo>
                  <a:pt x="76202" y="0"/>
                </a:moveTo>
                <a:lnTo>
                  <a:pt x="3400423" y="0"/>
                </a:lnTo>
                <a:cubicBezTo>
                  <a:pt x="3442508" y="0"/>
                  <a:pt x="3476625" y="34117"/>
                  <a:pt x="3476625" y="76202"/>
                </a:cubicBezTo>
                <a:lnTo>
                  <a:pt x="3476625" y="380998"/>
                </a:lnTo>
                <a:cubicBezTo>
                  <a:pt x="3476625" y="423083"/>
                  <a:pt x="3442508" y="457200"/>
                  <a:pt x="34004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43400" y="52424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38100"/>
                </a:moveTo>
                <a:lnTo>
                  <a:pt x="0" y="47625"/>
                </a:lnTo>
                <a:lnTo>
                  <a:pt x="152400" y="47625"/>
                </a:ln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close/>
                <a:moveTo>
                  <a:pt x="0" y="61912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61912"/>
                </a:lnTo>
                <a:lnTo>
                  <a:pt x="0" y="61912"/>
                </a:lnTo>
                <a:close/>
                <a:moveTo>
                  <a:pt x="19050" y="107156"/>
                </a:moveTo>
                <a:cubicBezTo>
                  <a:pt x="19050" y="103197"/>
                  <a:pt x="22235" y="100013"/>
                  <a:pt x="26194" y="100013"/>
                </a:cubicBezTo>
                <a:lnTo>
                  <a:pt x="40481" y="100013"/>
                </a:lnTo>
                <a:cubicBezTo>
                  <a:pt x="44440" y="100013"/>
                  <a:pt x="47625" y="103197"/>
                  <a:pt x="47625" y="107156"/>
                </a:cubicBezTo>
                <a:cubicBezTo>
                  <a:pt x="47625" y="111115"/>
                  <a:pt x="44440" y="114300"/>
                  <a:pt x="40481" y="114300"/>
                </a:cubicBezTo>
                <a:lnTo>
                  <a:pt x="26194" y="114300"/>
                </a:lnTo>
                <a:cubicBezTo>
                  <a:pt x="22235" y="114300"/>
                  <a:pt x="19050" y="111115"/>
                  <a:pt x="19050" y="107156"/>
                </a:cubicBezTo>
                <a:close/>
                <a:moveTo>
                  <a:pt x="61912" y="107156"/>
                </a:moveTo>
                <a:cubicBezTo>
                  <a:pt x="61912" y="103197"/>
                  <a:pt x="65097" y="100013"/>
                  <a:pt x="69056" y="100013"/>
                </a:cubicBez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9056" y="114300"/>
                </a:lnTo>
                <a:cubicBezTo>
                  <a:pt x="65097" y="114300"/>
                  <a:pt x="61912" y="111115"/>
                  <a:pt x="61912" y="10715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4629150" y="520434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" y="5661540"/>
            <a:ext cx="3476625" cy="457200"/>
          </a:xfrm>
          <a:custGeom>
            <a:avLst/>
            <a:gdLst/>
            <a:ahLst/>
            <a:cxnLst/>
            <a:rect l="l" t="t" r="r" b="b"/>
            <a:pathLst>
              <a:path w="3476625" h="457200">
                <a:moveTo>
                  <a:pt x="76202" y="0"/>
                </a:moveTo>
                <a:lnTo>
                  <a:pt x="3400423" y="0"/>
                </a:lnTo>
                <a:cubicBezTo>
                  <a:pt x="3442508" y="0"/>
                  <a:pt x="3476625" y="34117"/>
                  <a:pt x="3476625" y="76202"/>
                </a:cubicBezTo>
                <a:lnTo>
                  <a:pt x="3476625" y="380998"/>
                </a:lnTo>
                <a:cubicBezTo>
                  <a:pt x="3476625" y="423083"/>
                  <a:pt x="3442508" y="457200"/>
                  <a:pt x="34004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1045" y="581394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1036320" y="5775840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10050" y="5661540"/>
            <a:ext cx="3476625" cy="457200"/>
          </a:xfrm>
          <a:custGeom>
            <a:avLst/>
            <a:gdLst/>
            <a:ahLst/>
            <a:cxnLst/>
            <a:rect l="l" t="t" r="r" b="b"/>
            <a:pathLst>
              <a:path w="3476625" h="457200">
                <a:moveTo>
                  <a:pt x="76202" y="0"/>
                </a:moveTo>
                <a:lnTo>
                  <a:pt x="3400423" y="0"/>
                </a:lnTo>
                <a:cubicBezTo>
                  <a:pt x="3442508" y="0"/>
                  <a:pt x="3476625" y="34117"/>
                  <a:pt x="3476625" y="76202"/>
                </a:cubicBezTo>
                <a:lnTo>
                  <a:pt x="3476625" y="380998"/>
                </a:lnTo>
                <a:cubicBezTo>
                  <a:pt x="3476625" y="423083"/>
                  <a:pt x="3442508" y="457200"/>
                  <a:pt x="34004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62450" y="581394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56138"/>
                </a:moveTo>
                <a:cubicBezTo>
                  <a:pt x="0" y="25122"/>
                  <a:pt x="25598" y="0"/>
                  <a:pt x="57150" y="0"/>
                </a:cubicBezTo>
                <a:cubicBezTo>
                  <a:pt x="88702" y="0"/>
                  <a:pt x="114300" y="25122"/>
                  <a:pt x="114300" y="56138"/>
                </a:cubicBezTo>
                <a:cubicBezTo>
                  <a:pt x="114300" y="91648"/>
                  <a:pt x="78522" y="134213"/>
                  <a:pt x="63579" y="150435"/>
                </a:cubicBezTo>
                <a:cubicBezTo>
                  <a:pt x="60067" y="154245"/>
                  <a:pt x="54203" y="154245"/>
                  <a:pt x="50691" y="150435"/>
                </a:cubicBezTo>
                <a:cubicBezTo>
                  <a:pt x="35749" y="134213"/>
                  <a:pt x="-30" y="91648"/>
                  <a:pt x="-30" y="56138"/>
                </a:cubicBezTo>
                <a:close/>
                <a:moveTo>
                  <a:pt x="57150" y="76200"/>
                </a:moveTo>
                <a:cubicBezTo>
                  <a:pt x="67664" y="76200"/>
                  <a:pt x="76200" y="67664"/>
                  <a:pt x="76200" y="57150"/>
                </a:cubicBezTo>
                <a:cubicBezTo>
                  <a:pt x="76200" y="46636"/>
                  <a:pt x="67664" y="38100"/>
                  <a:pt x="57150" y="38100"/>
                </a:cubicBezTo>
                <a:cubicBezTo>
                  <a:pt x="46636" y="38100"/>
                  <a:pt x="38100" y="46636"/>
                  <a:pt x="38100" y="57150"/>
                </a:cubicBezTo>
                <a:cubicBezTo>
                  <a:pt x="38100" y="67664"/>
                  <a:pt x="46636" y="76200"/>
                  <a:pt x="57150" y="762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4629150" y="577584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Geolocation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61020" y="1493520"/>
            <a:ext cx="3644265" cy="3587115"/>
          </a:xfrm>
          <a:custGeom>
            <a:avLst/>
            <a:gdLst/>
            <a:ahLst/>
            <a:cxnLst/>
            <a:rect l="l" t="t" r="r" b="b"/>
            <a:pathLst>
              <a:path w="3644265" h="3587115">
                <a:moveTo>
                  <a:pt x="114285" y="0"/>
                </a:moveTo>
                <a:lnTo>
                  <a:pt x="3529980" y="0"/>
                </a:lnTo>
                <a:cubicBezTo>
                  <a:pt x="3593098" y="0"/>
                  <a:pt x="3644265" y="51167"/>
                  <a:pt x="3644265" y="114285"/>
                </a:cubicBezTo>
                <a:lnTo>
                  <a:pt x="3644265" y="3472830"/>
                </a:lnTo>
                <a:cubicBezTo>
                  <a:pt x="3644265" y="3535948"/>
                  <a:pt x="3593098" y="3587115"/>
                  <a:pt x="3529980" y="3587115"/>
                </a:cubicBezTo>
                <a:lnTo>
                  <a:pt x="114285" y="3587115"/>
                </a:lnTo>
                <a:cubicBezTo>
                  <a:pt x="51167" y="3587115"/>
                  <a:pt x="0" y="3535948"/>
                  <a:pt x="0" y="347283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3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0320">
            <a:solidFill>
              <a:srgbClr val="4ECD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21053" y="17602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8692515" y="1729741"/>
            <a:ext cx="297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Dataset?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97240" y="21678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61534" y="222504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5" name="Text 43"/>
          <p:cNvSpPr/>
          <p:nvPr/>
        </p:nvSpPr>
        <p:spPr>
          <a:xfrm>
            <a:off x="8740140" y="2148841"/>
            <a:ext cx="2905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Journey: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Captures entire customer lifecycle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97240" y="27774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61534" y="283464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8740140" y="2758441"/>
            <a:ext cx="2905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Features: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dimensions for analysis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97240" y="33870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61534" y="344424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Text 49"/>
          <p:cNvSpPr/>
          <p:nvPr/>
        </p:nvSpPr>
        <p:spPr>
          <a:xfrm>
            <a:off x="8740140" y="3368041"/>
            <a:ext cx="2905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Business: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Actual e-commerce transactions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97240" y="39966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61534" y="4053841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Text 52"/>
          <p:cNvSpPr/>
          <p:nvPr/>
        </p:nvSpPr>
        <p:spPr>
          <a:xfrm>
            <a:off x="8740140" y="3977641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Sufficient for robust mining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57210" y="5322571"/>
            <a:ext cx="3646170" cy="1150620"/>
          </a:xfrm>
          <a:custGeom>
            <a:avLst/>
            <a:gdLst/>
            <a:ahLst/>
            <a:cxnLst/>
            <a:rect l="l" t="t" r="r" b="b"/>
            <a:pathLst>
              <a:path w="3646170" h="1150620">
                <a:moveTo>
                  <a:pt x="114303" y="0"/>
                </a:moveTo>
                <a:lnTo>
                  <a:pt x="3531867" y="0"/>
                </a:lnTo>
                <a:cubicBezTo>
                  <a:pt x="3594995" y="0"/>
                  <a:pt x="3646170" y="51175"/>
                  <a:pt x="3646170" y="114303"/>
                </a:cubicBezTo>
                <a:lnTo>
                  <a:pt x="3646170" y="1036317"/>
                </a:lnTo>
                <a:cubicBezTo>
                  <a:pt x="3646170" y="1099445"/>
                  <a:pt x="3594995" y="1150620"/>
                  <a:pt x="3531867" y="1150620"/>
                </a:cubicBezTo>
                <a:lnTo>
                  <a:pt x="114303" y="1150620"/>
                </a:lnTo>
                <a:cubicBezTo>
                  <a:pt x="51175" y="1150620"/>
                  <a:pt x="0" y="1099445"/>
                  <a:pt x="0" y="10363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89620" y="554736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7" name="Text 55"/>
          <p:cNvSpPr/>
          <p:nvPr/>
        </p:nvSpPr>
        <p:spPr>
          <a:xfrm>
            <a:off x="8599170" y="551688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51520" y="5821680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Well-documented, publicly available dataset with minimal preprocessing requirements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Methodology — Phase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 &amp; EDA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the foundation for reliable mining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794510"/>
            <a:ext cx="2731770" cy="3265170"/>
          </a:xfrm>
          <a:custGeom>
            <a:avLst/>
            <a:gdLst/>
            <a:ahLst/>
            <a:cxnLst/>
            <a:rect l="l" t="t" r="r" b="b"/>
            <a:pathLst>
              <a:path w="2731770" h="3265170">
                <a:moveTo>
                  <a:pt x="114297" y="0"/>
                </a:moveTo>
                <a:lnTo>
                  <a:pt x="2617473" y="0"/>
                </a:lnTo>
                <a:cubicBezTo>
                  <a:pt x="2680597" y="0"/>
                  <a:pt x="2731770" y="51173"/>
                  <a:pt x="2731770" y="114297"/>
                </a:cubicBezTo>
                <a:lnTo>
                  <a:pt x="2731770" y="3150873"/>
                </a:lnTo>
                <a:cubicBezTo>
                  <a:pt x="2731770" y="3213997"/>
                  <a:pt x="2680597" y="3265170"/>
                  <a:pt x="2617473" y="3265170"/>
                </a:cubicBezTo>
                <a:lnTo>
                  <a:pt x="114297" y="3265170"/>
                </a:lnTo>
                <a:cubicBezTo>
                  <a:pt x="51173" y="3265170"/>
                  <a:pt x="0" y="3213997"/>
                  <a:pt x="0" y="315087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9888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0564" y="21221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10815" y="20315"/>
                </a:moveTo>
                <a:cubicBezTo>
                  <a:pt x="215466" y="15664"/>
                  <a:pt x="215466" y="8111"/>
                  <a:pt x="210815" y="3460"/>
                </a:cubicBezTo>
                <a:cubicBezTo>
                  <a:pt x="206164" y="-1191"/>
                  <a:pt x="198611" y="-1191"/>
                  <a:pt x="193960" y="3460"/>
                </a:cubicBezTo>
                <a:lnTo>
                  <a:pt x="122523" y="74898"/>
                </a:lnTo>
                <a:lnTo>
                  <a:pt x="109612" y="61987"/>
                </a:lnTo>
                <a:cubicBezTo>
                  <a:pt x="108049" y="60424"/>
                  <a:pt x="105891" y="59531"/>
                  <a:pt x="103659" y="59531"/>
                </a:cubicBezTo>
                <a:cubicBezTo>
                  <a:pt x="99008" y="59531"/>
                  <a:pt x="95250" y="63289"/>
                  <a:pt x="95250" y="67940"/>
                </a:cubicBezTo>
                <a:lnTo>
                  <a:pt x="95250" y="78767"/>
                </a:lnTo>
                <a:lnTo>
                  <a:pt x="135545" y="119063"/>
                </a:lnTo>
                <a:lnTo>
                  <a:pt x="146372" y="119063"/>
                </a:lnTo>
                <a:cubicBezTo>
                  <a:pt x="151023" y="119063"/>
                  <a:pt x="154781" y="115305"/>
                  <a:pt x="154781" y="110654"/>
                </a:cubicBezTo>
                <a:cubicBezTo>
                  <a:pt x="154781" y="108421"/>
                  <a:pt x="153888" y="106263"/>
                  <a:pt x="152326" y="104701"/>
                </a:cubicBezTo>
                <a:lnTo>
                  <a:pt x="139415" y="91790"/>
                </a:lnTo>
                <a:lnTo>
                  <a:pt x="210852" y="20352"/>
                </a:lnTo>
                <a:close/>
                <a:moveTo>
                  <a:pt x="126913" y="131490"/>
                </a:moveTo>
                <a:lnTo>
                  <a:pt x="82823" y="87399"/>
                </a:lnTo>
                <a:cubicBezTo>
                  <a:pt x="66935" y="86023"/>
                  <a:pt x="51122" y="91753"/>
                  <a:pt x="39737" y="103138"/>
                </a:cubicBezTo>
                <a:lnTo>
                  <a:pt x="36761" y="106114"/>
                </a:lnTo>
                <a:cubicBezTo>
                  <a:pt x="28463" y="114412"/>
                  <a:pt x="23812" y="125648"/>
                  <a:pt x="23812" y="137368"/>
                </a:cubicBezTo>
                <a:cubicBezTo>
                  <a:pt x="23812" y="139898"/>
                  <a:pt x="26454" y="141536"/>
                  <a:pt x="28724" y="140419"/>
                </a:cubicBezTo>
                <a:lnTo>
                  <a:pt x="47737" y="130932"/>
                </a:lnTo>
                <a:cubicBezTo>
                  <a:pt x="49597" y="130001"/>
                  <a:pt x="51271" y="132457"/>
                  <a:pt x="49746" y="133871"/>
                </a:cubicBezTo>
                <a:lnTo>
                  <a:pt x="2716" y="176138"/>
                </a:lnTo>
                <a:cubicBezTo>
                  <a:pt x="1005" y="177701"/>
                  <a:pt x="0" y="179933"/>
                  <a:pt x="0" y="182277"/>
                </a:cubicBezTo>
                <a:cubicBezTo>
                  <a:pt x="0" y="186817"/>
                  <a:pt x="3683" y="190500"/>
                  <a:pt x="8223" y="190500"/>
                </a:cubicBezTo>
                <a:lnTo>
                  <a:pt x="72703" y="190500"/>
                </a:lnTo>
                <a:cubicBezTo>
                  <a:pt x="87139" y="190500"/>
                  <a:pt x="100943" y="184770"/>
                  <a:pt x="111175" y="174575"/>
                </a:cubicBezTo>
                <a:cubicBezTo>
                  <a:pt x="122560" y="163190"/>
                  <a:pt x="128253" y="147377"/>
                  <a:pt x="126913" y="13149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579120" y="2560323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903223"/>
            <a:ext cx="241935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missing values, remove inconsistencies, standardize formats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4526282"/>
            <a:ext cx="2343150" cy="342900"/>
          </a:xfrm>
          <a:custGeom>
            <a:avLst/>
            <a:gdLst/>
            <a:ahLst/>
            <a:cxnLst/>
            <a:rect l="l" t="t" r="r" b="b"/>
            <a:pathLst>
              <a:path w="2343150" h="342900">
                <a:moveTo>
                  <a:pt x="76199" y="0"/>
                </a:moveTo>
                <a:lnTo>
                  <a:pt x="2266951" y="0"/>
                </a:lnTo>
                <a:cubicBezTo>
                  <a:pt x="2309034" y="0"/>
                  <a:pt x="2343150" y="34116"/>
                  <a:pt x="2343150" y="76199"/>
                </a:cubicBezTo>
                <a:lnTo>
                  <a:pt x="2343150" y="266701"/>
                </a:lnTo>
                <a:cubicBezTo>
                  <a:pt x="2343150" y="308784"/>
                  <a:pt x="2309034" y="342900"/>
                  <a:pt x="22669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2704" y="462534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855345" y="4602482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80410" y="1794510"/>
            <a:ext cx="2731770" cy="3265170"/>
          </a:xfrm>
          <a:custGeom>
            <a:avLst/>
            <a:gdLst/>
            <a:ahLst/>
            <a:cxnLst/>
            <a:rect l="l" t="t" r="r" b="b"/>
            <a:pathLst>
              <a:path w="2731770" h="3265170">
                <a:moveTo>
                  <a:pt x="114297" y="0"/>
                </a:moveTo>
                <a:lnTo>
                  <a:pt x="2617473" y="0"/>
                </a:lnTo>
                <a:cubicBezTo>
                  <a:pt x="2680597" y="0"/>
                  <a:pt x="2731770" y="51173"/>
                  <a:pt x="2731770" y="114297"/>
                </a:cubicBezTo>
                <a:lnTo>
                  <a:pt x="2731770" y="3150873"/>
                </a:lnTo>
                <a:cubicBezTo>
                  <a:pt x="2731770" y="3213997"/>
                  <a:pt x="2680597" y="3265170"/>
                  <a:pt x="2617473" y="3265170"/>
                </a:cubicBezTo>
                <a:lnTo>
                  <a:pt x="114297" y="3265170"/>
                </a:lnTo>
                <a:cubicBezTo>
                  <a:pt x="51173" y="3265170"/>
                  <a:pt x="0" y="3213997"/>
                  <a:pt x="0" y="315087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9888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596164" y="21221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44425"/>
                </a:moveTo>
                <a:cubicBezTo>
                  <a:pt x="4800" y="40332"/>
                  <a:pt x="0" y="32631"/>
                  <a:pt x="0" y="23812"/>
                </a:cubicBezTo>
                <a:cubicBezTo>
                  <a:pt x="0" y="10678"/>
                  <a:pt x="10678" y="0"/>
                  <a:pt x="23812" y="0"/>
                </a:cubicBezTo>
                <a:cubicBezTo>
                  <a:pt x="32631" y="0"/>
                  <a:pt x="40332" y="4800"/>
                  <a:pt x="44425" y="11906"/>
                </a:cubicBezTo>
                <a:lnTo>
                  <a:pt x="169850" y="11906"/>
                </a:lnTo>
                <a:cubicBezTo>
                  <a:pt x="173980" y="4800"/>
                  <a:pt x="181645" y="0"/>
                  <a:pt x="190463" y="0"/>
                </a:cubicBezTo>
                <a:cubicBezTo>
                  <a:pt x="203597" y="0"/>
                  <a:pt x="214275" y="10678"/>
                  <a:pt x="214275" y="23812"/>
                </a:cubicBezTo>
                <a:cubicBezTo>
                  <a:pt x="214275" y="32631"/>
                  <a:pt x="209476" y="40332"/>
                  <a:pt x="202369" y="44425"/>
                </a:cubicBezTo>
                <a:lnTo>
                  <a:pt x="202369" y="146038"/>
                </a:lnTo>
                <a:cubicBezTo>
                  <a:pt x="209476" y="150168"/>
                  <a:pt x="214275" y="157832"/>
                  <a:pt x="214275" y="166650"/>
                </a:cubicBezTo>
                <a:cubicBezTo>
                  <a:pt x="214275" y="179784"/>
                  <a:pt x="203597" y="190463"/>
                  <a:pt x="190463" y="190463"/>
                </a:cubicBezTo>
                <a:cubicBezTo>
                  <a:pt x="181645" y="190463"/>
                  <a:pt x="173943" y="185663"/>
                  <a:pt x="169850" y="178557"/>
                </a:cubicBezTo>
                <a:lnTo>
                  <a:pt x="44425" y="178557"/>
                </a:lnTo>
                <a:cubicBezTo>
                  <a:pt x="40295" y="185663"/>
                  <a:pt x="32631" y="190463"/>
                  <a:pt x="23812" y="190463"/>
                </a:cubicBezTo>
                <a:cubicBezTo>
                  <a:pt x="10678" y="190463"/>
                  <a:pt x="0" y="179784"/>
                  <a:pt x="0" y="166650"/>
                </a:cubicBezTo>
                <a:cubicBezTo>
                  <a:pt x="0" y="157832"/>
                  <a:pt x="4800" y="150130"/>
                  <a:pt x="11906" y="146038"/>
                </a:cubicBezTo>
                <a:lnTo>
                  <a:pt x="11906" y="44425"/>
                </a:lnTo>
                <a:close/>
                <a:moveTo>
                  <a:pt x="178594" y="44425"/>
                </a:moveTo>
                <a:cubicBezTo>
                  <a:pt x="174985" y="42342"/>
                  <a:pt x="171971" y="39328"/>
                  <a:pt x="169887" y="35719"/>
                </a:cubicBezTo>
                <a:lnTo>
                  <a:pt x="44425" y="35719"/>
                </a:lnTo>
                <a:cubicBezTo>
                  <a:pt x="42342" y="39328"/>
                  <a:pt x="39328" y="42342"/>
                  <a:pt x="35719" y="44425"/>
                </a:cubicBezTo>
                <a:lnTo>
                  <a:pt x="35719" y="146038"/>
                </a:lnTo>
                <a:cubicBezTo>
                  <a:pt x="39328" y="148121"/>
                  <a:pt x="42342" y="151135"/>
                  <a:pt x="44425" y="154744"/>
                </a:cubicBezTo>
                <a:lnTo>
                  <a:pt x="169850" y="154744"/>
                </a:lnTo>
                <a:cubicBezTo>
                  <a:pt x="171934" y="151135"/>
                  <a:pt x="174947" y="148121"/>
                  <a:pt x="178557" y="146038"/>
                </a:cubicBezTo>
                <a:lnTo>
                  <a:pt x="178557" y="44425"/>
                </a:lnTo>
                <a:close/>
                <a:moveTo>
                  <a:pt x="53578" y="65484"/>
                </a:moveTo>
                <a:cubicBezTo>
                  <a:pt x="53578" y="58899"/>
                  <a:pt x="58899" y="53578"/>
                  <a:pt x="65484" y="53578"/>
                </a:cubicBezTo>
                <a:lnTo>
                  <a:pt x="107156" y="53578"/>
                </a:lnTo>
                <a:cubicBezTo>
                  <a:pt x="113742" y="53578"/>
                  <a:pt x="119063" y="58899"/>
                  <a:pt x="119063" y="65484"/>
                </a:cubicBezTo>
                <a:lnTo>
                  <a:pt x="119063" y="89297"/>
                </a:lnTo>
                <a:cubicBezTo>
                  <a:pt x="119063" y="95883"/>
                  <a:pt x="113742" y="101203"/>
                  <a:pt x="107156" y="101203"/>
                </a:cubicBezTo>
                <a:lnTo>
                  <a:pt x="65484" y="101203"/>
                </a:lnTo>
                <a:cubicBezTo>
                  <a:pt x="58899" y="101203"/>
                  <a:pt x="53578" y="95883"/>
                  <a:pt x="53578" y="89297"/>
                </a:cubicBezTo>
                <a:lnTo>
                  <a:pt x="53578" y="65484"/>
                </a:lnTo>
                <a:close/>
                <a:moveTo>
                  <a:pt x="95250" y="119063"/>
                </a:moveTo>
                <a:lnTo>
                  <a:pt x="107156" y="119063"/>
                </a:lnTo>
                <a:cubicBezTo>
                  <a:pt x="123602" y="119063"/>
                  <a:pt x="136922" y="105742"/>
                  <a:pt x="136922" y="89297"/>
                </a:cubicBezTo>
                <a:lnTo>
                  <a:pt x="148828" y="89297"/>
                </a:lnTo>
                <a:cubicBezTo>
                  <a:pt x="155414" y="89297"/>
                  <a:pt x="160734" y="94617"/>
                  <a:pt x="160734" y="101203"/>
                </a:cubicBezTo>
                <a:lnTo>
                  <a:pt x="160734" y="125016"/>
                </a:lnTo>
                <a:cubicBezTo>
                  <a:pt x="160734" y="131601"/>
                  <a:pt x="155414" y="136922"/>
                  <a:pt x="148828" y="136922"/>
                </a:cubicBezTo>
                <a:lnTo>
                  <a:pt x="107156" y="136922"/>
                </a:lnTo>
                <a:cubicBezTo>
                  <a:pt x="100571" y="136922"/>
                  <a:pt x="95250" y="131601"/>
                  <a:pt x="95250" y="125016"/>
                </a:cubicBezTo>
                <a:lnTo>
                  <a:pt x="95250" y="119063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560323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Integration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2903223"/>
            <a:ext cx="241935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 8 interconnected tables into analysis-ready datasets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4720" y="4526282"/>
            <a:ext cx="2343150" cy="342900"/>
          </a:xfrm>
          <a:custGeom>
            <a:avLst/>
            <a:gdLst/>
            <a:ahLst/>
            <a:cxnLst/>
            <a:rect l="l" t="t" r="r" b="b"/>
            <a:pathLst>
              <a:path w="2343150" h="342900">
                <a:moveTo>
                  <a:pt x="76199" y="0"/>
                </a:moveTo>
                <a:lnTo>
                  <a:pt x="2266951" y="0"/>
                </a:lnTo>
                <a:cubicBezTo>
                  <a:pt x="2309034" y="0"/>
                  <a:pt x="2343150" y="34116"/>
                  <a:pt x="2343150" y="76199"/>
                </a:cubicBezTo>
                <a:lnTo>
                  <a:pt x="2343150" y="266701"/>
                </a:lnTo>
                <a:cubicBezTo>
                  <a:pt x="2343150" y="308784"/>
                  <a:pt x="2309034" y="342900"/>
                  <a:pt x="22669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578305" y="462534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3750945" y="4602482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view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6010" y="1794510"/>
            <a:ext cx="2731770" cy="3265170"/>
          </a:xfrm>
          <a:custGeom>
            <a:avLst/>
            <a:gdLst/>
            <a:ahLst/>
            <a:cxnLst/>
            <a:rect l="l" t="t" r="r" b="b"/>
            <a:pathLst>
              <a:path w="2731770" h="3265170">
                <a:moveTo>
                  <a:pt x="114297" y="0"/>
                </a:moveTo>
                <a:lnTo>
                  <a:pt x="2617473" y="0"/>
                </a:lnTo>
                <a:cubicBezTo>
                  <a:pt x="2680597" y="0"/>
                  <a:pt x="2731770" y="51173"/>
                  <a:pt x="2731770" y="114297"/>
                </a:cubicBezTo>
                <a:lnTo>
                  <a:pt x="2731770" y="3150873"/>
                </a:lnTo>
                <a:cubicBezTo>
                  <a:pt x="2731770" y="3213997"/>
                  <a:pt x="2680597" y="3265170"/>
                  <a:pt x="2617473" y="3265170"/>
                </a:cubicBezTo>
                <a:lnTo>
                  <a:pt x="114297" y="3265170"/>
                </a:lnTo>
                <a:cubicBezTo>
                  <a:pt x="51173" y="3265170"/>
                  <a:pt x="0" y="3213997"/>
                  <a:pt x="0" y="315087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0320" y="19888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79857" y="21221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6370320" y="2560323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0320" y="2903223"/>
            <a:ext cx="241935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meaningful features: order value, recency, frequency, delivery time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0320" y="4526282"/>
            <a:ext cx="2343150" cy="342900"/>
          </a:xfrm>
          <a:custGeom>
            <a:avLst/>
            <a:gdLst/>
            <a:ahLst/>
            <a:cxnLst/>
            <a:rect l="l" t="t" r="r" b="b"/>
            <a:pathLst>
              <a:path w="2343150" h="342900">
                <a:moveTo>
                  <a:pt x="76199" y="0"/>
                </a:moveTo>
                <a:lnTo>
                  <a:pt x="2266951" y="0"/>
                </a:lnTo>
                <a:cubicBezTo>
                  <a:pt x="2309034" y="0"/>
                  <a:pt x="2343150" y="34116"/>
                  <a:pt x="2343150" y="76199"/>
                </a:cubicBezTo>
                <a:lnTo>
                  <a:pt x="2343150" y="266701"/>
                </a:lnTo>
                <a:cubicBezTo>
                  <a:pt x="2343150" y="308784"/>
                  <a:pt x="2309034" y="342900"/>
                  <a:pt x="22669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73904" y="462534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6646545" y="4602482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attributes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71610" y="1794510"/>
            <a:ext cx="2731770" cy="3265170"/>
          </a:xfrm>
          <a:custGeom>
            <a:avLst/>
            <a:gdLst/>
            <a:ahLst/>
            <a:cxnLst/>
            <a:rect l="l" t="t" r="r" b="b"/>
            <a:pathLst>
              <a:path w="2731770" h="3265170">
                <a:moveTo>
                  <a:pt x="114297" y="0"/>
                </a:moveTo>
                <a:lnTo>
                  <a:pt x="2617473" y="0"/>
                </a:lnTo>
                <a:cubicBezTo>
                  <a:pt x="2680597" y="0"/>
                  <a:pt x="2731770" y="51173"/>
                  <a:pt x="2731770" y="114297"/>
                </a:cubicBezTo>
                <a:lnTo>
                  <a:pt x="2731770" y="3150873"/>
                </a:lnTo>
                <a:cubicBezTo>
                  <a:pt x="2731770" y="3213997"/>
                  <a:pt x="2680597" y="3265170"/>
                  <a:pt x="2617473" y="3265170"/>
                </a:cubicBezTo>
                <a:lnTo>
                  <a:pt x="114297" y="3265170"/>
                </a:lnTo>
                <a:cubicBezTo>
                  <a:pt x="51173" y="3265170"/>
                  <a:pt x="0" y="3213997"/>
                  <a:pt x="0" y="315087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65920" y="19888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399270" y="21221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9265920" y="2560323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65920" y="2903223"/>
            <a:ext cx="241935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 patterns, distributions, correlations, and anomalies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265920" y="4526282"/>
            <a:ext cx="2343150" cy="342900"/>
          </a:xfrm>
          <a:custGeom>
            <a:avLst/>
            <a:gdLst/>
            <a:ahLst/>
            <a:cxnLst/>
            <a:rect l="l" t="t" r="r" b="b"/>
            <a:pathLst>
              <a:path w="2343150" h="342900">
                <a:moveTo>
                  <a:pt x="76199" y="0"/>
                </a:moveTo>
                <a:lnTo>
                  <a:pt x="2266951" y="0"/>
                </a:lnTo>
                <a:cubicBezTo>
                  <a:pt x="2309034" y="0"/>
                  <a:pt x="2343150" y="34116"/>
                  <a:pt x="2343150" y="76199"/>
                </a:cubicBezTo>
                <a:lnTo>
                  <a:pt x="2343150" y="266701"/>
                </a:lnTo>
                <a:cubicBezTo>
                  <a:pt x="2343150" y="308784"/>
                  <a:pt x="2309034" y="342900"/>
                  <a:pt x="22669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369504" y="462534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7" name="Text 35"/>
          <p:cNvSpPr/>
          <p:nvPr/>
        </p:nvSpPr>
        <p:spPr>
          <a:xfrm>
            <a:off x="9542145" y="4602482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discovery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00050" y="5257800"/>
            <a:ext cx="11410950" cy="1219200"/>
          </a:xfrm>
          <a:custGeom>
            <a:avLst/>
            <a:gdLst/>
            <a:ahLst/>
            <a:cxnLst/>
            <a:rect l="l" t="t" r="r" b="b"/>
            <a:pathLst>
              <a:path w="11410950" h="1219200">
                <a:moveTo>
                  <a:pt x="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1104900"/>
                </a:lnTo>
                <a:cubicBezTo>
                  <a:pt x="11410950" y="1167984"/>
                  <a:pt x="11359734" y="1219200"/>
                  <a:pt x="112966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9" name="Shape 37"/>
          <p:cNvSpPr/>
          <p:nvPr/>
        </p:nvSpPr>
        <p:spPr>
          <a:xfrm>
            <a:off x="400050" y="5257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Shape 38"/>
          <p:cNvSpPr/>
          <p:nvPr/>
        </p:nvSpPr>
        <p:spPr>
          <a:xfrm>
            <a:off x="609600" y="544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1" name="Shape 39"/>
          <p:cNvSpPr/>
          <p:nvPr/>
        </p:nvSpPr>
        <p:spPr>
          <a:xfrm>
            <a:off x="742950" y="5581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2" name="Text 40"/>
          <p:cNvSpPr/>
          <p:nvPr/>
        </p:nvSpPr>
        <p:spPr>
          <a:xfrm>
            <a:off x="1219200" y="5448300"/>
            <a:ext cx="10487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Foundation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19200" y="5791200"/>
            <a:ext cx="10477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 preprocessing ensures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mining results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Without clean, integrated data, association rules and segments may be misleading. This phase transforms raw data into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analysis-ready datasets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Methodology — Phase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Products Go Together?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 Mining for cross-selling insights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794510"/>
            <a:ext cx="6713220" cy="1874520"/>
          </a:xfrm>
          <a:custGeom>
            <a:avLst/>
            <a:gdLst/>
            <a:ahLst/>
            <a:cxnLst/>
            <a:rect l="l" t="t" r="r" b="b"/>
            <a:pathLst>
              <a:path w="6713220" h="1874520">
                <a:moveTo>
                  <a:pt x="114308" y="0"/>
                </a:moveTo>
                <a:lnTo>
                  <a:pt x="6598912" y="0"/>
                </a:lnTo>
                <a:cubicBezTo>
                  <a:pt x="6662042" y="0"/>
                  <a:pt x="6713220" y="51178"/>
                  <a:pt x="6713220" y="114308"/>
                </a:cubicBezTo>
                <a:lnTo>
                  <a:pt x="6713220" y="1760212"/>
                </a:lnTo>
                <a:cubicBezTo>
                  <a:pt x="6713220" y="1823342"/>
                  <a:pt x="6662042" y="1874520"/>
                  <a:pt x="6598912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20574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912495" y="2026923"/>
            <a:ext cx="604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273" y="24460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13723" y="26174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83" y="17859"/>
                </a:moveTo>
                <a:cubicBezTo>
                  <a:pt x="9934" y="17859"/>
                  <a:pt x="5953" y="21841"/>
                  <a:pt x="5953" y="26789"/>
                </a:cubicBezTo>
                <a:lnTo>
                  <a:pt x="5953" y="44648"/>
                </a:lnTo>
                <a:cubicBezTo>
                  <a:pt x="5953" y="49597"/>
                  <a:pt x="9934" y="53578"/>
                  <a:pt x="14883" y="53578"/>
                </a:cubicBezTo>
                <a:lnTo>
                  <a:pt x="32742" y="53578"/>
                </a:lnTo>
                <a:cubicBezTo>
                  <a:pt x="37691" y="53578"/>
                  <a:pt x="41672" y="49597"/>
                  <a:pt x="41672" y="44648"/>
                </a:cubicBezTo>
                <a:lnTo>
                  <a:pt x="41672" y="26789"/>
                </a:lnTo>
                <a:cubicBezTo>
                  <a:pt x="41672" y="21841"/>
                  <a:pt x="37691" y="17859"/>
                  <a:pt x="32742" y="17859"/>
                </a:cubicBezTo>
                <a:lnTo>
                  <a:pt x="14883" y="17859"/>
                </a:ln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5953" y="86320"/>
                </a:moveTo>
                <a:lnTo>
                  <a:pt x="5953" y="104180"/>
                </a:lnTo>
                <a:cubicBezTo>
                  <a:pt x="5953" y="109128"/>
                  <a:pt x="9934" y="113109"/>
                  <a:pt x="14883" y="113109"/>
                </a:cubicBezTo>
                <a:lnTo>
                  <a:pt x="32742" y="113109"/>
                </a:lnTo>
                <a:cubicBezTo>
                  <a:pt x="37691" y="113109"/>
                  <a:pt x="41672" y="109128"/>
                  <a:pt x="41672" y="104180"/>
                </a:cubicBezTo>
                <a:lnTo>
                  <a:pt x="41672" y="86320"/>
                </a:lnTo>
                <a:cubicBezTo>
                  <a:pt x="41672" y="81372"/>
                  <a:pt x="37691" y="77391"/>
                  <a:pt x="32742" y="77391"/>
                </a:cubicBezTo>
                <a:lnTo>
                  <a:pt x="14883" y="77391"/>
                </a:lnTo>
                <a:cubicBezTo>
                  <a:pt x="9934" y="77391"/>
                  <a:pt x="5953" y="81372"/>
                  <a:pt x="5953" y="86320"/>
                </a:cubicBezTo>
                <a:close/>
                <a:moveTo>
                  <a:pt x="14883" y="136922"/>
                </a:moveTo>
                <a:cubicBezTo>
                  <a:pt x="9934" y="136922"/>
                  <a:pt x="5953" y="140903"/>
                  <a:pt x="5953" y="145852"/>
                </a:cubicBezTo>
                <a:lnTo>
                  <a:pt x="5953" y="163711"/>
                </a:lnTo>
                <a:cubicBezTo>
                  <a:pt x="5953" y="168659"/>
                  <a:pt x="9934" y="172641"/>
                  <a:pt x="14883" y="172641"/>
                </a:cubicBezTo>
                <a:lnTo>
                  <a:pt x="32742" y="172641"/>
                </a:lnTo>
                <a:cubicBezTo>
                  <a:pt x="37691" y="172641"/>
                  <a:pt x="41672" y="168659"/>
                  <a:pt x="41672" y="163711"/>
                </a:cubicBezTo>
                <a:lnTo>
                  <a:pt x="41672" y="145852"/>
                </a:lnTo>
                <a:cubicBezTo>
                  <a:pt x="41672" y="140903"/>
                  <a:pt x="37691" y="136922"/>
                  <a:pt x="32742" y="136922"/>
                </a:cubicBezTo>
                <a:lnTo>
                  <a:pt x="14883" y="13692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583883" y="3055623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8645" y="3284223"/>
            <a:ext cx="143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orders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24539" y="28459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Shape 12"/>
          <p:cNvSpPr/>
          <p:nvPr/>
        </p:nvSpPr>
        <p:spPr>
          <a:xfrm>
            <a:off x="2663905" y="24460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847261" y="26174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35719"/>
                </a:moveTo>
                <a:lnTo>
                  <a:pt x="142875" y="59531"/>
                </a:lnTo>
                <a:lnTo>
                  <a:pt x="119063" y="59531"/>
                </a:lnTo>
                <a:lnTo>
                  <a:pt x="119063" y="35719"/>
                </a:lnTo>
                <a:lnTo>
                  <a:pt x="142875" y="35719"/>
                </a:lnTo>
                <a:close/>
                <a:moveTo>
                  <a:pt x="142875" y="83344"/>
                </a:moveTo>
                <a:lnTo>
                  <a:pt x="142875" y="107156"/>
                </a:lnTo>
                <a:lnTo>
                  <a:pt x="119063" y="107156"/>
                </a:lnTo>
                <a:lnTo>
                  <a:pt x="119063" y="83344"/>
                </a:lnTo>
                <a:lnTo>
                  <a:pt x="142875" y="83344"/>
                </a:lnTo>
                <a:close/>
                <a:moveTo>
                  <a:pt x="142875" y="130969"/>
                </a:moveTo>
                <a:lnTo>
                  <a:pt x="142875" y="154781"/>
                </a:lnTo>
                <a:lnTo>
                  <a:pt x="119063" y="154781"/>
                </a:lnTo>
                <a:lnTo>
                  <a:pt x="119063" y="130969"/>
                </a:lnTo>
                <a:lnTo>
                  <a:pt x="142875" y="130969"/>
                </a:lnTo>
                <a:close/>
                <a:moveTo>
                  <a:pt x="95250" y="107156"/>
                </a:moveTo>
                <a:lnTo>
                  <a:pt x="71438" y="107156"/>
                </a:lnTo>
                <a:lnTo>
                  <a:pt x="71438" y="83344"/>
                </a:lnTo>
                <a:lnTo>
                  <a:pt x="95250" y="83344"/>
                </a:lnTo>
                <a:lnTo>
                  <a:pt x="95250" y="107156"/>
                </a:lnTo>
                <a:close/>
                <a:moveTo>
                  <a:pt x="71438" y="130969"/>
                </a:moveTo>
                <a:lnTo>
                  <a:pt x="95250" y="130969"/>
                </a:lnTo>
                <a:lnTo>
                  <a:pt x="95250" y="154781"/>
                </a:lnTo>
                <a:lnTo>
                  <a:pt x="71438" y="154781"/>
                </a:lnTo>
                <a:lnTo>
                  <a:pt x="71438" y="130969"/>
                </a:lnTo>
                <a:close/>
                <a:moveTo>
                  <a:pt x="47625" y="107156"/>
                </a:moveTo>
                <a:lnTo>
                  <a:pt x="23812" y="107156"/>
                </a:lnTo>
                <a:lnTo>
                  <a:pt x="23812" y="83344"/>
                </a:lnTo>
                <a:lnTo>
                  <a:pt x="47625" y="83344"/>
                </a:lnTo>
                <a:lnTo>
                  <a:pt x="47625" y="107156"/>
                </a:lnTo>
                <a:close/>
                <a:moveTo>
                  <a:pt x="23812" y="130969"/>
                </a:moveTo>
                <a:lnTo>
                  <a:pt x="47625" y="130969"/>
                </a:lnTo>
                <a:lnTo>
                  <a:pt x="47625" y="154781"/>
                </a:lnTo>
                <a:lnTo>
                  <a:pt x="23812" y="154781"/>
                </a:lnTo>
                <a:lnTo>
                  <a:pt x="23812" y="130969"/>
                </a:lnTo>
                <a:close/>
                <a:moveTo>
                  <a:pt x="23812" y="59531"/>
                </a:moveTo>
                <a:lnTo>
                  <a:pt x="23812" y="35719"/>
                </a:lnTo>
                <a:lnTo>
                  <a:pt x="47625" y="35719"/>
                </a:lnTo>
                <a:lnTo>
                  <a:pt x="47625" y="59531"/>
                </a:lnTo>
                <a:lnTo>
                  <a:pt x="23812" y="59531"/>
                </a:lnTo>
                <a:close/>
                <a:moveTo>
                  <a:pt x="71438" y="59531"/>
                </a:moveTo>
                <a:lnTo>
                  <a:pt x="71438" y="35719"/>
                </a:lnTo>
                <a:lnTo>
                  <a:pt x="95250" y="35719"/>
                </a:lnTo>
                <a:lnTo>
                  <a:pt x="95250" y="59531"/>
                </a:lnTo>
                <a:lnTo>
                  <a:pt x="71438" y="59531"/>
                </a:lnTo>
                <a:close/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2205514" y="3055623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Item-Set Format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10276" y="3284223"/>
            <a:ext cx="143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46170" y="28459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Shape 17"/>
          <p:cNvSpPr/>
          <p:nvPr/>
        </p:nvSpPr>
        <p:spPr>
          <a:xfrm>
            <a:off x="4285536" y="24460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456986" y="26174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3827145" y="3055623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Algorithms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31908" y="3284223"/>
            <a:ext cx="143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Mine patterns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67801" y="28459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Shape 22"/>
          <p:cNvSpPr/>
          <p:nvPr/>
        </p:nvSpPr>
        <p:spPr>
          <a:xfrm>
            <a:off x="5907167" y="24460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Shape 23"/>
          <p:cNvSpPr/>
          <p:nvPr/>
        </p:nvSpPr>
        <p:spPr>
          <a:xfrm>
            <a:off x="6102429" y="261747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6" name="Text 24"/>
          <p:cNvSpPr/>
          <p:nvPr/>
        </p:nvSpPr>
        <p:spPr>
          <a:xfrm>
            <a:off x="5448776" y="3055623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53539" y="3284223"/>
            <a:ext cx="143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insights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4810" y="3867030"/>
            <a:ext cx="3255645" cy="2607945"/>
          </a:xfrm>
          <a:custGeom>
            <a:avLst/>
            <a:gdLst/>
            <a:ahLst/>
            <a:cxnLst/>
            <a:rect l="l" t="t" r="r" b="b"/>
            <a:pathLst>
              <a:path w="3255645" h="2607945">
                <a:moveTo>
                  <a:pt x="114306" y="0"/>
                </a:moveTo>
                <a:lnTo>
                  <a:pt x="3141339" y="0"/>
                </a:lnTo>
                <a:cubicBezTo>
                  <a:pt x="3204468" y="0"/>
                  <a:pt x="3255645" y="51177"/>
                  <a:pt x="3255645" y="114306"/>
                </a:cubicBezTo>
                <a:lnTo>
                  <a:pt x="3255645" y="2493639"/>
                </a:lnTo>
                <a:cubicBezTo>
                  <a:pt x="3255645" y="2556768"/>
                  <a:pt x="3204468" y="2607945"/>
                  <a:pt x="3141339" y="2607945"/>
                </a:cubicBezTo>
                <a:lnTo>
                  <a:pt x="114306" y="2607945"/>
                </a:lnTo>
                <a:cubicBezTo>
                  <a:pt x="51177" y="2607945"/>
                  <a:pt x="0" y="2556768"/>
                  <a:pt x="0" y="2493639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2217" y="4107061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855345" y="4061343"/>
            <a:ext cx="267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9120" y="4442343"/>
            <a:ext cx="2867025" cy="647700"/>
          </a:xfrm>
          <a:custGeom>
            <a:avLst/>
            <a:gdLst/>
            <a:ahLst/>
            <a:cxnLst/>
            <a:rect l="l" t="t" r="r" b="b"/>
            <a:pathLst>
              <a:path w="2867025" h="647700">
                <a:moveTo>
                  <a:pt x="76202" y="0"/>
                </a:moveTo>
                <a:lnTo>
                  <a:pt x="2790823" y="0"/>
                </a:lnTo>
                <a:cubicBezTo>
                  <a:pt x="2832908" y="0"/>
                  <a:pt x="2867025" y="34117"/>
                  <a:pt x="2867025" y="76202"/>
                </a:cubicBezTo>
                <a:lnTo>
                  <a:pt x="2867025" y="571498"/>
                </a:lnTo>
                <a:cubicBezTo>
                  <a:pt x="2867025" y="613583"/>
                  <a:pt x="2832908" y="647700"/>
                  <a:pt x="27908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93420" y="4556643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Apriori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420" y="4785243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 frequent itemset mining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9120" y="5204343"/>
            <a:ext cx="2867025" cy="647700"/>
          </a:xfrm>
          <a:custGeom>
            <a:avLst/>
            <a:gdLst/>
            <a:ahLst/>
            <a:cxnLst/>
            <a:rect l="l" t="t" r="r" b="b"/>
            <a:pathLst>
              <a:path w="2867025" h="647700">
                <a:moveTo>
                  <a:pt x="76202" y="0"/>
                </a:moveTo>
                <a:lnTo>
                  <a:pt x="2790823" y="0"/>
                </a:lnTo>
                <a:cubicBezTo>
                  <a:pt x="2832908" y="0"/>
                  <a:pt x="2867025" y="34117"/>
                  <a:pt x="2867025" y="76202"/>
                </a:cubicBezTo>
                <a:lnTo>
                  <a:pt x="2867025" y="571498"/>
                </a:lnTo>
                <a:cubicBezTo>
                  <a:pt x="2867025" y="613583"/>
                  <a:pt x="2832908" y="647700"/>
                  <a:pt x="27908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93420" y="5318643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420" y="5547243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pattern growth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0480" y="3867030"/>
            <a:ext cx="3255645" cy="2607945"/>
          </a:xfrm>
          <a:custGeom>
            <a:avLst/>
            <a:gdLst/>
            <a:ahLst/>
            <a:cxnLst/>
            <a:rect l="l" t="t" r="r" b="b"/>
            <a:pathLst>
              <a:path w="3255645" h="2607945">
                <a:moveTo>
                  <a:pt x="114306" y="0"/>
                </a:moveTo>
                <a:lnTo>
                  <a:pt x="3141339" y="0"/>
                </a:lnTo>
                <a:cubicBezTo>
                  <a:pt x="3204468" y="0"/>
                  <a:pt x="3255645" y="51177"/>
                  <a:pt x="3255645" y="114306"/>
                </a:cubicBezTo>
                <a:lnTo>
                  <a:pt x="3255645" y="2493639"/>
                </a:lnTo>
                <a:cubicBezTo>
                  <a:pt x="3255645" y="2556768"/>
                  <a:pt x="3204468" y="2607945"/>
                  <a:pt x="3141339" y="2607945"/>
                </a:cubicBezTo>
                <a:lnTo>
                  <a:pt x="114306" y="2607945"/>
                </a:lnTo>
                <a:cubicBezTo>
                  <a:pt x="51177" y="2607945"/>
                  <a:pt x="0" y="2556768"/>
                  <a:pt x="0" y="2493639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58603" y="410706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4311015" y="4061343"/>
            <a:ext cx="267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34790" y="4442343"/>
            <a:ext cx="2867025" cy="342900"/>
          </a:xfrm>
          <a:custGeom>
            <a:avLst/>
            <a:gdLst/>
            <a:ahLst/>
            <a:cxnLst/>
            <a:rect l="l" t="t" r="r" b="b"/>
            <a:pathLst>
              <a:path w="2867025" h="342900">
                <a:moveTo>
                  <a:pt x="76199" y="0"/>
                </a:moveTo>
                <a:lnTo>
                  <a:pt x="2790826" y="0"/>
                </a:lnTo>
                <a:cubicBezTo>
                  <a:pt x="2832909" y="0"/>
                  <a:pt x="2867025" y="34116"/>
                  <a:pt x="2867025" y="76199"/>
                </a:cubicBezTo>
                <a:lnTo>
                  <a:pt x="2867025" y="266701"/>
                </a:lnTo>
                <a:cubicBezTo>
                  <a:pt x="2867025" y="308784"/>
                  <a:pt x="2832909" y="342900"/>
                  <a:pt x="27908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110990" y="4518543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06979" y="4537593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034790" y="4861443"/>
            <a:ext cx="2867025" cy="342900"/>
          </a:xfrm>
          <a:custGeom>
            <a:avLst/>
            <a:gdLst/>
            <a:ahLst/>
            <a:cxnLst/>
            <a:rect l="l" t="t" r="r" b="b"/>
            <a:pathLst>
              <a:path w="2867025" h="342900">
                <a:moveTo>
                  <a:pt x="76199" y="0"/>
                </a:moveTo>
                <a:lnTo>
                  <a:pt x="2790826" y="0"/>
                </a:lnTo>
                <a:cubicBezTo>
                  <a:pt x="2832909" y="0"/>
                  <a:pt x="2867025" y="34116"/>
                  <a:pt x="2867025" y="76199"/>
                </a:cubicBezTo>
                <a:lnTo>
                  <a:pt x="2867025" y="266701"/>
                </a:lnTo>
                <a:cubicBezTo>
                  <a:pt x="2867025" y="308784"/>
                  <a:pt x="2832909" y="342900"/>
                  <a:pt x="27908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110990" y="4937643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0675" y="4956693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34790" y="5280543"/>
            <a:ext cx="2867025" cy="342900"/>
          </a:xfrm>
          <a:custGeom>
            <a:avLst/>
            <a:gdLst/>
            <a:ahLst/>
            <a:cxnLst/>
            <a:rect l="l" t="t" r="r" b="b"/>
            <a:pathLst>
              <a:path w="2867025" h="342900">
                <a:moveTo>
                  <a:pt x="76199" y="0"/>
                </a:moveTo>
                <a:lnTo>
                  <a:pt x="2790826" y="0"/>
                </a:lnTo>
                <a:cubicBezTo>
                  <a:pt x="2832909" y="0"/>
                  <a:pt x="2867025" y="34116"/>
                  <a:pt x="2867025" y="76199"/>
                </a:cubicBezTo>
                <a:lnTo>
                  <a:pt x="2867025" y="266701"/>
                </a:lnTo>
                <a:cubicBezTo>
                  <a:pt x="2867025" y="308784"/>
                  <a:pt x="2832909" y="342900"/>
                  <a:pt x="27908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110990" y="5356743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10325" y="5375793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38060" y="1798320"/>
            <a:ext cx="4463415" cy="3129915"/>
          </a:xfrm>
          <a:custGeom>
            <a:avLst/>
            <a:gdLst/>
            <a:ahLst/>
            <a:cxnLst/>
            <a:rect l="l" t="t" r="r" b="b"/>
            <a:pathLst>
              <a:path w="4463415" h="3129915">
                <a:moveTo>
                  <a:pt x="114304" y="0"/>
                </a:moveTo>
                <a:lnTo>
                  <a:pt x="4349111" y="0"/>
                </a:lnTo>
                <a:cubicBezTo>
                  <a:pt x="4412239" y="0"/>
                  <a:pt x="4463415" y="51176"/>
                  <a:pt x="4463415" y="114304"/>
                </a:cubicBezTo>
                <a:lnTo>
                  <a:pt x="4463415" y="3015611"/>
                </a:lnTo>
                <a:cubicBezTo>
                  <a:pt x="4463415" y="3078739"/>
                  <a:pt x="4412239" y="3129915"/>
                  <a:pt x="4349111" y="3129915"/>
                </a:cubicBezTo>
                <a:lnTo>
                  <a:pt x="114304" y="3129915"/>
                </a:lnTo>
                <a:cubicBezTo>
                  <a:pt x="51176" y="3129915"/>
                  <a:pt x="0" y="3078739"/>
                  <a:pt x="0" y="301561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3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0320">
            <a:solidFill>
              <a:srgbClr val="4ECD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98093" y="20650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Text 49"/>
          <p:cNvSpPr/>
          <p:nvPr/>
        </p:nvSpPr>
        <p:spPr>
          <a:xfrm>
            <a:off x="7869555" y="2034541"/>
            <a:ext cx="3790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Applications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74280" y="24536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54052" y="253936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0035" y="22190"/>
                </a:moveTo>
                <a:lnTo>
                  <a:pt x="39666" y="55944"/>
                </a:lnTo>
                <a:cubicBezTo>
                  <a:pt x="38468" y="57273"/>
                  <a:pt x="38520" y="59330"/>
                  <a:pt x="39797" y="60607"/>
                </a:cubicBezTo>
                <a:cubicBezTo>
                  <a:pt x="47740" y="68550"/>
                  <a:pt x="60633" y="68550"/>
                  <a:pt x="68576" y="60607"/>
                </a:cubicBezTo>
                <a:lnTo>
                  <a:pt x="76859" y="52324"/>
                </a:lnTo>
                <a:cubicBezTo>
                  <a:pt x="77952" y="51230"/>
                  <a:pt x="79333" y="50631"/>
                  <a:pt x="80739" y="50527"/>
                </a:cubicBezTo>
                <a:cubicBezTo>
                  <a:pt x="82510" y="50371"/>
                  <a:pt x="84333" y="50970"/>
                  <a:pt x="85688" y="52324"/>
                </a:cubicBezTo>
                <a:lnTo>
                  <a:pt x="131683" y="97929"/>
                </a:lnTo>
                <a:lnTo>
                  <a:pt x="150019" y="83344"/>
                </a:lnTo>
                <a:lnTo>
                  <a:pt x="150019" y="8334"/>
                </a:lnTo>
                <a:lnTo>
                  <a:pt x="120848" y="25003"/>
                </a:lnTo>
                <a:lnTo>
                  <a:pt x="114650" y="20862"/>
                </a:lnTo>
                <a:cubicBezTo>
                  <a:pt x="110535" y="18127"/>
                  <a:pt x="105716" y="16669"/>
                  <a:pt x="100768" y="16669"/>
                </a:cubicBezTo>
                <a:lnTo>
                  <a:pt x="82432" y="16669"/>
                </a:lnTo>
                <a:cubicBezTo>
                  <a:pt x="82146" y="16669"/>
                  <a:pt x="81833" y="16669"/>
                  <a:pt x="81547" y="16695"/>
                </a:cubicBezTo>
                <a:cubicBezTo>
                  <a:pt x="77145" y="16929"/>
                  <a:pt x="73004" y="18909"/>
                  <a:pt x="70035" y="22190"/>
                </a:cubicBezTo>
                <a:close/>
                <a:moveTo>
                  <a:pt x="30368" y="47584"/>
                </a:moveTo>
                <a:lnTo>
                  <a:pt x="58184" y="16669"/>
                </a:lnTo>
                <a:lnTo>
                  <a:pt x="47871" y="16669"/>
                </a:lnTo>
                <a:cubicBezTo>
                  <a:pt x="41229" y="16669"/>
                  <a:pt x="34874" y="19299"/>
                  <a:pt x="30186" y="23987"/>
                </a:cubicBezTo>
                <a:lnTo>
                  <a:pt x="29170" y="25003"/>
                </a:lnTo>
                <a:lnTo>
                  <a:pt x="0" y="8334"/>
                </a:lnTo>
                <a:lnTo>
                  <a:pt x="0" y="83344"/>
                </a:lnTo>
                <a:lnTo>
                  <a:pt x="40734" y="117280"/>
                </a:lnTo>
                <a:cubicBezTo>
                  <a:pt x="46725" y="122281"/>
                  <a:pt x="54278" y="125016"/>
                  <a:pt x="62065" y="125016"/>
                </a:cubicBezTo>
                <a:lnTo>
                  <a:pt x="66154" y="125016"/>
                </a:lnTo>
                <a:lnTo>
                  <a:pt x="64331" y="123192"/>
                </a:lnTo>
                <a:cubicBezTo>
                  <a:pt x="61883" y="120744"/>
                  <a:pt x="61883" y="116785"/>
                  <a:pt x="64331" y="114363"/>
                </a:cubicBezTo>
                <a:cubicBezTo>
                  <a:pt x="66779" y="111941"/>
                  <a:pt x="70738" y="111915"/>
                  <a:pt x="73160" y="114363"/>
                </a:cubicBezTo>
                <a:lnTo>
                  <a:pt x="83839" y="125042"/>
                </a:lnTo>
                <a:lnTo>
                  <a:pt x="86183" y="125042"/>
                </a:lnTo>
                <a:cubicBezTo>
                  <a:pt x="91157" y="125042"/>
                  <a:pt x="96028" y="123922"/>
                  <a:pt x="100455" y="121838"/>
                </a:cubicBezTo>
                <a:lnTo>
                  <a:pt x="93501" y="114858"/>
                </a:lnTo>
                <a:cubicBezTo>
                  <a:pt x="91053" y="112410"/>
                  <a:pt x="91053" y="108451"/>
                  <a:pt x="93501" y="106029"/>
                </a:cubicBezTo>
                <a:cubicBezTo>
                  <a:pt x="95949" y="103607"/>
                  <a:pt x="99908" y="103581"/>
                  <a:pt x="102330" y="106029"/>
                </a:cubicBezTo>
                <a:lnTo>
                  <a:pt x="110665" y="114363"/>
                </a:lnTo>
                <a:lnTo>
                  <a:pt x="115223" y="109805"/>
                </a:lnTo>
                <a:cubicBezTo>
                  <a:pt x="117541" y="107487"/>
                  <a:pt x="118218" y="104128"/>
                  <a:pt x="117202" y="101185"/>
                </a:cubicBezTo>
                <a:lnTo>
                  <a:pt x="81286" y="65555"/>
                </a:lnTo>
                <a:lnTo>
                  <a:pt x="77406" y="69436"/>
                </a:lnTo>
                <a:cubicBezTo>
                  <a:pt x="64565" y="82276"/>
                  <a:pt x="43782" y="82276"/>
                  <a:pt x="30941" y="69436"/>
                </a:cubicBezTo>
                <a:cubicBezTo>
                  <a:pt x="24951" y="63445"/>
                  <a:pt x="24717" y="53835"/>
                  <a:pt x="30368" y="4755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Text 52"/>
          <p:cNvSpPr/>
          <p:nvPr/>
        </p:nvSpPr>
        <p:spPr>
          <a:xfrm>
            <a:off x="7993380" y="2453641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Cross-Selling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993380" y="2682241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 complementary products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74280" y="30251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45718" y="3110866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45930" y="61779"/>
                </a:moveTo>
                <a:cubicBezTo>
                  <a:pt x="148638" y="64852"/>
                  <a:pt x="153300" y="65529"/>
                  <a:pt x="156816" y="63211"/>
                </a:cubicBezTo>
                <a:cubicBezTo>
                  <a:pt x="160645" y="60659"/>
                  <a:pt x="161687" y="55476"/>
                  <a:pt x="159134" y="51647"/>
                </a:cubicBezTo>
                <a:lnTo>
                  <a:pt x="146633" y="32895"/>
                </a:lnTo>
                <a:cubicBezTo>
                  <a:pt x="145904" y="31801"/>
                  <a:pt x="144914" y="30889"/>
                  <a:pt x="143742" y="30238"/>
                </a:cubicBezTo>
                <a:lnTo>
                  <a:pt x="91522" y="1224"/>
                </a:lnTo>
                <a:cubicBezTo>
                  <a:pt x="86495" y="-1563"/>
                  <a:pt x="80375" y="-1563"/>
                  <a:pt x="75322" y="1224"/>
                </a:cubicBezTo>
                <a:lnTo>
                  <a:pt x="23128" y="30212"/>
                </a:lnTo>
                <a:cubicBezTo>
                  <a:pt x="21721" y="30993"/>
                  <a:pt x="20602" y="32139"/>
                  <a:pt x="19846" y="33546"/>
                </a:cubicBezTo>
                <a:lnTo>
                  <a:pt x="7214" y="56960"/>
                </a:lnTo>
                <a:cubicBezTo>
                  <a:pt x="3933" y="63055"/>
                  <a:pt x="6225" y="70634"/>
                  <a:pt x="12319" y="73915"/>
                </a:cubicBezTo>
                <a:lnTo>
                  <a:pt x="20914" y="78525"/>
                </a:lnTo>
                <a:lnTo>
                  <a:pt x="20914" y="92407"/>
                </a:lnTo>
                <a:cubicBezTo>
                  <a:pt x="20914" y="98398"/>
                  <a:pt x="24144" y="103945"/>
                  <a:pt x="29353" y="106914"/>
                </a:cubicBezTo>
                <a:lnTo>
                  <a:pt x="75192" y="132881"/>
                </a:lnTo>
                <a:cubicBezTo>
                  <a:pt x="80296" y="135772"/>
                  <a:pt x="86521" y="135772"/>
                  <a:pt x="91626" y="132881"/>
                </a:cubicBezTo>
                <a:lnTo>
                  <a:pt x="137465" y="106914"/>
                </a:lnTo>
                <a:cubicBezTo>
                  <a:pt x="142700" y="103945"/>
                  <a:pt x="145904" y="98424"/>
                  <a:pt x="145904" y="92407"/>
                </a:cubicBezTo>
                <a:lnTo>
                  <a:pt x="145904" y="61805"/>
                </a:lnTo>
                <a:close/>
                <a:moveTo>
                  <a:pt x="83422" y="59226"/>
                </a:moveTo>
                <a:lnTo>
                  <a:pt x="44328" y="37505"/>
                </a:lnTo>
                <a:lnTo>
                  <a:pt x="83422" y="15783"/>
                </a:lnTo>
                <a:lnTo>
                  <a:pt x="122515" y="37505"/>
                </a:lnTo>
                <a:lnTo>
                  <a:pt x="83422" y="59226"/>
                </a:lnTo>
                <a:close/>
                <a:moveTo>
                  <a:pt x="72613" y="72301"/>
                </a:moveTo>
                <a:lnTo>
                  <a:pt x="67066" y="84333"/>
                </a:lnTo>
                <a:lnTo>
                  <a:pt x="23883" y="61206"/>
                </a:lnTo>
                <a:lnTo>
                  <a:pt x="30499" y="48912"/>
                </a:lnTo>
                <a:lnTo>
                  <a:pt x="72613" y="7230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8" name="Text 56"/>
          <p:cNvSpPr/>
          <p:nvPr/>
        </p:nvSpPr>
        <p:spPr>
          <a:xfrm>
            <a:off x="7993380" y="3025141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Bundling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993380" y="3253741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attractive product packages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74280" y="35966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62386" y="368236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996" y="18830"/>
                </a:moveTo>
                <a:cubicBezTo>
                  <a:pt x="9793" y="12606"/>
                  <a:pt x="15497" y="8334"/>
                  <a:pt x="21982" y="8334"/>
                </a:cubicBezTo>
                <a:lnTo>
                  <a:pt x="111576" y="8334"/>
                </a:lnTo>
                <a:cubicBezTo>
                  <a:pt x="118062" y="8334"/>
                  <a:pt x="123765" y="12606"/>
                  <a:pt x="125589" y="18830"/>
                </a:cubicBezTo>
                <a:lnTo>
                  <a:pt x="131683" y="39719"/>
                </a:lnTo>
                <a:cubicBezTo>
                  <a:pt x="135017" y="51100"/>
                  <a:pt x="126448" y="62508"/>
                  <a:pt x="114598" y="62508"/>
                </a:cubicBezTo>
                <a:cubicBezTo>
                  <a:pt x="107748" y="62508"/>
                  <a:pt x="101731" y="58627"/>
                  <a:pt x="98762" y="52845"/>
                </a:cubicBezTo>
                <a:cubicBezTo>
                  <a:pt x="95741" y="58549"/>
                  <a:pt x="89751" y="62508"/>
                  <a:pt x="82771" y="62508"/>
                </a:cubicBezTo>
                <a:cubicBezTo>
                  <a:pt x="75843" y="62508"/>
                  <a:pt x="69826" y="58601"/>
                  <a:pt x="66805" y="52871"/>
                </a:cubicBezTo>
                <a:cubicBezTo>
                  <a:pt x="63784" y="58601"/>
                  <a:pt x="57768" y="62508"/>
                  <a:pt x="50840" y="62508"/>
                </a:cubicBezTo>
                <a:cubicBezTo>
                  <a:pt x="43860" y="62508"/>
                  <a:pt x="37869" y="58575"/>
                  <a:pt x="34848" y="52845"/>
                </a:cubicBezTo>
                <a:cubicBezTo>
                  <a:pt x="31879" y="58601"/>
                  <a:pt x="25863" y="62508"/>
                  <a:pt x="19013" y="62508"/>
                </a:cubicBezTo>
                <a:cubicBezTo>
                  <a:pt x="7136" y="62508"/>
                  <a:pt x="-1406" y="51126"/>
                  <a:pt x="1927" y="39719"/>
                </a:cubicBezTo>
                <a:lnTo>
                  <a:pt x="7996" y="18830"/>
                </a:lnTo>
                <a:close/>
                <a:moveTo>
                  <a:pt x="25107" y="91678"/>
                </a:moveTo>
                <a:lnTo>
                  <a:pt x="108451" y="91678"/>
                </a:lnTo>
                <a:lnTo>
                  <a:pt x="108451" y="74384"/>
                </a:lnTo>
                <a:cubicBezTo>
                  <a:pt x="110430" y="74801"/>
                  <a:pt x="112488" y="75009"/>
                  <a:pt x="114572" y="75009"/>
                </a:cubicBezTo>
                <a:cubicBezTo>
                  <a:pt x="118296" y="75009"/>
                  <a:pt x="121864" y="74332"/>
                  <a:pt x="125120" y="73134"/>
                </a:cubicBezTo>
                <a:lnTo>
                  <a:pt x="125120" y="112514"/>
                </a:lnTo>
                <a:cubicBezTo>
                  <a:pt x="125120" y="119416"/>
                  <a:pt x="119520" y="125016"/>
                  <a:pt x="112618" y="125016"/>
                </a:cubicBezTo>
                <a:lnTo>
                  <a:pt x="20940" y="125016"/>
                </a:lnTo>
                <a:cubicBezTo>
                  <a:pt x="14038" y="125016"/>
                  <a:pt x="8439" y="119416"/>
                  <a:pt x="8439" y="112514"/>
                </a:cubicBezTo>
                <a:lnTo>
                  <a:pt x="8439" y="73134"/>
                </a:lnTo>
                <a:cubicBezTo>
                  <a:pt x="11694" y="74332"/>
                  <a:pt x="15236" y="75009"/>
                  <a:pt x="18987" y="75009"/>
                </a:cubicBezTo>
                <a:cubicBezTo>
                  <a:pt x="21096" y="75009"/>
                  <a:pt x="23128" y="74801"/>
                  <a:pt x="25107" y="74384"/>
                </a:cubicBezTo>
                <a:lnTo>
                  <a:pt x="25107" y="9167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2" name="Text 60"/>
          <p:cNvSpPr/>
          <p:nvPr/>
        </p:nvSpPr>
        <p:spPr>
          <a:xfrm>
            <a:off x="7993380" y="3596641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Layout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993380" y="3825241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product placement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574280" y="41681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654052" y="425386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4492" y="10184"/>
                </a:moveTo>
                <a:lnTo>
                  <a:pt x="143091" y="49329"/>
                </a:lnTo>
                <a:cubicBezTo>
                  <a:pt x="150305" y="56648"/>
                  <a:pt x="150305" y="68368"/>
                  <a:pt x="143091" y="75687"/>
                </a:cubicBezTo>
                <a:lnTo>
                  <a:pt x="102357" y="116916"/>
                </a:lnTo>
                <a:cubicBezTo>
                  <a:pt x="99934" y="119364"/>
                  <a:pt x="95976" y="119390"/>
                  <a:pt x="93527" y="116968"/>
                </a:cubicBezTo>
                <a:cubicBezTo>
                  <a:pt x="91079" y="114546"/>
                  <a:pt x="91053" y="110587"/>
                  <a:pt x="93475" y="108139"/>
                </a:cubicBezTo>
                <a:lnTo>
                  <a:pt x="134209" y="66883"/>
                </a:lnTo>
                <a:cubicBezTo>
                  <a:pt x="136606" y="64461"/>
                  <a:pt x="136606" y="60528"/>
                  <a:pt x="134209" y="58106"/>
                </a:cubicBezTo>
                <a:lnTo>
                  <a:pt x="95585" y="18987"/>
                </a:lnTo>
                <a:cubicBezTo>
                  <a:pt x="93163" y="16539"/>
                  <a:pt x="93189" y="12580"/>
                  <a:pt x="95637" y="10158"/>
                </a:cubicBezTo>
                <a:cubicBezTo>
                  <a:pt x="98085" y="7735"/>
                  <a:pt x="102044" y="7761"/>
                  <a:pt x="104466" y="10210"/>
                </a:cubicBezTo>
                <a:close/>
                <a:moveTo>
                  <a:pt x="8360" y="59773"/>
                </a:moveTo>
                <a:lnTo>
                  <a:pt x="8360" y="25003"/>
                </a:lnTo>
                <a:cubicBezTo>
                  <a:pt x="8360" y="15809"/>
                  <a:pt x="15835" y="8334"/>
                  <a:pt x="25029" y="8334"/>
                </a:cubicBezTo>
                <a:lnTo>
                  <a:pt x="59799" y="8334"/>
                </a:lnTo>
                <a:cubicBezTo>
                  <a:pt x="64227" y="8334"/>
                  <a:pt x="68472" y="10079"/>
                  <a:pt x="71597" y="13205"/>
                </a:cubicBezTo>
                <a:lnTo>
                  <a:pt x="109102" y="50709"/>
                </a:lnTo>
                <a:cubicBezTo>
                  <a:pt x="115613" y="57221"/>
                  <a:pt x="115613" y="67769"/>
                  <a:pt x="109102" y="74280"/>
                </a:cubicBezTo>
                <a:lnTo>
                  <a:pt x="74332" y="109050"/>
                </a:lnTo>
                <a:cubicBezTo>
                  <a:pt x="67821" y="115561"/>
                  <a:pt x="57273" y="115561"/>
                  <a:pt x="50762" y="109050"/>
                </a:cubicBezTo>
                <a:lnTo>
                  <a:pt x="13257" y="71545"/>
                </a:lnTo>
                <a:cubicBezTo>
                  <a:pt x="10131" y="68420"/>
                  <a:pt x="8386" y="64175"/>
                  <a:pt x="8386" y="59747"/>
                </a:cubicBezTo>
                <a:close/>
                <a:moveTo>
                  <a:pt x="45865" y="37505"/>
                </a:moveTo>
                <a:cubicBezTo>
                  <a:pt x="45865" y="32905"/>
                  <a:pt x="42131" y="29170"/>
                  <a:pt x="37531" y="29170"/>
                </a:cubicBezTo>
                <a:cubicBezTo>
                  <a:pt x="32931" y="29170"/>
                  <a:pt x="29196" y="32905"/>
                  <a:pt x="29196" y="37505"/>
                </a:cubicBezTo>
                <a:cubicBezTo>
                  <a:pt x="29196" y="42105"/>
                  <a:pt x="32931" y="45839"/>
                  <a:pt x="37531" y="45839"/>
                </a:cubicBezTo>
                <a:cubicBezTo>
                  <a:pt x="42131" y="45839"/>
                  <a:pt x="45865" y="42105"/>
                  <a:pt x="45865" y="3750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6" name="Text 64"/>
          <p:cNvSpPr/>
          <p:nvPr/>
        </p:nvSpPr>
        <p:spPr>
          <a:xfrm>
            <a:off x="7993380" y="4168141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Promotions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993380" y="4396741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targeted offers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334250" y="5132190"/>
            <a:ext cx="4474845" cy="1341120"/>
          </a:xfrm>
          <a:custGeom>
            <a:avLst/>
            <a:gdLst/>
            <a:ahLst/>
            <a:cxnLst/>
            <a:rect l="l" t="t" r="r" b="b"/>
            <a:pathLst>
              <a:path w="4474845" h="1341120">
                <a:moveTo>
                  <a:pt x="114304" y="0"/>
                </a:moveTo>
                <a:lnTo>
                  <a:pt x="4360541" y="0"/>
                </a:lnTo>
                <a:cubicBezTo>
                  <a:pt x="4423670" y="0"/>
                  <a:pt x="4474845" y="51175"/>
                  <a:pt x="4474845" y="114304"/>
                </a:cubicBezTo>
                <a:lnTo>
                  <a:pt x="4474845" y="1226816"/>
                </a:lnTo>
                <a:cubicBezTo>
                  <a:pt x="4474845" y="1289945"/>
                  <a:pt x="4423670" y="1341120"/>
                  <a:pt x="4360541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47610" y="53569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0" name="Text 68"/>
          <p:cNvSpPr/>
          <p:nvPr/>
        </p:nvSpPr>
        <p:spPr>
          <a:xfrm>
            <a:off x="7776210" y="5326498"/>
            <a:ext cx="391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Rule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547610" y="5631298"/>
            <a:ext cx="4067175" cy="647700"/>
          </a:xfrm>
          <a:custGeom>
            <a:avLst/>
            <a:gdLst/>
            <a:ahLst/>
            <a:cxnLst/>
            <a:rect l="l" t="t" r="r" b="b"/>
            <a:pathLst>
              <a:path w="4067175" h="647700">
                <a:moveTo>
                  <a:pt x="38100" y="0"/>
                </a:moveTo>
                <a:lnTo>
                  <a:pt x="3990973" y="0"/>
                </a:lnTo>
                <a:cubicBezTo>
                  <a:pt x="4033058" y="0"/>
                  <a:pt x="4067175" y="34117"/>
                  <a:pt x="4067175" y="76202"/>
                </a:cubicBezTo>
                <a:lnTo>
                  <a:pt x="4067175" y="571498"/>
                </a:lnTo>
                <a:cubicBezTo>
                  <a:pt x="4067175" y="613583"/>
                  <a:pt x="4033058" y="647700"/>
                  <a:pt x="3990973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7547610" y="5631298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3" name="Text 71"/>
          <p:cNvSpPr/>
          <p:nvPr/>
        </p:nvSpPr>
        <p:spPr>
          <a:xfrm>
            <a:off x="7680960" y="5745598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{Smartphone} → {Phone Case, Screen Protector}"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680960" y="6012298"/>
            <a:ext cx="3876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Confidence: 75% | Lift: 3.2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116" y="352116"/>
            <a:ext cx="35212" cy="281692"/>
          </a:xfrm>
          <a:custGeom>
            <a:avLst/>
            <a:gdLst/>
            <a:ahLst/>
            <a:cxnLst/>
            <a:rect l="l" t="t" r="r" b="b"/>
            <a:pathLst>
              <a:path w="35212" h="281692">
                <a:moveTo>
                  <a:pt x="0" y="0"/>
                </a:moveTo>
                <a:lnTo>
                  <a:pt x="35212" y="0"/>
                </a:lnTo>
                <a:lnTo>
                  <a:pt x="35212" y="281692"/>
                </a:lnTo>
                <a:lnTo>
                  <a:pt x="0" y="28169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92962" y="404933"/>
            <a:ext cx="2147905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spc="97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Methodology — Phase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2116" y="739443"/>
            <a:ext cx="11699038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7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Are Our Customers?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2116" y="1232404"/>
            <a:ext cx="11575798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 for personalized marketing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5637" y="1658464"/>
            <a:ext cx="4505318" cy="2331005"/>
          </a:xfrm>
          <a:custGeom>
            <a:avLst/>
            <a:gdLst/>
            <a:ahLst/>
            <a:cxnLst/>
            <a:rect l="l" t="t" r="r" b="b"/>
            <a:pathLst>
              <a:path w="4505318" h="2331005">
                <a:moveTo>
                  <a:pt x="105641" y="0"/>
                </a:moveTo>
                <a:lnTo>
                  <a:pt x="4399677" y="0"/>
                </a:lnTo>
                <a:cubicBezTo>
                  <a:pt x="4458021" y="0"/>
                  <a:pt x="4505318" y="47297"/>
                  <a:pt x="4505318" y="105641"/>
                </a:cubicBezTo>
                <a:lnTo>
                  <a:pt x="4505318" y="2225364"/>
                </a:lnTo>
                <a:cubicBezTo>
                  <a:pt x="4505318" y="2283708"/>
                  <a:pt x="4458021" y="2331005"/>
                  <a:pt x="4399677" y="2331005"/>
                </a:cubicBezTo>
                <a:lnTo>
                  <a:pt x="105641" y="2331005"/>
                </a:lnTo>
                <a:cubicBezTo>
                  <a:pt x="47297" y="2331005"/>
                  <a:pt x="0" y="2283708"/>
                  <a:pt x="0" y="2225364"/>
                </a:cubicBezTo>
                <a:lnTo>
                  <a:pt x="0" y="105641"/>
                </a:lnTo>
                <a:cubicBezTo>
                  <a:pt x="0" y="47336"/>
                  <a:pt x="47336" y="0"/>
                  <a:pt x="105641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431" y="1901424"/>
            <a:ext cx="198065" cy="176058"/>
          </a:xfrm>
          <a:custGeom>
            <a:avLst/>
            <a:gdLst/>
            <a:ahLst/>
            <a:cxnLst/>
            <a:rect l="l" t="t" r="r" b="b"/>
            <a:pathLst>
              <a:path w="198065" h="176058">
                <a:moveTo>
                  <a:pt x="22007" y="44014"/>
                </a:moveTo>
                <a:cubicBezTo>
                  <a:pt x="22007" y="22759"/>
                  <a:pt x="39264" y="5502"/>
                  <a:pt x="60520" y="5502"/>
                </a:cubicBezTo>
                <a:cubicBezTo>
                  <a:pt x="81776" y="5502"/>
                  <a:pt x="99032" y="22759"/>
                  <a:pt x="99032" y="44014"/>
                </a:cubicBezTo>
                <a:cubicBezTo>
                  <a:pt x="99032" y="65270"/>
                  <a:pt x="81776" y="82527"/>
                  <a:pt x="60520" y="82527"/>
                </a:cubicBezTo>
                <a:cubicBezTo>
                  <a:pt x="39264" y="82527"/>
                  <a:pt x="22007" y="65270"/>
                  <a:pt x="22007" y="44014"/>
                </a:cubicBezTo>
                <a:close/>
                <a:moveTo>
                  <a:pt x="0" y="159552"/>
                </a:moveTo>
                <a:cubicBezTo>
                  <a:pt x="0" y="126129"/>
                  <a:pt x="27096" y="99032"/>
                  <a:pt x="60520" y="99032"/>
                </a:cubicBezTo>
                <a:cubicBezTo>
                  <a:pt x="93943" y="99032"/>
                  <a:pt x="121040" y="126129"/>
                  <a:pt x="121040" y="159552"/>
                </a:cubicBezTo>
                <a:lnTo>
                  <a:pt x="121040" y="161616"/>
                </a:lnTo>
                <a:cubicBezTo>
                  <a:pt x="121040" y="169593"/>
                  <a:pt x="114575" y="176058"/>
                  <a:pt x="106597" y="176058"/>
                </a:cubicBezTo>
                <a:lnTo>
                  <a:pt x="14442" y="176058"/>
                </a:lnTo>
                <a:cubicBezTo>
                  <a:pt x="6465" y="176058"/>
                  <a:pt x="0" y="169593"/>
                  <a:pt x="0" y="161616"/>
                </a:cubicBezTo>
                <a:lnTo>
                  <a:pt x="0" y="159552"/>
                </a:lnTo>
                <a:close/>
                <a:moveTo>
                  <a:pt x="148549" y="22007"/>
                </a:moveTo>
                <a:cubicBezTo>
                  <a:pt x="166768" y="22007"/>
                  <a:pt x="181560" y="36799"/>
                  <a:pt x="181560" y="55018"/>
                </a:cubicBezTo>
                <a:cubicBezTo>
                  <a:pt x="181560" y="73237"/>
                  <a:pt x="166768" y="88029"/>
                  <a:pt x="148549" y="88029"/>
                </a:cubicBezTo>
                <a:cubicBezTo>
                  <a:pt x="130330" y="88029"/>
                  <a:pt x="115538" y="73237"/>
                  <a:pt x="115538" y="55018"/>
                </a:cubicBezTo>
                <a:cubicBezTo>
                  <a:pt x="115538" y="36799"/>
                  <a:pt x="130330" y="22007"/>
                  <a:pt x="148549" y="22007"/>
                </a:cubicBezTo>
                <a:close/>
                <a:moveTo>
                  <a:pt x="148549" y="104534"/>
                </a:moveTo>
                <a:cubicBezTo>
                  <a:pt x="175886" y="104534"/>
                  <a:pt x="198065" y="126713"/>
                  <a:pt x="198065" y="154051"/>
                </a:cubicBezTo>
                <a:lnTo>
                  <a:pt x="198065" y="161753"/>
                </a:lnTo>
                <a:cubicBezTo>
                  <a:pt x="198065" y="169662"/>
                  <a:pt x="191669" y="176058"/>
                  <a:pt x="183760" y="176058"/>
                </a:cubicBezTo>
                <a:lnTo>
                  <a:pt x="133969" y="176058"/>
                </a:lnTo>
                <a:cubicBezTo>
                  <a:pt x="136238" y="171759"/>
                  <a:pt x="137545" y="166842"/>
                  <a:pt x="137545" y="161616"/>
                </a:cubicBezTo>
                <a:lnTo>
                  <a:pt x="137545" y="159552"/>
                </a:lnTo>
                <a:cubicBezTo>
                  <a:pt x="137545" y="141843"/>
                  <a:pt x="131562" y="125544"/>
                  <a:pt x="121556" y="112546"/>
                </a:cubicBezTo>
                <a:cubicBezTo>
                  <a:pt x="129327" y="107492"/>
                  <a:pt x="138611" y="104534"/>
                  <a:pt x="148549" y="10453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839313" y="1873257"/>
            <a:ext cx="3894881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RFM Analysis Framework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0427" y="2260584"/>
            <a:ext cx="1267616" cy="1514097"/>
          </a:xfrm>
          <a:custGeom>
            <a:avLst/>
            <a:gdLst/>
            <a:ahLst/>
            <a:cxnLst/>
            <a:rect l="l" t="t" r="r" b="b"/>
            <a:pathLst>
              <a:path w="1267616" h="1514097">
                <a:moveTo>
                  <a:pt x="70429" y="0"/>
                </a:moveTo>
                <a:lnTo>
                  <a:pt x="1197187" y="0"/>
                </a:lnTo>
                <a:cubicBezTo>
                  <a:pt x="1236084" y="0"/>
                  <a:pt x="1267616" y="31532"/>
                  <a:pt x="1267616" y="70429"/>
                </a:cubicBezTo>
                <a:lnTo>
                  <a:pt x="1267616" y="1443668"/>
                </a:lnTo>
                <a:cubicBezTo>
                  <a:pt x="1267616" y="1482565"/>
                  <a:pt x="1236084" y="1514097"/>
                  <a:pt x="1197187" y="1514097"/>
                </a:cubicBezTo>
                <a:lnTo>
                  <a:pt x="70429" y="1514097"/>
                </a:lnTo>
                <a:cubicBezTo>
                  <a:pt x="31532" y="1514097"/>
                  <a:pt x="0" y="1482565"/>
                  <a:pt x="0" y="1443668"/>
                </a:cubicBezTo>
                <a:lnTo>
                  <a:pt x="0" y="70429"/>
                </a:lnTo>
                <a:cubicBezTo>
                  <a:pt x="0" y="31558"/>
                  <a:pt x="31558" y="0"/>
                  <a:pt x="7042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1095" y="2401430"/>
            <a:ext cx="422539" cy="422539"/>
          </a:xfrm>
          <a:custGeom>
            <a:avLst/>
            <a:gdLst/>
            <a:ahLst/>
            <a:cxnLst/>
            <a:rect l="l" t="t" r="r" b="b"/>
            <a:pathLst>
              <a:path w="422539" h="422539">
                <a:moveTo>
                  <a:pt x="211269" y="0"/>
                </a:moveTo>
                <a:lnTo>
                  <a:pt x="211269" y="0"/>
                </a:lnTo>
                <a:cubicBezTo>
                  <a:pt x="327872" y="0"/>
                  <a:pt x="422539" y="94667"/>
                  <a:pt x="422539" y="211269"/>
                </a:cubicBezTo>
                <a:lnTo>
                  <a:pt x="422539" y="211269"/>
                </a:lnTo>
                <a:cubicBezTo>
                  <a:pt x="422539" y="327872"/>
                  <a:pt x="327872" y="422539"/>
                  <a:pt x="211269" y="422539"/>
                </a:cubicBezTo>
                <a:lnTo>
                  <a:pt x="211269" y="422539"/>
                </a:lnTo>
                <a:cubicBezTo>
                  <a:pt x="94667" y="422539"/>
                  <a:pt x="0" y="327872"/>
                  <a:pt x="0" y="211269"/>
                </a:cubicBezTo>
                <a:lnTo>
                  <a:pt x="0" y="211269"/>
                </a:lnTo>
                <a:cubicBezTo>
                  <a:pt x="0" y="94667"/>
                  <a:pt x="94667" y="0"/>
                  <a:pt x="211269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14336" y="2524671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88029" y="0"/>
                </a:moveTo>
                <a:cubicBezTo>
                  <a:pt x="136613" y="0"/>
                  <a:pt x="176058" y="39444"/>
                  <a:pt x="176058" y="88029"/>
                </a:cubicBezTo>
                <a:cubicBezTo>
                  <a:pt x="176058" y="136613"/>
                  <a:pt x="136613" y="176058"/>
                  <a:pt x="88029" y="176058"/>
                </a:cubicBezTo>
                <a:cubicBezTo>
                  <a:pt x="39444" y="176058"/>
                  <a:pt x="0" y="136613"/>
                  <a:pt x="0" y="88029"/>
                </a:cubicBezTo>
                <a:cubicBezTo>
                  <a:pt x="0" y="39444"/>
                  <a:pt x="39444" y="0"/>
                  <a:pt x="88029" y="0"/>
                </a:cubicBezTo>
                <a:close/>
                <a:moveTo>
                  <a:pt x="79776" y="41264"/>
                </a:moveTo>
                <a:lnTo>
                  <a:pt x="79776" y="88029"/>
                </a:lnTo>
                <a:cubicBezTo>
                  <a:pt x="79776" y="90780"/>
                  <a:pt x="81152" y="93359"/>
                  <a:pt x="83456" y="94906"/>
                </a:cubicBezTo>
                <a:lnTo>
                  <a:pt x="116466" y="116913"/>
                </a:lnTo>
                <a:cubicBezTo>
                  <a:pt x="120249" y="119458"/>
                  <a:pt x="125372" y="118426"/>
                  <a:pt x="127917" y="114609"/>
                </a:cubicBezTo>
                <a:cubicBezTo>
                  <a:pt x="130462" y="110793"/>
                  <a:pt x="129430" y="105703"/>
                  <a:pt x="125613" y="103159"/>
                </a:cubicBezTo>
                <a:lnTo>
                  <a:pt x="96282" y="83627"/>
                </a:lnTo>
                <a:lnTo>
                  <a:pt x="96282" y="41264"/>
                </a:lnTo>
                <a:cubicBezTo>
                  <a:pt x="96282" y="36690"/>
                  <a:pt x="92602" y="33011"/>
                  <a:pt x="88029" y="33011"/>
                </a:cubicBezTo>
                <a:cubicBezTo>
                  <a:pt x="83456" y="33011"/>
                  <a:pt x="79776" y="36690"/>
                  <a:pt x="79776" y="4126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671660" y="2894392"/>
            <a:ext cx="1065149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8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0463" y="3140873"/>
            <a:ext cx="1047544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4865" y="3352142"/>
            <a:ext cx="1038741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2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since last purchase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75148" y="2260584"/>
            <a:ext cx="1267616" cy="1514097"/>
          </a:xfrm>
          <a:custGeom>
            <a:avLst/>
            <a:gdLst/>
            <a:ahLst/>
            <a:cxnLst/>
            <a:rect l="l" t="t" r="r" b="b"/>
            <a:pathLst>
              <a:path w="1267616" h="1514097">
                <a:moveTo>
                  <a:pt x="70429" y="0"/>
                </a:moveTo>
                <a:lnTo>
                  <a:pt x="1197187" y="0"/>
                </a:lnTo>
                <a:cubicBezTo>
                  <a:pt x="1236084" y="0"/>
                  <a:pt x="1267616" y="31532"/>
                  <a:pt x="1267616" y="70429"/>
                </a:cubicBezTo>
                <a:lnTo>
                  <a:pt x="1267616" y="1443668"/>
                </a:lnTo>
                <a:cubicBezTo>
                  <a:pt x="1267616" y="1482565"/>
                  <a:pt x="1236084" y="1514097"/>
                  <a:pt x="1197187" y="1514097"/>
                </a:cubicBezTo>
                <a:lnTo>
                  <a:pt x="70429" y="1514097"/>
                </a:lnTo>
                <a:cubicBezTo>
                  <a:pt x="31532" y="1514097"/>
                  <a:pt x="0" y="1482565"/>
                  <a:pt x="0" y="1443668"/>
                </a:cubicBezTo>
                <a:lnTo>
                  <a:pt x="0" y="70429"/>
                </a:lnTo>
                <a:cubicBezTo>
                  <a:pt x="0" y="31558"/>
                  <a:pt x="31558" y="0"/>
                  <a:pt x="7042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95816" y="2401430"/>
            <a:ext cx="422539" cy="422539"/>
          </a:xfrm>
          <a:custGeom>
            <a:avLst/>
            <a:gdLst/>
            <a:ahLst/>
            <a:cxnLst/>
            <a:rect l="l" t="t" r="r" b="b"/>
            <a:pathLst>
              <a:path w="422539" h="422539">
                <a:moveTo>
                  <a:pt x="211269" y="0"/>
                </a:moveTo>
                <a:lnTo>
                  <a:pt x="211269" y="0"/>
                </a:lnTo>
                <a:cubicBezTo>
                  <a:pt x="327872" y="0"/>
                  <a:pt x="422539" y="94667"/>
                  <a:pt x="422539" y="211269"/>
                </a:cubicBezTo>
                <a:lnTo>
                  <a:pt x="422539" y="211269"/>
                </a:lnTo>
                <a:cubicBezTo>
                  <a:pt x="422539" y="327872"/>
                  <a:pt x="327872" y="422539"/>
                  <a:pt x="211269" y="422539"/>
                </a:cubicBezTo>
                <a:lnTo>
                  <a:pt x="211269" y="422539"/>
                </a:lnTo>
                <a:cubicBezTo>
                  <a:pt x="94667" y="422539"/>
                  <a:pt x="0" y="327872"/>
                  <a:pt x="0" y="211269"/>
                </a:cubicBezTo>
                <a:lnTo>
                  <a:pt x="0" y="211269"/>
                </a:lnTo>
                <a:cubicBezTo>
                  <a:pt x="0" y="94667"/>
                  <a:pt x="94667" y="0"/>
                  <a:pt x="211269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19057" y="2524671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150165" y="25687"/>
                </a:moveTo>
                <a:lnTo>
                  <a:pt x="154051" y="29366"/>
                </a:lnTo>
                <a:lnTo>
                  <a:pt x="154051" y="11004"/>
                </a:lnTo>
                <a:cubicBezTo>
                  <a:pt x="154051" y="4917"/>
                  <a:pt x="158968" y="0"/>
                  <a:pt x="165054" y="0"/>
                </a:cubicBezTo>
                <a:cubicBezTo>
                  <a:pt x="171141" y="0"/>
                  <a:pt x="176058" y="4917"/>
                  <a:pt x="176058" y="11004"/>
                </a:cubicBezTo>
                <a:lnTo>
                  <a:pt x="176058" y="55018"/>
                </a:lnTo>
                <a:cubicBezTo>
                  <a:pt x="176058" y="61104"/>
                  <a:pt x="171141" y="66022"/>
                  <a:pt x="165054" y="66022"/>
                </a:cubicBezTo>
                <a:lnTo>
                  <a:pt x="121040" y="66022"/>
                </a:lnTo>
                <a:cubicBezTo>
                  <a:pt x="114953" y="66022"/>
                  <a:pt x="110036" y="61104"/>
                  <a:pt x="110036" y="55018"/>
                </a:cubicBezTo>
                <a:cubicBezTo>
                  <a:pt x="110036" y="48932"/>
                  <a:pt x="114953" y="44014"/>
                  <a:pt x="121040" y="44014"/>
                </a:cubicBezTo>
                <a:lnTo>
                  <a:pt x="137511" y="44014"/>
                </a:lnTo>
                <a:lnTo>
                  <a:pt x="134897" y="41539"/>
                </a:lnTo>
                <a:cubicBezTo>
                  <a:pt x="134829" y="41470"/>
                  <a:pt x="134760" y="41401"/>
                  <a:pt x="134691" y="41332"/>
                </a:cubicBezTo>
                <a:cubicBezTo>
                  <a:pt x="108901" y="15543"/>
                  <a:pt x="67122" y="15543"/>
                  <a:pt x="41332" y="41332"/>
                </a:cubicBezTo>
                <a:cubicBezTo>
                  <a:pt x="15543" y="67122"/>
                  <a:pt x="15543" y="108901"/>
                  <a:pt x="41332" y="134691"/>
                </a:cubicBezTo>
                <a:cubicBezTo>
                  <a:pt x="67122" y="160481"/>
                  <a:pt x="108901" y="160481"/>
                  <a:pt x="134691" y="134691"/>
                </a:cubicBezTo>
                <a:cubicBezTo>
                  <a:pt x="137511" y="131871"/>
                  <a:pt x="140021" y="128880"/>
                  <a:pt x="142222" y="125716"/>
                </a:cubicBezTo>
                <a:cubicBezTo>
                  <a:pt x="145695" y="120730"/>
                  <a:pt x="152572" y="119527"/>
                  <a:pt x="157558" y="123000"/>
                </a:cubicBezTo>
                <a:cubicBezTo>
                  <a:pt x="162544" y="126473"/>
                  <a:pt x="163747" y="133350"/>
                  <a:pt x="160274" y="138336"/>
                </a:cubicBezTo>
                <a:cubicBezTo>
                  <a:pt x="157352" y="142531"/>
                  <a:pt x="154016" y="146520"/>
                  <a:pt x="150268" y="150268"/>
                </a:cubicBezTo>
                <a:cubicBezTo>
                  <a:pt x="115882" y="184654"/>
                  <a:pt x="60142" y="184654"/>
                  <a:pt x="25790" y="150268"/>
                </a:cubicBezTo>
                <a:cubicBezTo>
                  <a:pt x="-8562" y="115882"/>
                  <a:pt x="-8597" y="60176"/>
                  <a:pt x="25790" y="25790"/>
                </a:cubicBezTo>
                <a:cubicBezTo>
                  <a:pt x="60142" y="-8562"/>
                  <a:pt x="115779" y="-8597"/>
                  <a:pt x="150165" y="2568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2076381" y="2894392"/>
            <a:ext cx="1065149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8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85184" y="3140873"/>
            <a:ext cx="1047544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89586" y="3352142"/>
            <a:ext cx="1038741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2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purchases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79979" y="2260584"/>
            <a:ext cx="1267616" cy="1514097"/>
          </a:xfrm>
          <a:custGeom>
            <a:avLst/>
            <a:gdLst/>
            <a:ahLst/>
            <a:cxnLst/>
            <a:rect l="l" t="t" r="r" b="b"/>
            <a:pathLst>
              <a:path w="1267616" h="1514097">
                <a:moveTo>
                  <a:pt x="70429" y="0"/>
                </a:moveTo>
                <a:lnTo>
                  <a:pt x="1197187" y="0"/>
                </a:lnTo>
                <a:cubicBezTo>
                  <a:pt x="1236084" y="0"/>
                  <a:pt x="1267616" y="31532"/>
                  <a:pt x="1267616" y="70429"/>
                </a:cubicBezTo>
                <a:lnTo>
                  <a:pt x="1267616" y="1443668"/>
                </a:lnTo>
                <a:cubicBezTo>
                  <a:pt x="1267616" y="1482565"/>
                  <a:pt x="1236084" y="1514097"/>
                  <a:pt x="1197187" y="1514097"/>
                </a:cubicBezTo>
                <a:lnTo>
                  <a:pt x="70429" y="1514097"/>
                </a:lnTo>
                <a:cubicBezTo>
                  <a:pt x="31532" y="1514097"/>
                  <a:pt x="0" y="1482565"/>
                  <a:pt x="0" y="1443668"/>
                </a:cubicBezTo>
                <a:lnTo>
                  <a:pt x="0" y="70429"/>
                </a:lnTo>
                <a:cubicBezTo>
                  <a:pt x="0" y="31558"/>
                  <a:pt x="31558" y="0"/>
                  <a:pt x="70429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800647" y="2401430"/>
            <a:ext cx="422539" cy="422539"/>
          </a:xfrm>
          <a:custGeom>
            <a:avLst/>
            <a:gdLst/>
            <a:ahLst/>
            <a:cxnLst/>
            <a:rect l="l" t="t" r="r" b="b"/>
            <a:pathLst>
              <a:path w="422539" h="422539">
                <a:moveTo>
                  <a:pt x="211269" y="0"/>
                </a:moveTo>
                <a:lnTo>
                  <a:pt x="211269" y="0"/>
                </a:lnTo>
                <a:cubicBezTo>
                  <a:pt x="327872" y="0"/>
                  <a:pt x="422539" y="94667"/>
                  <a:pt x="422539" y="211269"/>
                </a:cubicBezTo>
                <a:lnTo>
                  <a:pt x="422539" y="211269"/>
                </a:lnTo>
                <a:cubicBezTo>
                  <a:pt x="422539" y="327872"/>
                  <a:pt x="327872" y="422539"/>
                  <a:pt x="211269" y="422539"/>
                </a:cubicBezTo>
                <a:lnTo>
                  <a:pt x="211269" y="422539"/>
                </a:lnTo>
                <a:cubicBezTo>
                  <a:pt x="94667" y="422539"/>
                  <a:pt x="0" y="327872"/>
                  <a:pt x="0" y="211269"/>
                </a:cubicBezTo>
                <a:lnTo>
                  <a:pt x="0" y="211269"/>
                </a:lnTo>
                <a:cubicBezTo>
                  <a:pt x="0" y="94667"/>
                  <a:pt x="94667" y="0"/>
                  <a:pt x="211269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56898" y="2524671"/>
            <a:ext cx="110036" cy="176058"/>
          </a:xfrm>
          <a:custGeom>
            <a:avLst/>
            <a:gdLst/>
            <a:ahLst/>
            <a:cxnLst/>
            <a:rect l="l" t="t" r="r" b="b"/>
            <a:pathLst>
              <a:path w="110036" h="176058">
                <a:moveTo>
                  <a:pt x="46765" y="8253"/>
                </a:moveTo>
                <a:cubicBezTo>
                  <a:pt x="46765" y="3679"/>
                  <a:pt x="50445" y="0"/>
                  <a:pt x="55018" y="0"/>
                </a:cubicBezTo>
                <a:cubicBezTo>
                  <a:pt x="59591" y="0"/>
                  <a:pt x="63271" y="3679"/>
                  <a:pt x="63271" y="8253"/>
                </a:cubicBezTo>
                <a:lnTo>
                  <a:pt x="63271" y="22007"/>
                </a:lnTo>
                <a:lnTo>
                  <a:pt x="82527" y="22007"/>
                </a:lnTo>
                <a:cubicBezTo>
                  <a:pt x="88613" y="22007"/>
                  <a:pt x="93531" y="26924"/>
                  <a:pt x="93531" y="33011"/>
                </a:cubicBezTo>
                <a:cubicBezTo>
                  <a:pt x="93531" y="39097"/>
                  <a:pt x="88613" y="44014"/>
                  <a:pt x="82527" y="44014"/>
                </a:cubicBezTo>
                <a:lnTo>
                  <a:pt x="43017" y="44014"/>
                </a:lnTo>
                <a:cubicBezTo>
                  <a:pt x="34455" y="44014"/>
                  <a:pt x="27509" y="50960"/>
                  <a:pt x="27509" y="59523"/>
                </a:cubicBezTo>
                <a:cubicBezTo>
                  <a:pt x="27509" y="67260"/>
                  <a:pt x="33183" y="73793"/>
                  <a:pt x="40817" y="74893"/>
                </a:cubicBezTo>
                <a:lnTo>
                  <a:pt x="72314" y="79398"/>
                </a:lnTo>
                <a:cubicBezTo>
                  <a:pt x="90814" y="82046"/>
                  <a:pt x="104534" y="97863"/>
                  <a:pt x="104534" y="116535"/>
                </a:cubicBezTo>
                <a:cubicBezTo>
                  <a:pt x="104534" y="137270"/>
                  <a:pt x="87719" y="154051"/>
                  <a:pt x="67019" y="154051"/>
                </a:cubicBezTo>
                <a:lnTo>
                  <a:pt x="63271" y="154051"/>
                </a:lnTo>
                <a:lnTo>
                  <a:pt x="63271" y="167805"/>
                </a:lnTo>
                <a:cubicBezTo>
                  <a:pt x="63271" y="172378"/>
                  <a:pt x="59591" y="176058"/>
                  <a:pt x="55018" y="176058"/>
                </a:cubicBezTo>
                <a:cubicBezTo>
                  <a:pt x="50445" y="176058"/>
                  <a:pt x="46765" y="172378"/>
                  <a:pt x="46765" y="167805"/>
                </a:cubicBezTo>
                <a:lnTo>
                  <a:pt x="46765" y="154051"/>
                </a:lnTo>
                <a:lnTo>
                  <a:pt x="22007" y="154051"/>
                </a:lnTo>
                <a:cubicBezTo>
                  <a:pt x="15921" y="154051"/>
                  <a:pt x="11004" y="149133"/>
                  <a:pt x="11004" y="143047"/>
                </a:cubicBezTo>
                <a:cubicBezTo>
                  <a:pt x="11004" y="136961"/>
                  <a:pt x="15921" y="132043"/>
                  <a:pt x="22007" y="132043"/>
                </a:cubicBezTo>
                <a:lnTo>
                  <a:pt x="67019" y="132043"/>
                </a:lnTo>
                <a:cubicBezTo>
                  <a:pt x="75581" y="132043"/>
                  <a:pt x="82527" y="125097"/>
                  <a:pt x="82527" y="116535"/>
                </a:cubicBezTo>
                <a:cubicBezTo>
                  <a:pt x="82527" y="108798"/>
                  <a:pt x="76853" y="102265"/>
                  <a:pt x="69220" y="101164"/>
                </a:cubicBezTo>
                <a:lnTo>
                  <a:pt x="37722" y="96660"/>
                </a:lnTo>
                <a:cubicBezTo>
                  <a:pt x="19222" y="94046"/>
                  <a:pt x="5502" y="78194"/>
                  <a:pt x="5502" y="59523"/>
                </a:cubicBezTo>
                <a:cubicBezTo>
                  <a:pt x="5502" y="38822"/>
                  <a:pt x="22317" y="22007"/>
                  <a:pt x="43017" y="22007"/>
                </a:cubicBezTo>
                <a:lnTo>
                  <a:pt x="46765" y="22007"/>
                </a:lnTo>
                <a:lnTo>
                  <a:pt x="46765" y="8253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3481212" y="2894392"/>
            <a:ext cx="1065149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8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90015" y="3140873"/>
            <a:ext cx="1047544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Monetary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94416" y="3352142"/>
            <a:ext cx="1038741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2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amount spent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5637" y="4172351"/>
            <a:ext cx="4505318" cy="2683120"/>
          </a:xfrm>
          <a:custGeom>
            <a:avLst/>
            <a:gdLst/>
            <a:ahLst/>
            <a:cxnLst/>
            <a:rect l="l" t="t" r="r" b="b"/>
            <a:pathLst>
              <a:path w="4505318" h="2683120">
                <a:moveTo>
                  <a:pt x="105634" y="0"/>
                </a:moveTo>
                <a:lnTo>
                  <a:pt x="4399684" y="0"/>
                </a:lnTo>
                <a:cubicBezTo>
                  <a:pt x="4458024" y="0"/>
                  <a:pt x="4505318" y="47294"/>
                  <a:pt x="4505318" y="105634"/>
                </a:cubicBezTo>
                <a:lnTo>
                  <a:pt x="4505318" y="2577486"/>
                </a:lnTo>
                <a:cubicBezTo>
                  <a:pt x="4505318" y="2635826"/>
                  <a:pt x="4458024" y="2683120"/>
                  <a:pt x="4399684" y="2683120"/>
                </a:cubicBezTo>
                <a:lnTo>
                  <a:pt x="105634" y="2683120"/>
                </a:lnTo>
                <a:cubicBezTo>
                  <a:pt x="47294" y="2683120"/>
                  <a:pt x="0" y="2635826"/>
                  <a:pt x="0" y="2577486"/>
                </a:cubicBezTo>
                <a:lnTo>
                  <a:pt x="0" y="105634"/>
                </a:lnTo>
                <a:cubicBezTo>
                  <a:pt x="0" y="47333"/>
                  <a:pt x="47333" y="0"/>
                  <a:pt x="105634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2434" y="4415310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0" y="27509"/>
                </a:moveTo>
                <a:cubicBezTo>
                  <a:pt x="0" y="18397"/>
                  <a:pt x="7393" y="11004"/>
                  <a:pt x="16505" y="11004"/>
                </a:cubicBezTo>
                <a:lnTo>
                  <a:pt x="49516" y="11004"/>
                </a:lnTo>
                <a:cubicBezTo>
                  <a:pt x="58629" y="11004"/>
                  <a:pt x="66022" y="18397"/>
                  <a:pt x="66022" y="27509"/>
                </a:cubicBezTo>
                <a:lnTo>
                  <a:pt x="66022" y="33011"/>
                </a:lnTo>
                <a:lnTo>
                  <a:pt x="110036" y="33011"/>
                </a:lnTo>
                <a:lnTo>
                  <a:pt x="110036" y="27509"/>
                </a:lnTo>
                <a:cubicBezTo>
                  <a:pt x="110036" y="18397"/>
                  <a:pt x="117429" y="11004"/>
                  <a:pt x="126542" y="11004"/>
                </a:cubicBezTo>
                <a:lnTo>
                  <a:pt x="159552" y="11004"/>
                </a:lnTo>
                <a:cubicBezTo>
                  <a:pt x="168665" y="11004"/>
                  <a:pt x="176058" y="18397"/>
                  <a:pt x="176058" y="27509"/>
                </a:cubicBezTo>
                <a:lnTo>
                  <a:pt x="176058" y="60520"/>
                </a:lnTo>
                <a:cubicBezTo>
                  <a:pt x="176058" y="69632"/>
                  <a:pt x="168665" y="77025"/>
                  <a:pt x="159552" y="77025"/>
                </a:cubicBezTo>
                <a:lnTo>
                  <a:pt x="126542" y="77025"/>
                </a:lnTo>
                <a:cubicBezTo>
                  <a:pt x="117429" y="77025"/>
                  <a:pt x="110036" y="69632"/>
                  <a:pt x="110036" y="60520"/>
                </a:cubicBezTo>
                <a:lnTo>
                  <a:pt x="110036" y="55018"/>
                </a:lnTo>
                <a:lnTo>
                  <a:pt x="66022" y="55018"/>
                </a:lnTo>
                <a:lnTo>
                  <a:pt x="66022" y="60520"/>
                </a:lnTo>
                <a:cubicBezTo>
                  <a:pt x="66022" y="63030"/>
                  <a:pt x="65437" y="65437"/>
                  <a:pt x="64440" y="67569"/>
                </a:cubicBezTo>
                <a:lnTo>
                  <a:pt x="88029" y="99032"/>
                </a:lnTo>
                <a:lnTo>
                  <a:pt x="115538" y="99032"/>
                </a:lnTo>
                <a:cubicBezTo>
                  <a:pt x="124650" y="99032"/>
                  <a:pt x="132043" y="106426"/>
                  <a:pt x="132043" y="115538"/>
                </a:cubicBezTo>
                <a:lnTo>
                  <a:pt x="132043" y="148549"/>
                </a:lnTo>
                <a:cubicBezTo>
                  <a:pt x="132043" y="157661"/>
                  <a:pt x="124650" y="165054"/>
                  <a:pt x="115538" y="165054"/>
                </a:cubicBezTo>
                <a:lnTo>
                  <a:pt x="82527" y="165054"/>
                </a:lnTo>
                <a:cubicBezTo>
                  <a:pt x="73415" y="165054"/>
                  <a:pt x="66022" y="157661"/>
                  <a:pt x="66022" y="148549"/>
                </a:cubicBezTo>
                <a:lnTo>
                  <a:pt x="66022" y="115538"/>
                </a:lnTo>
                <a:cubicBezTo>
                  <a:pt x="66022" y="113028"/>
                  <a:pt x="66606" y="110621"/>
                  <a:pt x="67603" y="108489"/>
                </a:cubicBezTo>
                <a:lnTo>
                  <a:pt x="44014" y="77025"/>
                </a:lnTo>
                <a:lnTo>
                  <a:pt x="16505" y="77025"/>
                </a:lnTo>
                <a:cubicBezTo>
                  <a:pt x="7393" y="77025"/>
                  <a:pt x="0" y="69632"/>
                  <a:pt x="0" y="60520"/>
                </a:cubicBezTo>
                <a:lnTo>
                  <a:pt x="0" y="2750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839313" y="4387139"/>
            <a:ext cx="3894881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Process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0427" y="4792072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4148" y="4862495"/>
            <a:ext cx="114438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3389" y="4774466"/>
            <a:ext cx="36531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Construction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3389" y="4985736"/>
            <a:ext cx="3644396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RFM metrics + additional behavioral features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0427" y="5285034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10613" y="5355457"/>
            <a:ext cx="140846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63389" y="5267428"/>
            <a:ext cx="36531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 K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63389" y="5478697"/>
            <a:ext cx="3644396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Elbow method and Silhouette score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0427" y="5777996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08743" y="5848419"/>
            <a:ext cx="14964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3389" y="5760390"/>
            <a:ext cx="36531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K-Means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63389" y="5971659"/>
            <a:ext cx="3644396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 customers into natural groups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0427" y="6270957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176058" y="0"/>
                </a:moveTo>
                <a:lnTo>
                  <a:pt x="176058" y="0"/>
                </a:lnTo>
                <a:cubicBezTo>
                  <a:pt x="273292" y="0"/>
                  <a:pt x="352116" y="78824"/>
                  <a:pt x="352116" y="176058"/>
                </a:cubicBezTo>
                <a:lnTo>
                  <a:pt x="352116" y="176058"/>
                </a:lnTo>
                <a:cubicBezTo>
                  <a:pt x="352116" y="273292"/>
                  <a:pt x="273292" y="352116"/>
                  <a:pt x="176058" y="352116"/>
                </a:cubicBezTo>
                <a:lnTo>
                  <a:pt x="176058" y="352116"/>
                </a:lnTo>
                <a:cubicBezTo>
                  <a:pt x="78824" y="352116"/>
                  <a:pt x="0" y="273292"/>
                  <a:pt x="0" y="176058"/>
                </a:cubicBezTo>
                <a:lnTo>
                  <a:pt x="0" y="176058"/>
                </a:lnTo>
                <a:cubicBezTo>
                  <a:pt x="0" y="78824"/>
                  <a:pt x="78824" y="0"/>
                  <a:pt x="176058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10613" y="6341381"/>
            <a:ext cx="140846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3389" y="6253352"/>
            <a:ext cx="36531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Segments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63389" y="6464621"/>
            <a:ext cx="3644396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 and name each customer group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80587" y="1661985"/>
            <a:ext cx="6748294" cy="3904961"/>
          </a:xfrm>
          <a:custGeom>
            <a:avLst/>
            <a:gdLst/>
            <a:ahLst/>
            <a:cxnLst/>
            <a:rect l="l" t="t" r="r" b="b"/>
            <a:pathLst>
              <a:path w="6748294" h="3904961">
                <a:moveTo>
                  <a:pt x="105629" y="0"/>
                </a:moveTo>
                <a:lnTo>
                  <a:pt x="6642665" y="0"/>
                </a:lnTo>
                <a:cubicBezTo>
                  <a:pt x="6701002" y="0"/>
                  <a:pt x="6748294" y="47292"/>
                  <a:pt x="6748294" y="105629"/>
                </a:cubicBezTo>
                <a:lnTo>
                  <a:pt x="6748294" y="3799332"/>
                </a:lnTo>
                <a:cubicBezTo>
                  <a:pt x="6748294" y="3857669"/>
                  <a:pt x="6701002" y="3904961"/>
                  <a:pt x="6642665" y="3904961"/>
                </a:cubicBezTo>
                <a:lnTo>
                  <a:pt x="105629" y="3904961"/>
                </a:lnTo>
                <a:cubicBezTo>
                  <a:pt x="47292" y="3904961"/>
                  <a:pt x="0" y="3857669"/>
                  <a:pt x="0" y="3799332"/>
                </a:cubicBezTo>
                <a:lnTo>
                  <a:pt x="0" y="105629"/>
                </a:lnTo>
                <a:cubicBezTo>
                  <a:pt x="0" y="47331"/>
                  <a:pt x="47331" y="0"/>
                  <a:pt x="105629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3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0320">
            <a:solidFill>
              <a:srgbClr val="4ECD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98899" y="1908469"/>
            <a:ext cx="220072" cy="176058"/>
          </a:xfrm>
          <a:custGeom>
            <a:avLst/>
            <a:gdLst/>
            <a:ahLst/>
            <a:cxnLst/>
            <a:rect l="l" t="t" r="r" b="b"/>
            <a:pathLst>
              <a:path w="220072" h="176058">
                <a:moveTo>
                  <a:pt x="110036" y="77025"/>
                </a:moveTo>
                <a:cubicBezTo>
                  <a:pt x="129774" y="77025"/>
                  <a:pt x="145798" y="61001"/>
                  <a:pt x="145798" y="41264"/>
                </a:cubicBezTo>
                <a:cubicBezTo>
                  <a:pt x="145798" y="21526"/>
                  <a:pt x="129774" y="5502"/>
                  <a:pt x="110036" y="5502"/>
                </a:cubicBezTo>
                <a:cubicBezTo>
                  <a:pt x="90299" y="5502"/>
                  <a:pt x="74274" y="21526"/>
                  <a:pt x="74274" y="41264"/>
                </a:cubicBezTo>
                <a:cubicBezTo>
                  <a:pt x="74274" y="61001"/>
                  <a:pt x="90299" y="77025"/>
                  <a:pt x="110036" y="77025"/>
                </a:cubicBezTo>
                <a:close/>
                <a:moveTo>
                  <a:pt x="33011" y="79776"/>
                </a:moveTo>
                <a:cubicBezTo>
                  <a:pt x="46675" y="79776"/>
                  <a:pt x="57769" y="68682"/>
                  <a:pt x="57769" y="55018"/>
                </a:cubicBezTo>
                <a:cubicBezTo>
                  <a:pt x="57769" y="41354"/>
                  <a:pt x="46675" y="30260"/>
                  <a:pt x="33011" y="30260"/>
                </a:cubicBezTo>
                <a:cubicBezTo>
                  <a:pt x="19346" y="30260"/>
                  <a:pt x="8253" y="41354"/>
                  <a:pt x="8253" y="55018"/>
                </a:cubicBezTo>
                <a:cubicBezTo>
                  <a:pt x="8253" y="68682"/>
                  <a:pt x="19346" y="79776"/>
                  <a:pt x="33011" y="79776"/>
                </a:cubicBezTo>
                <a:close/>
                <a:moveTo>
                  <a:pt x="0" y="143047"/>
                </a:moveTo>
                <a:lnTo>
                  <a:pt x="0" y="154051"/>
                </a:lnTo>
                <a:cubicBezTo>
                  <a:pt x="0" y="160137"/>
                  <a:pt x="4917" y="165054"/>
                  <a:pt x="11004" y="165054"/>
                </a:cubicBezTo>
                <a:lnTo>
                  <a:pt x="40817" y="165054"/>
                </a:lnTo>
                <a:cubicBezTo>
                  <a:pt x="39338" y="161684"/>
                  <a:pt x="38513" y="157971"/>
                  <a:pt x="38513" y="154051"/>
                </a:cubicBezTo>
                <a:lnTo>
                  <a:pt x="38513" y="148549"/>
                </a:lnTo>
                <a:cubicBezTo>
                  <a:pt x="38513" y="130255"/>
                  <a:pt x="45390" y="113544"/>
                  <a:pt x="56703" y="100889"/>
                </a:cubicBezTo>
                <a:cubicBezTo>
                  <a:pt x="52680" y="99686"/>
                  <a:pt x="48416" y="99032"/>
                  <a:pt x="44014" y="99032"/>
                </a:cubicBezTo>
                <a:cubicBezTo>
                  <a:pt x="19703" y="99032"/>
                  <a:pt x="0" y="118736"/>
                  <a:pt x="0" y="143047"/>
                </a:cubicBezTo>
                <a:close/>
                <a:moveTo>
                  <a:pt x="211819" y="55018"/>
                </a:moveTo>
                <a:cubicBezTo>
                  <a:pt x="211819" y="41354"/>
                  <a:pt x="200726" y="30260"/>
                  <a:pt x="187061" y="30260"/>
                </a:cubicBezTo>
                <a:cubicBezTo>
                  <a:pt x="173397" y="30260"/>
                  <a:pt x="162303" y="41354"/>
                  <a:pt x="162303" y="55018"/>
                </a:cubicBezTo>
                <a:cubicBezTo>
                  <a:pt x="162303" y="68682"/>
                  <a:pt x="173397" y="79776"/>
                  <a:pt x="187061" y="79776"/>
                </a:cubicBezTo>
                <a:cubicBezTo>
                  <a:pt x="200726" y="79776"/>
                  <a:pt x="211819" y="68682"/>
                  <a:pt x="211819" y="55018"/>
                </a:cubicBezTo>
                <a:close/>
                <a:moveTo>
                  <a:pt x="55018" y="148549"/>
                </a:moveTo>
                <a:lnTo>
                  <a:pt x="55018" y="154051"/>
                </a:lnTo>
                <a:cubicBezTo>
                  <a:pt x="55018" y="160137"/>
                  <a:pt x="59935" y="165054"/>
                  <a:pt x="66022" y="165054"/>
                </a:cubicBezTo>
                <a:lnTo>
                  <a:pt x="119939" y="165054"/>
                </a:lnTo>
                <a:cubicBezTo>
                  <a:pt x="117498" y="157627"/>
                  <a:pt x="117773" y="149787"/>
                  <a:pt x="123619" y="143047"/>
                </a:cubicBezTo>
                <a:cubicBezTo>
                  <a:pt x="118805" y="137476"/>
                  <a:pt x="116569" y="129396"/>
                  <a:pt x="119699" y="121280"/>
                </a:cubicBezTo>
                <a:cubicBezTo>
                  <a:pt x="121968" y="115400"/>
                  <a:pt x="125166" y="109899"/>
                  <a:pt x="129120" y="105016"/>
                </a:cubicBezTo>
                <a:cubicBezTo>
                  <a:pt x="130977" y="102746"/>
                  <a:pt x="133109" y="100993"/>
                  <a:pt x="135413" y="99720"/>
                </a:cubicBezTo>
                <a:cubicBezTo>
                  <a:pt x="127814" y="95766"/>
                  <a:pt x="119183" y="93531"/>
                  <a:pt x="110036" y="93531"/>
                </a:cubicBezTo>
                <a:cubicBezTo>
                  <a:pt x="79639" y="93531"/>
                  <a:pt x="55018" y="118151"/>
                  <a:pt x="55018" y="148549"/>
                </a:cubicBezTo>
                <a:close/>
                <a:moveTo>
                  <a:pt x="214777" y="133384"/>
                </a:moveTo>
                <a:cubicBezTo>
                  <a:pt x="216943" y="132146"/>
                  <a:pt x="218043" y="129568"/>
                  <a:pt x="217115" y="127195"/>
                </a:cubicBezTo>
                <a:cubicBezTo>
                  <a:pt x="215464" y="122931"/>
                  <a:pt x="213161" y="118908"/>
                  <a:pt x="210272" y="115366"/>
                </a:cubicBezTo>
                <a:cubicBezTo>
                  <a:pt x="208690" y="113406"/>
                  <a:pt x="205905" y="113062"/>
                  <a:pt x="203739" y="114334"/>
                </a:cubicBezTo>
                <a:cubicBezTo>
                  <a:pt x="196243" y="118667"/>
                  <a:pt x="187027" y="113372"/>
                  <a:pt x="187027" y="104672"/>
                </a:cubicBezTo>
                <a:cubicBezTo>
                  <a:pt x="187027" y="102162"/>
                  <a:pt x="185342" y="99927"/>
                  <a:pt x="182866" y="99548"/>
                </a:cubicBezTo>
                <a:cubicBezTo>
                  <a:pt x="178430" y="98861"/>
                  <a:pt x="173651" y="98861"/>
                  <a:pt x="169215" y="99548"/>
                </a:cubicBezTo>
                <a:cubicBezTo>
                  <a:pt x="166739" y="99927"/>
                  <a:pt x="165054" y="102162"/>
                  <a:pt x="165054" y="104672"/>
                </a:cubicBezTo>
                <a:cubicBezTo>
                  <a:pt x="165054" y="113337"/>
                  <a:pt x="155839" y="118667"/>
                  <a:pt x="148342" y="114334"/>
                </a:cubicBezTo>
                <a:cubicBezTo>
                  <a:pt x="146176" y="113096"/>
                  <a:pt x="143391" y="113440"/>
                  <a:pt x="141809" y="115366"/>
                </a:cubicBezTo>
                <a:cubicBezTo>
                  <a:pt x="138921" y="118908"/>
                  <a:pt x="136617" y="122931"/>
                  <a:pt x="134966" y="127195"/>
                </a:cubicBezTo>
                <a:cubicBezTo>
                  <a:pt x="134072" y="129533"/>
                  <a:pt x="135138" y="132112"/>
                  <a:pt x="137304" y="133350"/>
                </a:cubicBezTo>
                <a:cubicBezTo>
                  <a:pt x="144835" y="137683"/>
                  <a:pt x="144835" y="148308"/>
                  <a:pt x="137304" y="152675"/>
                </a:cubicBezTo>
                <a:cubicBezTo>
                  <a:pt x="135138" y="153913"/>
                  <a:pt x="134038" y="156492"/>
                  <a:pt x="134966" y="158830"/>
                </a:cubicBezTo>
                <a:cubicBezTo>
                  <a:pt x="136617" y="163094"/>
                  <a:pt x="138921" y="167117"/>
                  <a:pt x="141809" y="170659"/>
                </a:cubicBezTo>
                <a:cubicBezTo>
                  <a:pt x="143391" y="172619"/>
                  <a:pt x="146176" y="172963"/>
                  <a:pt x="148342" y="171691"/>
                </a:cubicBezTo>
                <a:cubicBezTo>
                  <a:pt x="155839" y="167358"/>
                  <a:pt x="165054" y="172688"/>
                  <a:pt x="165054" y="181353"/>
                </a:cubicBezTo>
                <a:cubicBezTo>
                  <a:pt x="165054" y="183863"/>
                  <a:pt x="166739" y="186099"/>
                  <a:pt x="169215" y="186477"/>
                </a:cubicBezTo>
                <a:cubicBezTo>
                  <a:pt x="173651" y="187165"/>
                  <a:pt x="178430" y="187165"/>
                  <a:pt x="182866" y="186477"/>
                </a:cubicBezTo>
                <a:cubicBezTo>
                  <a:pt x="185342" y="186099"/>
                  <a:pt x="187027" y="183863"/>
                  <a:pt x="187027" y="181353"/>
                </a:cubicBezTo>
                <a:cubicBezTo>
                  <a:pt x="187027" y="172688"/>
                  <a:pt x="196243" y="167358"/>
                  <a:pt x="203739" y="171691"/>
                </a:cubicBezTo>
                <a:cubicBezTo>
                  <a:pt x="205905" y="172929"/>
                  <a:pt x="208690" y="172585"/>
                  <a:pt x="210272" y="170659"/>
                </a:cubicBezTo>
                <a:cubicBezTo>
                  <a:pt x="213161" y="167117"/>
                  <a:pt x="215464" y="163094"/>
                  <a:pt x="217115" y="158830"/>
                </a:cubicBezTo>
                <a:cubicBezTo>
                  <a:pt x="218009" y="156492"/>
                  <a:pt x="216943" y="153913"/>
                  <a:pt x="214777" y="152675"/>
                </a:cubicBezTo>
                <a:cubicBezTo>
                  <a:pt x="207246" y="148342"/>
                  <a:pt x="207246" y="137717"/>
                  <a:pt x="214777" y="133350"/>
                </a:cubicBezTo>
                <a:close/>
                <a:moveTo>
                  <a:pt x="162303" y="143047"/>
                </a:moveTo>
                <a:cubicBezTo>
                  <a:pt x="162303" y="135456"/>
                  <a:pt x="168466" y="129292"/>
                  <a:pt x="176058" y="129292"/>
                </a:cubicBezTo>
                <a:cubicBezTo>
                  <a:pt x="183649" y="129292"/>
                  <a:pt x="189812" y="135456"/>
                  <a:pt x="189812" y="143047"/>
                </a:cubicBezTo>
                <a:cubicBezTo>
                  <a:pt x="189812" y="150638"/>
                  <a:pt x="183649" y="156801"/>
                  <a:pt x="176058" y="156801"/>
                </a:cubicBezTo>
                <a:cubicBezTo>
                  <a:pt x="168466" y="156801"/>
                  <a:pt x="162303" y="150638"/>
                  <a:pt x="162303" y="14304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5567784" y="1880298"/>
            <a:ext cx="6130814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Customer Segments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16504" y="2267625"/>
            <a:ext cx="3072208" cy="739443"/>
          </a:xfrm>
          <a:custGeom>
            <a:avLst/>
            <a:gdLst/>
            <a:ahLst/>
            <a:cxnLst/>
            <a:rect l="l" t="t" r="r" b="b"/>
            <a:pathLst>
              <a:path w="3072208" h="739443">
                <a:moveTo>
                  <a:pt x="35212" y="0"/>
                </a:moveTo>
                <a:lnTo>
                  <a:pt x="3001783" y="0"/>
                </a:lnTo>
                <a:cubicBezTo>
                  <a:pt x="3040678" y="0"/>
                  <a:pt x="3072208" y="31530"/>
                  <a:pt x="3072208" y="70425"/>
                </a:cubicBezTo>
                <a:lnTo>
                  <a:pt x="3072208" y="669018"/>
                </a:lnTo>
                <a:cubicBezTo>
                  <a:pt x="3072208" y="707912"/>
                  <a:pt x="3040678" y="739443"/>
                  <a:pt x="3001783" y="739443"/>
                </a:cubicBez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316504" y="2267625"/>
            <a:ext cx="35212" cy="739443"/>
          </a:xfrm>
          <a:custGeom>
            <a:avLst/>
            <a:gdLst/>
            <a:ahLst/>
            <a:cxnLst/>
            <a:rect l="l" t="t" r="r" b="b"/>
            <a:pathLst>
              <a:path w="35212" h="739443">
                <a:moveTo>
                  <a:pt x="35212" y="0"/>
                </a:moveTo>
                <a:lnTo>
                  <a:pt x="35212" y="0"/>
                </a:lnTo>
                <a:lnTo>
                  <a:pt x="35212" y="739443"/>
                </a:ln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Shape 49"/>
          <p:cNvSpPr/>
          <p:nvPr/>
        </p:nvSpPr>
        <p:spPr>
          <a:xfrm>
            <a:off x="5483759" y="2443683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86103" y="23988"/>
                </a:moveTo>
                <a:cubicBezTo>
                  <a:pt x="88634" y="21980"/>
                  <a:pt x="90230" y="18871"/>
                  <a:pt x="90230" y="15405"/>
                </a:cubicBezTo>
                <a:cubicBezTo>
                  <a:pt x="90230" y="9326"/>
                  <a:pt x="85305" y="4401"/>
                  <a:pt x="79226" y="4401"/>
                </a:cubicBezTo>
                <a:cubicBezTo>
                  <a:pt x="73146" y="4401"/>
                  <a:pt x="68222" y="9326"/>
                  <a:pt x="68222" y="15405"/>
                </a:cubicBezTo>
                <a:cubicBezTo>
                  <a:pt x="68222" y="18871"/>
                  <a:pt x="69845" y="21980"/>
                  <a:pt x="72349" y="23988"/>
                </a:cubicBezTo>
                <a:lnTo>
                  <a:pt x="53533" y="53588"/>
                </a:lnTo>
                <a:cubicBezTo>
                  <a:pt x="50782" y="57906"/>
                  <a:pt x="44922" y="58979"/>
                  <a:pt x="40823" y="55898"/>
                </a:cubicBezTo>
                <a:lnTo>
                  <a:pt x="24456" y="43657"/>
                </a:lnTo>
                <a:cubicBezTo>
                  <a:pt x="25693" y="41896"/>
                  <a:pt x="26409" y="39723"/>
                  <a:pt x="26409" y="37412"/>
                </a:cubicBezTo>
                <a:cubicBezTo>
                  <a:pt x="26409" y="31333"/>
                  <a:pt x="21485" y="26409"/>
                  <a:pt x="15405" y="26409"/>
                </a:cubicBezTo>
                <a:cubicBezTo>
                  <a:pt x="9326" y="26409"/>
                  <a:pt x="4401" y="31333"/>
                  <a:pt x="4401" y="37412"/>
                </a:cubicBezTo>
                <a:cubicBezTo>
                  <a:pt x="4401" y="43409"/>
                  <a:pt x="9216" y="48306"/>
                  <a:pt x="15185" y="48416"/>
                </a:cubicBezTo>
                <a:lnTo>
                  <a:pt x="24153" y="108248"/>
                </a:lnTo>
                <a:cubicBezTo>
                  <a:pt x="25446" y="116858"/>
                  <a:pt x="32846" y="123240"/>
                  <a:pt x="41566" y="123240"/>
                </a:cubicBezTo>
                <a:lnTo>
                  <a:pt x="116886" y="123240"/>
                </a:lnTo>
                <a:cubicBezTo>
                  <a:pt x="125606" y="123240"/>
                  <a:pt x="133006" y="116858"/>
                  <a:pt x="134299" y="108248"/>
                </a:cubicBezTo>
                <a:lnTo>
                  <a:pt x="143267" y="48416"/>
                </a:lnTo>
                <a:cubicBezTo>
                  <a:pt x="149236" y="48306"/>
                  <a:pt x="154051" y="43409"/>
                  <a:pt x="154051" y="37412"/>
                </a:cubicBezTo>
                <a:cubicBezTo>
                  <a:pt x="154051" y="31333"/>
                  <a:pt x="149126" y="26409"/>
                  <a:pt x="143047" y="26409"/>
                </a:cubicBezTo>
                <a:cubicBezTo>
                  <a:pt x="136967" y="26409"/>
                  <a:pt x="132043" y="31333"/>
                  <a:pt x="132043" y="37412"/>
                </a:cubicBezTo>
                <a:cubicBezTo>
                  <a:pt x="132043" y="39723"/>
                  <a:pt x="132759" y="41896"/>
                  <a:pt x="133996" y="43657"/>
                </a:cubicBezTo>
                <a:lnTo>
                  <a:pt x="117656" y="55926"/>
                </a:lnTo>
                <a:cubicBezTo>
                  <a:pt x="113557" y="59007"/>
                  <a:pt x="107698" y="57934"/>
                  <a:pt x="104947" y="53615"/>
                </a:cubicBezTo>
                <a:lnTo>
                  <a:pt x="86103" y="2398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2" name="Text 50"/>
          <p:cNvSpPr/>
          <p:nvPr/>
        </p:nvSpPr>
        <p:spPr>
          <a:xfrm>
            <a:off x="5721437" y="2408471"/>
            <a:ext cx="757048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Champions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474956" y="2690163"/>
            <a:ext cx="2834530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RFM — Frequent, recent, high-value buyers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44193" y="2267625"/>
            <a:ext cx="3072208" cy="739443"/>
          </a:xfrm>
          <a:custGeom>
            <a:avLst/>
            <a:gdLst/>
            <a:ahLst/>
            <a:cxnLst/>
            <a:rect l="l" t="t" r="r" b="b"/>
            <a:pathLst>
              <a:path w="3072208" h="739443">
                <a:moveTo>
                  <a:pt x="35212" y="0"/>
                </a:moveTo>
                <a:lnTo>
                  <a:pt x="3001783" y="0"/>
                </a:lnTo>
                <a:cubicBezTo>
                  <a:pt x="3040678" y="0"/>
                  <a:pt x="3072208" y="31530"/>
                  <a:pt x="3072208" y="70425"/>
                </a:cubicBezTo>
                <a:lnTo>
                  <a:pt x="3072208" y="669018"/>
                </a:lnTo>
                <a:cubicBezTo>
                  <a:pt x="3072208" y="707912"/>
                  <a:pt x="3040678" y="739443"/>
                  <a:pt x="3001783" y="739443"/>
                </a:cubicBez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544193" y="2267625"/>
            <a:ext cx="35212" cy="739443"/>
          </a:xfrm>
          <a:custGeom>
            <a:avLst/>
            <a:gdLst/>
            <a:ahLst/>
            <a:cxnLst/>
            <a:rect l="l" t="t" r="r" b="b"/>
            <a:pathLst>
              <a:path w="35212" h="739443">
                <a:moveTo>
                  <a:pt x="35212" y="0"/>
                </a:moveTo>
                <a:lnTo>
                  <a:pt x="35212" y="0"/>
                </a:lnTo>
                <a:lnTo>
                  <a:pt x="35212" y="739443"/>
                </a:ln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3A5F7F"/>
          </a:solidFill>
          <a:ln/>
        </p:spPr>
      </p:sp>
      <p:sp>
        <p:nvSpPr>
          <p:cNvPr id="56" name="Shape 54"/>
          <p:cNvSpPr/>
          <p:nvPr/>
        </p:nvSpPr>
        <p:spPr>
          <a:xfrm>
            <a:off x="8720251" y="2443683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32103" y="9298"/>
                </a:moveTo>
                <a:cubicBezTo>
                  <a:pt x="33341" y="7620"/>
                  <a:pt x="35322" y="6602"/>
                  <a:pt x="37412" y="6602"/>
                </a:cubicBezTo>
                <a:lnTo>
                  <a:pt x="103434" y="6602"/>
                </a:lnTo>
                <a:cubicBezTo>
                  <a:pt x="105525" y="6602"/>
                  <a:pt x="107505" y="7592"/>
                  <a:pt x="108743" y="9298"/>
                </a:cubicBezTo>
                <a:lnTo>
                  <a:pt x="139553" y="51112"/>
                </a:lnTo>
                <a:cubicBezTo>
                  <a:pt x="141424" y="53643"/>
                  <a:pt x="141231" y="57136"/>
                  <a:pt x="139141" y="59475"/>
                </a:cubicBezTo>
                <a:lnTo>
                  <a:pt x="75320" y="129898"/>
                </a:lnTo>
                <a:cubicBezTo>
                  <a:pt x="74082" y="131273"/>
                  <a:pt x="72294" y="132071"/>
                  <a:pt x="70423" y="132071"/>
                </a:cubicBezTo>
                <a:cubicBezTo>
                  <a:pt x="68552" y="132071"/>
                  <a:pt x="66792" y="131273"/>
                  <a:pt x="65526" y="129898"/>
                </a:cubicBezTo>
                <a:lnTo>
                  <a:pt x="1706" y="59475"/>
                </a:lnTo>
                <a:cubicBezTo>
                  <a:pt x="-413" y="57136"/>
                  <a:pt x="-578" y="53643"/>
                  <a:pt x="1293" y="51112"/>
                </a:cubicBezTo>
                <a:lnTo>
                  <a:pt x="32103" y="9298"/>
                </a:lnTo>
                <a:close/>
                <a:moveTo>
                  <a:pt x="42694" y="20247"/>
                </a:moveTo>
                <a:cubicBezTo>
                  <a:pt x="41786" y="20934"/>
                  <a:pt x="41539" y="22172"/>
                  <a:pt x="42116" y="23135"/>
                </a:cubicBezTo>
                <a:lnTo>
                  <a:pt x="57906" y="49461"/>
                </a:lnTo>
                <a:lnTo>
                  <a:pt x="17413" y="52817"/>
                </a:lnTo>
                <a:cubicBezTo>
                  <a:pt x="16285" y="52900"/>
                  <a:pt x="15405" y="53863"/>
                  <a:pt x="15405" y="55018"/>
                </a:cubicBezTo>
                <a:cubicBezTo>
                  <a:pt x="15405" y="56173"/>
                  <a:pt x="16285" y="57109"/>
                  <a:pt x="17413" y="57219"/>
                </a:cubicBezTo>
                <a:lnTo>
                  <a:pt x="70231" y="61620"/>
                </a:lnTo>
                <a:cubicBezTo>
                  <a:pt x="70341" y="61620"/>
                  <a:pt x="70478" y="61620"/>
                  <a:pt x="70588" y="61620"/>
                </a:cubicBezTo>
                <a:lnTo>
                  <a:pt x="123405" y="57219"/>
                </a:lnTo>
                <a:cubicBezTo>
                  <a:pt x="124533" y="57136"/>
                  <a:pt x="125414" y="56173"/>
                  <a:pt x="125414" y="55018"/>
                </a:cubicBezTo>
                <a:cubicBezTo>
                  <a:pt x="125414" y="53863"/>
                  <a:pt x="124533" y="52927"/>
                  <a:pt x="123405" y="52817"/>
                </a:cubicBezTo>
                <a:lnTo>
                  <a:pt x="82912" y="49434"/>
                </a:lnTo>
                <a:lnTo>
                  <a:pt x="98702" y="23135"/>
                </a:lnTo>
                <a:cubicBezTo>
                  <a:pt x="99280" y="22172"/>
                  <a:pt x="99032" y="20907"/>
                  <a:pt x="98125" y="20247"/>
                </a:cubicBezTo>
                <a:cubicBezTo>
                  <a:pt x="97217" y="19586"/>
                  <a:pt x="95951" y="19696"/>
                  <a:pt x="95181" y="20522"/>
                </a:cubicBezTo>
                <a:lnTo>
                  <a:pt x="70423" y="47371"/>
                </a:lnTo>
                <a:lnTo>
                  <a:pt x="45637" y="20522"/>
                </a:lnTo>
                <a:cubicBezTo>
                  <a:pt x="44867" y="19696"/>
                  <a:pt x="43602" y="19586"/>
                  <a:pt x="42694" y="20247"/>
                </a:cubicBezTo>
                <a:close/>
              </a:path>
            </a:pathLst>
          </a:custGeom>
          <a:solidFill>
            <a:srgbClr val="3A5F7F"/>
          </a:solidFill>
          <a:ln/>
        </p:spPr>
      </p:sp>
      <p:sp>
        <p:nvSpPr>
          <p:cNvPr id="57" name="Text 55"/>
          <p:cNvSpPr/>
          <p:nvPr/>
        </p:nvSpPr>
        <p:spPr>
          <a:xfrm>
            <a:off x="8949126" y="2408471"/>
            <a:ext cx="1091558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Loyal Customers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02645" y="2690163"/>
            <a:ext cx="2834530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F&amp;M — Regular purchasers, good value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316504" y="3147914"/>
            <a:ext cx="3072208" cy="739443"/>
          </a:xfrm>
          <a:custGeom>
            <a:avLst/>
            <a:gdLst/>
            <a:ahLst/>
            <a:cxnLst/>
            <a:rect l="l" t="t" r="r" b="b"/>
            <a:pathLst>
              <a:path w="3072208" h="739443">
                <a:moveTo>
                  <a:pt x="35212" y="0"/>
                </a:moveTo>
                <a:lnTo>
                  <a:pt x="3001783" y="0"/>
                </a:lnTo>
                <a:cubicBezTo>
                  <a:pt x="3040678" y="0"/>
                  <a:pt x="3072208" y="31530"/>
                  <a:pt x="3072208" y="70425"/>
                </a:cubicBezTo>
                <a:lnTo>
                  <a:pt x="3072208" y="669018"/>
                </a:lnTo>
                <a:cubicBezTo>
                  <a:pt x="3072208" y="707912"/>
                  <a:pt x="3040678" y="739443"/>
                  <a:pt x="3001783" y="739443"/>
                </a:cubicBez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316504" y="3147914"/>
            <a:ext cx="35212" cy="739443"/>
          </a:xfrm>
          <a:custGeom>
            <a:avLst/>
            <a:gdLst/>
            <a:ahLst/>
            <a:cxnLst/>
            <a:rect l="l" t="t" r="r" b="b"/>
            <a:pathLst>
              <a:path w="35212" h="739443">
                <a:moveTo>
                  <a:pt x="35212" y="0"/>
                </a:moveTo>
                <a:lnTo>
                  <a:pt x="35212" y="0"/>
                </a:lnTo>
                <a:lnTo>
                  <a:pt x="35212" y="739443"/>
                </a:ln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5E7A91"/>
          </a:solidFill>
          <a:ln/>
        </p:spPr>
      </p:sp>
      <p:sp>
        <p:nvSpPr>
          <p:cNvPr id="61" name="Shape 59"/>
          <p:cNvSpPr/>
          <p:nvPr/>
        </p:nvSpPr>
        <p:spPr>
          <a:xfrm>
            <a:off x="5492562" y="3323971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140846" y="8803"/>
                </a:moveTo>
                <a:cubicBezTo>
                  <a:pt x="140846" y="38540"/>
                  <a:pt x="119774" y="63353"/>
                  <a:pt x="91770" y="69158"/>
                </a:cubicBezTo>
                <a:cubicBezTo>
                  <a:pt x="89597" y="53175"/>
                  <a:pt x="82417" y="38788"/>
                  <a:pt x="71826" y="27647"/>
                </a:cubicBezTo>
                <a:cubicBezTo>
                  <a:pt x="82857" y="11004"/>
                  <a:pt x="101756" y="0"/>
                  <a:pt x="123240" y="0"/>
                </a:cubicBezTo>
                <a:lnTo>
                  <a:pt x="132043" y="0"/>
                </a:lnTo>
                <a:cubicBezTo>
                  <a:pt x="136912" y="0"/>
                  <a:pt x="140846" y="3934"/>
                  <a:pt x="140846" y="8803"/>
                </a:cubicBezTo>
                <a:close/>
                <a:moveTo>
                  <a:pt x="0" y="26409"/>
                </a:moveTo>
                <a:cubicBezTo>
                  <a:pt x="0" y="21540"/>
                  <a:pt x="3934" y="17606"/>
                  <a:pt x="8803" y="17606"/>
                </a:cubicBezTo>
                <a:lnTo>
                  <a:pt x="17606" y="17606"/>
                </a:lnTo>
                <a:cubicBezTo>
                  <a:pt x="51634" y="17606"/>
                  <a:pt x="79226" y="45197"/>
                  <a:pt x="79226" y="79226"/>
                </a:cubicBezTo>
                <a:lnTo>
                  <a:pt x="79226" y="132043"/>
                </a:lnTo>
                <a:cubicBezTo>
                  <a:pt x="79226" y="136912"/>
                  <a:pt x="75292" y="140846"/>
                  <a:pt x="70423" y="140846"/>
                </a:cubicBezTo>
                <a:cubicBezTo>
                  <a:pt x="65554" y="140846"/>
                  <a:pt x="61620" y="136912"/>
                  <a:pt x="61620" y="132043"/>
                </a:cubicBezTo>
                <a:lnTo>
                  <a:pt x="61620" y="88029"/>
                </a:lnTo>
                <a:cubicBezTo>
                  <a:pt x="27592" y="88029"/>
                  <a:pt x="0" y="60437"/>
                  <a:pt x="0" y="26409"/>
                </a:cubicBezTo>
                <a:close/>
              </a:path>
            </a:pathLst>
          </a:custGeom>
          <a:solidFill>
            <a:srgbClr val="5E7A91"/>
          </a:solidFill>
          <a:ln/>
        </p:spPr>
      </p:sp>
      <p:sp>
        <p:nvSpPr>
          <p:cNvPr id="62" name="Text 60"/>
          <p:cNvSpPr/>
          <p:nvPr/>
        </p:nvSpPr>
        <p:spPr>
          <a:xfrm>
            <a:off x="5721437" y="3288760"/>
            <a:ext cx="1153178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Loyalists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474956" y="3570452"/>
            <a:ext cx="2834530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buyers with growth potential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544193" y="3147914"/>
            <a:ext cx="3072208" cy="739443"/>
          </a:xfrm>
          <a:custGeom>
            <a:avLst/>
            <a:gdLst/>
            <a:ahLst/>
            <a:cxnLst/>
            <a:rect l="l" t="t" r="r" b="b"/>
            <a:pathLst>
              <a:path w="3072208" h="739443">
                <a:moveTo>
                  <a:pt x="35212" y="0"/>
                </a:moveTo>
                <a:lnTo>
                  <a:pt x="3001783" y="0"/>
                </a:lnTo>
                <a:cubicBezTo>
                  <a:pt x="3040678" y="0"/>
                  <a:pt x="3072208" y="31530"/>
                  <a:pt x="3072208" y="70425"/>
                </a:cubicBezTo>
                <a:lnTo>
                  <a:pt x="3072208" y="669018"/>
                </a:lnTo>
                <a:cubicBezTo>
                  <a:pt x="3072208" y="707912"/>
                  <a:pt x="3040678" y="739443"/>
                  <a:pt x="3001783" y="739443"/>
                </a:cubicBez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544193" y="3147914"/>
            <a:ext cx="35212" cy="739443"/>
          </a:xfrm>
          <a:custGeom>
            <a:avLst/>
            <a:gdLst/>
            <a:ahLst/>
            <a:cxnLst/>
            <a:rect l="l" t="t" r="r" b="b"/>
            <a:pathLst>
              <a:path w="35212" h="739443">
                <a:moveTo>
                  <a:pt x="35212" y="0"/>
                </a:moveTo>
                <a:lnTo>
                  <a:pt x="35212" y="0"/>
                </a:lnTo>
                <a:lnTo>
                  <a:pt x="35212" y="739443"/>
                </a:ln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66" name="Shape 64"/>
          <p:cNvSpPr/>
          <p:nvPr/>
        </p:nvSpPr>
        <p:spPr>
          <a:xfrm>
            <a:off x="8720251" y="3323971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70423" y="37412"/>
                </a:moveTo>
                <a:cubicBezTo>
                  <a:pt x="74082" y="37412"/>
                  <a:pt x="77025" y="40356"/>
                  <a:pt x="77025" y="44014"/>
                </a:cubicBezTo>
                <a:lnTo>
                  <a:pt x="77025" y="74825"/>
                </a:lnTo>
                <a:cubicBezTo>
                  <a:pt x="77025" y="78483"/>
                  <a:pt x="74082" y="81427"/>
                  <a:pt x="70423" y="81427"/>
                </a:cubicBezTo>
                <a:cubicBezTo>
                  <a:pt x="66764" y="81427"/>
                  <a:pt x="63821" y="78483"/>
                  <a:pt x="63821" y="74825"/>
                </a:cubicBezTo>
                <a:lnTo>
                  <a:pt x="63821" y="44014"/>
                </a:lnTo>
                <a:cubicBezTo>
                  <a:pt x="63821" y="40356"/>
                  <a:pt x="66764" y="37412"/>
                  <a:pt x="70423" y="37412"/>
                </a:cubicBezTo>
                <a:close/>
                <a:moveTo>
                  <a:pt x="63078" y="96832"/>
                </a:moveTo>
                <a:cubicBezTo>
                  <a:pt x="62911" y="94105"/>
                  <a:pt x="64271" y="91512"/>
                  <a:pt x="66608" y="90098"/>
                </a:cubicBezTo>
                <a:cubicBezTo>
                  <a:pt x="68945" y="88684"/>
                  <a:pt x="71874" y="88684"/>
                  <a:pt x="74211" y="90098"/>
                </a:cubicBezTo>
                <a:cubicBezTo>
                  <a:pt x="76548" y="91512"/>
                  <a:pt x="77908" y="94105"/>
                  <a:pt x="77741" y="96832"/>
                </a:cubicBezTo>
                <a:cubicBezTo>
                  <a:pt x="77908" y="99558"/>
                  <a:pt x="76548" y="102152"/>
                  <a:pt x="74211" y="103566"/>
                </a:cubicBezTo>
                <a:cubicBezTo>
                  <a:pt x="71874" y="104979"/>
                  <a:pt x="68945" y="104979"/>
                  <a:pt x="66608" y="103566"/>
                </a:cubicBezTo>
                <a:cubicBezTo>
                  <a:pt x="64271" y="102152"/>
                  <a:pt x="62911" y="99558"/>
                  <a:pt x="63078" y="96832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67" name="Text 65"/>
          <p:cNvSpPr/>
          <p:nvPr/>
        </p:nvSpPr>
        <p:spPr>
          <a:xfrm>
            <a:off x="8949126" y="3288760"/>
            <a:ext cx="48415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Risk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702645" y="3570452"/>
            <a:ext cx="2834530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Previously valuable but declining activity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316504" y="4028202"/>
            <a:ext cx="3072208" cy="739443"/>
          </a:xfrm>
          <a:custGeom>
            <a:avLst/>
            <a:gdLst/>
            <a:ahLst/>
            <a:cxnLst/>
            <a:rect l="l" t="t" r="r" b="b"/>
            <a:pathLst>
              <a:path w="3072208" h="739443">
                <a:moveTo>
                  <a:pt x="35212" y="0"/>
                </a:moveTo>
                <a:lnTo>
                  <a:pt x="3001783" y="0"/>
                </a:lnTo>
                <a:cubicBezTo>
                  <a:pt x="3040678" y="0"/>
                  <a:pt x="3072208" y="31530"/>
                  <a:pt x="3072208" y="70425"/>
                </a:cubicBezTo>
                <a:lnTo>
                  <a:pt x="3072208" y="669018"/>
                </a:lnTo>
                <a:cubicBezTo>
                  <a:pt x="3072208" y="707912"/>
                  <a:pt x="3040678" y="739443"/>
                  <a:pt x="3001783" y="739443"/>
                </a:cubicBez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5316504" y="4028202"/>
            <a:ext cx="35212" cy="739443"/>
          </a:xfrm>
          <a:custGeom>
            <a:avLst/>
            <a:gdLst/>
            <a:ahLst/>
            <a:cxnLst/>
            <a:rect l="l" t="t" r="r" b="b"/>
            <a:pathLst>
              <a:path w="35212" h="739443">
                <a:moveTo>
                  <a:pt x="35212" y="0"/>
                </a:moveTo>
                <a:lnTo>
                  <a:pt x="35212" y="0"/>
                </a:lnTo>
                <a:lnTo>
                  <a:pt x="35212" y="739443"/>
                </a:ln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1" name="Shape 69"/>
          <p:cNvSpPr/>
          <p:nvPr/>
        </p:nvSpPr>
        <p:spPr>
          <a:xfrm>
            <a:off x="5483759" y="4204260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8803" y="8803"/>
                </a:moveTo>
                <a:cubicBezTo>
                  <a:pt x="13672" y="8803"/>
                  <a:pt x="17606" y="12737"/>
                  <a:pt x="17606" y="17606"/>
                </a:cubicBezTo>
                <a:lnTo>
                  <a:pt x="17606" y="79226"/>
                </a:lnTo>
                <a:lnTo>
                  <a:pt x="79226" y="79226"/>
                </a:lnTo>
                <a:lnTo>
                  <a:pt x="79226" y="44014"/>
                </a:lnTo>
                <a:cubicBezTo>
                  <a:pt x="79226" y="39145"/>
                  <a:pt x="83160" y="35212"/>
                  <a:pt x="88029" y="35212"/>
                </a:cubicBezTo>
                <a:lnTo>
                  <a:pt x="132043" y="35212"/>
                </a:lnTo>
                <a:cubicBezTo>
                  <a:pt x="146623" y="35212"/>
                  <a:pt x="158452" y="47040"/>
                  <a:pt x="158452" y="61620"/>
                </a:cubicBezTo>
                <a:lnTo>
                  <a:pt x="158452" y="123240"/>
                </a:lnTo>
                <a:cubicBezTo>
                  <a:pt x="158452" y="128110"/>
                  <a:pt x="154518" y="132043"/>
                  <a:pt x="149649" y="132043"/>
                </a:cubicBezTo>
                <a:cubicBezTo>
                  <a:pt x="144780" y="132043"/>
                  <a:pt x="140846" y="128110"/>
                  <a:pt x="140846" y="123240"/>
                </a:cubicBezTo>
                <a:lnTo>
                  <a:pt x="140846" y="105635"/>
                </a:lnTo>
                <a:lnTo>
                  <a:pt x="17606" y="105635"/>
                </a:lnTo>
                <a:lnTo>
                  <a:pt x="17606" y="123240"/>
                </a:lnTo>
                <a:cubicBezTo>
                  <a:pt x="17606" y="128110"/>
                  <a:pt x="13672" y="132043"/>
                  <a:pt x="8803" y="132043"/>
                </a:cubicBezTo>
                <a:cubicBezTo>
                  <a:pt x="3934" y="132043"/>
                  <a:pt x="0" y="128110"/>
                  <a:pt x="0" y="123240"/>
                </a:cubicBezTo>
                <a:lnTo>
                  <a:pt x="0" y="17606"/>
                </a:lnTo>
                <a:cubicBezTo>
                  <a:pt x="0" y="12737"/>
                  <a:pt x="3934" y="8803"/>
                  <a:pt x="8803" y="8803"/>
                </a:cubicBezTo>
                <a:close/>
                <a:moveTo>
                  <a:pt x="30810" y="52817"/>
                </a:moveTo>
                <a:cubicBezTo>
                  <a:pt x="30810" y="43100"/>
                  <a:pt x="38699" y="35212"/>
                  <a:pt x="48416" y="35212"/>
                </a:cubicBezTo>
                <a:cubicBezTo>
                  <a:pt x="58133" y="35212"/>
                  <a:pt x="66022" y="43100"/>
                  <a:pt x="66022" y="52817"/>
                </a:cubicBezTo>
                <a:cubicBezTo>
                  <a:pt x="66022" y="62534"/>
                  <a:pt x="58133" y="70423"/>
                  <a:pt x="48416" y="70423"/>
                </a:cubicBezTo>
                <a:cubicBezTo>
                  <a:pt x="38699" y="70423"/>
                  <a:pt x="30810" y="62534"/>
                  <a:pt x="30810" y="52817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2" name="Text 70"/>
          <p:cNvSpPr/>
          <p:nvPr/>
        </p:nvSpPr>
        <p:spPr>
          <a:xfrm>
            <a:off x="5721437" y="4169049"/>
            <a:ext cx="774654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Hibernating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474956" y="4450741"/>
            <a:ext cx="2834530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RFM — Inactive, low-value customers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544193" y="4028202"/>
            <a:ext cx="3072208" cy="739443"/>
          </a:xfrm>
          <a:custGeom>
            <a:avLst/>
            <a:gdLst/>
            <a:ahLst/>
            <a:cxnLst/>
            <a:rect l="l" t="t" r="r" b="b"/>
            <a:pathLst>
              <a:path w="3072208" h="739443">
                <a:moveTo>
                  <a:pt x="35212" y="0"/>
                </a:moveTo>
                <a:lnTo>
                  <a:pt x="3001783" y="0"/>
                </a:lnTo>
                <a:cubicBezTo>
                  <a:pt x="3040678" y="0"/>
                  <a:pt x="3072208" y="31530"/>
                  <a:pt x="3072208" y="70425"/>
                </a:cubicBezTo>
                <a:lnTo>
                  <a:pt x="3072208" y="669018"/>
                </a:lnTo>
                <a:cubicBezTo>
                  <a:pt x="3072208" y="707912"/>
                  <a:pt x="3040678" y="739443"/>
                  <a:pt x="3001783" y="739443"/>
                </a:cubicBez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544193" y="4028202"/>
            <a:ext cx="35212" cy="739443"/>
          </a:xfrm>
          <a:custGeom>
            <a:avLst/>
            <a:gdLst/>
            <a:ahLst/>
            <a:cxnLst/>
            <a:rect l="l" t="t" r="r" b="b"/>
            <a:pathLst>
              <a:path w="35212" h="739443">
                <a:moveTo>
                  <a:pt x="35212" y="0"/>
                </a:moveTo>
                <a:lnTo>
                  <a:pt x="35212" y="0"/>
                </a:lnTo>
                <a:lnTo>
                  <a:pt x="35212" y="739443"/>
                </a:lnTo>
                <a:lnTo>
                  <a:pt x="35212" y="739443"/>
                </a:lnTo>
                <a:cubicBezTo>
                  <a:pt x="15765" y="739443"/>
                  <a:pt x="0" y="723678"/>
                  <a:pt x="0" y="704231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76" name="Shape 74"/>
          <p:cNvSpPr/>
          <p:nvPr/>
        </p:nvSpPr>
        <p:spPr>
          <a:xfrm>
            <a:off x="8720251" y="4204260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140846"/>
                </a:moveTo>
                <a:cubicBezTo>
                  <a:pt x="109291" y="140846"/>
                  <a:pt x="140846" y="109291"/>
                  <a:pt x="140846" y="70423"/>
                </a:cubicBezTo>
                <a:cubicBezTo>
                  <a:pt x="140846" y="31556"/>
                  <a:pt x="109291" y="0"/>
                  <a:pt x="70423" y="0"/>
                </a:cubicBezTo>
                <a:cubicBezTo>
                  <a:pt x="31556" y="0"/>
                  <a:pt x="0" y="31556"/>
                  <a:pt x="0" y="70423"/>
                </a:cubicBezTo>
                <a:cubicBezTo>
                  <a:pt x="0" y="109291"/>
                  <a:pt x="31556" y="140846"/>
                  <a:pt x="70423" y="140846"/>
                </a:cubicBezTo>
                <a:close/>
                <a:moveTo>
                  <a:pt x="70423" y="48416"/>
                </a:moveTo>
                <a:cubicBezTo>
                  <a:pt x="65554" y="48416"/>
                  <a:pt x="61620" y="52350"/>
                  <a:pt x="61620" y="57219"/>
                </a:cubicBezTo>
                <a:cubicBezTo>
                  <a:pt x="61620" y="60877"/>
                  <a:pt x="58677" y="63821"/>
                  <a:pt x="55018" y="63821"/>
                </a:cubicBezTo>
                <a:cubicBezTo>
                  <a:pt x="51359" y="63821"/>
                  <a:pt x="48416" y="60877"/>
                  <a:pt x="48416" y="57219"/>
                </a:cubicBezTo>
                <a:cubicBezTo>
                  <a:pt x="48416" y="45060"/>
                  <a:pt x="58264" y="35212"/>
                  <a:pt x="70423" y="35212"/>
                </a:cubicBezTo>
                <a:cubicBezTo>
                  <a:pt x="82582" y="35212"/>
                  <a:pt x="92430" y="45060"/>
                  <a:pt x="92430" y="57219"/>
                </a:cubicBezTo>
                <a:cubicBezTo>
                  <a:pt x="92430" y="70203"/>
                  <a:pt x="82527" y="75705"/>
                  <a:pt x="77025" y="77713"/>
                </a:cubicBezTo>
                <a:lnTo>
                  <a:pt x="77025" y="78758"/>
                </a:lnTo>
                <a:cubicBezTo>
                  <a:pt x="77025" y="82417"/>
                  <a:pt x="74082" y="85361"/>
                  <a:pt x="70423" y="85361"/>
                </a:cubicBezTo>
                <a:cubicBezTo>
                  <a:pt x="66764" y="85361"/>
                  <a:pt x="63821" y="82417"/>
                  <a:pt x="63821" y="78758"/>
                </a:cubicBezTo>
                <a:lnTo>
                  <a:pt x="63821" y="76530"/>
                </a:lnTo>
                <a:cubicBezTo>
                  <a:pt x="63821" y="70891"/>
                  <a:pt x="67892" y="66847"/>
                  <a:pt x="72101" y="65471"/>
                </a:cubicBezTo>
                <a:cubicBezTo>
                  <a:pt x="73862" y="64894"/>
                  <a:pt x="75732" y="63958"/>
                  <a:pt x="77108" y="62638"/>
                </a:cubicBezTo>
                <a:cubicBezTo>
                  <a:pt x="78291" y="61483"/>
                  <a:pt x="79226" y="59887"/>
                  <a:pt x="79226" y="57246"/>
                </a:cubicBezTo>
                <a:cubicBezTo>
                  <a:pt x="79226" y="52377"/>
                  <a:pt x="75292" y="48443"/>
                  <a:pt x="70423" y="48443"/>
                </a:cubicBezTo>
                <a:close/>
                <a:moveTo>
                  <a:pt x="61620" y="101233"/>
                </a:moveTo>
                <a:cubicBezTo>
                  <a:pt x="61620" y="96375"/>
                  <a:pt x="65565" y="92430"/>
                  <a:pt x="70423" y="92430"/>
                </a:cubicBezTo>
                <a:cubicBezTo>
                  <a:pt x="75282" y="92430"/>
                  <a:pt x="79226" y="96375"/>
                  <a:pt x="79226" y="101233"/>
                </a:cubicBezTo>
                <a:cubicBezTo>
                  <a:pt x="79226" y="106092"/>
                  <a:pt x="75282" y="110036"/>
                  <a:pt x="70423" y="110036"/>
                </a:cubicBezTo>
                <a:cubicBezTo>
                  <a:pt x="65565" y="110036"/>
                  <a:pt x="61620" y="106092"/>
                  <a:pt x="61620" y="101233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77" name="Text 75"/>
          <p:cNvSpPr/>
          <p:nvPr/>
        </p:nvSpPr>
        <p:spPr>
          <a:xfrm>
            <a:off x="8949126" y="4169049"/>
            <a:ext cx="1047544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Customers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702645" y="4450741"/>
            <a:ext cx="2834530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first-time buyers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5077066" y="5756870"/>
            <a:ext cx="6758857" cy="1098600"/>
          </a:xfrm>
          <a:custGeom>
            <a:avLst/>
            <a:gdLst/>
            <a:ahLst/>
            <a:cxnLst/>
            <a:rect l="l" t="t" r="r" b="b"/>
            <a:pathLst>
              <a:path w="6758857" h="1098600">
                <a:moveTo>
                  <a:pt x="105630" y="0"/>
                </a:moveTo>
                <a:lnTo>
                  <a:pt x="6653227" y="0"/>
                </a:lnTo>
                <a:cubicBezTo>
                  <a:pt x="6711565" y="0"/>
                  <a:pt x="6758857" y="47292"/>
                  <a:pt x="6758857" y="105630"/>
                </a:cubicBezTo>
                <a:lnTo>
                  <a:pt x="6758857" y="992970"/>
                </a:lnTo>
                <a:cubicBezTo>
                  <a:pt x="6758857" y="1051308"/>
                  <a:pt x="6711565" y="1098600"/>
                  <a:pt x="6653227" y="1098600"/>
                </a:cubicBezTo>
                <a:lnTo>
                  <a:pt x="105630" y="1098600"/>
                </a:lnTo>
                <a:cubicBezTo>
                  <a:pt x="47292" y="1098600"/>
                  <a:pt x="0" y="1051308"/>
                  <a:pt x="0" y="992970"/>
                </a:cubicBezTo>
                <a:lnTo>
                  <a:pt x="0" y="105630"/>
                </a:lnTo>
                <a:cubicBezTo>
                  <a:pt x="0" y="47331"/>
                  <a:pt x="47331" y="0"/>
                  <a:pt x="105630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91856" y="5964619"/>
            <a:ext cx="105635" cy="140846"/>
          </a:xfrm>
          <a:custGeom>
            <a:avLst/>
            <a:gdLst/>
            <a:ahLst/>
            <a:cxnLst/>
            <a:rect l="l" t="t" r="r" b="b"/>
            <a:pathLst>
              <a:path w="105635" h="140846">
                <a:moveTo>
                  <a:pt x="80574" y="105635"/>
                </a:moveTo>
                <a:cubicBezTo>
                  <a:pt x="82582" y="99500"/>
                  <a:pt x="86598" y="93943"/>
                  <a:pt x="91137" y="89157"/>
                </a:cubicBezTo>
                <a:cubicBezTo>
                  <a:pt x="100133" y="79694"/>
                  <a:pt x="105635" y="66902"/>
                  <a:pt x="105635" y="52817"/>
                </a:cubicBezTo>
                <a:cubicBezTo>
                  <a:pt x="105635" y="23658"/>
                  <a:pt x="81977" y="0"/>
                  <a:pt x="52817" y="0"/>
                </a:cubicBezTo>
                <a:cubicBezTo>
                  <a:pt x="23658" y="0"/>
                  <a:pt x="0" y="23658"/>
                  <a:pt x="0" y="52817"/>
                </a:cubicBezTo>
                <a:cubicBezTo>
                  <a:pt x="0" y="66902"/>
                  <a:pt x="5502" y="79694"/>
                  <a:pt x="14497" y="89157"/>
                </a:cubicBezTo>
                <a:cubicBezTo>
                  <a:pt x="19036" y="93943"/>
                  <a:pt x="23080" y="99500"/>
                  <a:pt x="25061" y="105635"/>
                </a:cubicBezTo>
                <a:lnTo>
                  <a:pt x="80546" y="105635"/>
                </a:lnTo>
                <a:close/>
                <a:moveTo>
                  <a:pt x="79226" y="118839"/>
                </a:moveTo>
                <a:lnTo>
                  <a:pt x="26409" y="118839"/>
                </a:lnTo>
                <a:lnTo>
                  <a:pt x="26409" y="123240"/>
                </a:lnTo>
                <a:cubicBezTo>
                  <a:pt x="26409" y="135399"/>
                  <a:pt x="36257" y="145248"/>
                  <a:pt x="48416" y="145248"/>
                </a:cubicBezTo>
                <a:lnTo>
                  <a:pt x="57219" y="145248"/>
                </a:lnTo>
                <a:cubicBezTo>
                  <a:pt x="69378" y="145248"/>
                  <a:pt x="79226" y="135399"/>
                  <a:pt x="79226" y="123240"/>
                </a:cubicBezTo>
                <a:lnTo>
                  <a:pt x="79226" y="118839"/>
                </a:lnTo>
                <a:close/>
                <a:moveTo>
                  <a:pt x="50617" y="30810"/>
                </a:moveTo>
                <a:cubicBezTo>
                  <a:pt x="39668" y="30810"/>
                  <a:pt x="30810" y="39668"/>
                  <a:pt x="30810" y="50617"/>
                </a:cubicBezTo>
                <a:cubicBezTo>
                  <a:pt x="30810" y="54275"/>
                  <a:pt x="27867" y="57219"/>
                  <a:pt x="24208" y="57219"/>
                </a:cubicBezTo>
                <a:cubicBezTo>
                  <a:pt x="20549" y="57219"/>
                  <a:pt x="17606" y="54275"/>
                  <a:pt x="17606" y="50617"/>
                </a:cubicBezTo>
                <a:cubicBezTo>
                  <a:pt x="17606" y="32378"/>
                  <a:pt x="32378" y="17606"/>
                  <a:pt x="50617" y="17606"/>
                </a:cubicBezTo>
                <a:cubicBezTo>
                  <a:pt x="54275" y="17606"/>
                  <a:pt x="57219" y="20549"/>
                  <a:pt x="57219" y="24208"/>
                </a:cubicBezTo>
                <a:cubicBezTo>
                  <a:pt x="57219" y="27867"/>
                  <a:pt x="54275" y="30810"/>
                  <a:pt x="50617" y="3081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1" name="Text 79"/>
          <p:cNvSpPr/>
          <p:nvPr/>
        </p:nvSpPr>
        <p:spPr>
          <a:xfrm>
            <a:off x="5481516" y="5936448"/>
            <a:ext cx="624525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Segmentation Matters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5256645" y="6218140"/>
            <a:ext cx="6470123" cy="45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customer groups have </a:t>
            </a:r>
            <a:pPr>
              <a:lnSpc>
                <a:spcPct val="140000"/>
              </a:lnSpc>
            </a:pPr>
            <a:r>
              <a:rPr lang="en-US" sz="1109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needs, behaviors, and values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Segmentation enables </a:t>
            </a:r>
            <a:pPr>
              <a:lnSpc>
                <a:spcPct val="140000"/>
              </a:lnSpc>
            </a:pPr>
            <a:r>
              <a:rPr lang="en-US" sz="110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marketing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10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campaigns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109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optimization</a:t>
            </a:r>
            <a:pPr>
              <a:lnSpc>
                <a:spcPct val="140000"/>
              </a:lnSpc>
            </a:pPr>
            <a:r>
              <a:rPr lang="en-US" sz="1109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65125"/>
            <a:ext cx="194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Methodology — Phase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66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Integration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11112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Revealing segment-specific purchasing patterns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3850" y="1498600"/>
            <a:ext cx="4537075" cy="3402013"/>
          </a:xfrm>
          <a:custGeom>
            <a:avLst/>
            <a:gdLst/>
            <a:ahLst/>
            <a:cxnLst/>
            <a:rect l="l" t="t" r="r" b="b"/>
            <a:pathLst>
              <a:path w="4537075" h="3402013">
                <a:moveTo>
                  <a:pt x="95256" y="0"/>
                </a:moveTo>
                <a:lnTo>
                  <a:pt x="4441819" y="0"/>
                </a:lnTo>
                <a:cubicBezTo>
                  <a:pt x="4494427" y="0"/>
                  <a:pt x="4537075" y="42648"/>
                  <a:pt x="4537075" y="95256"/>
                </a:cubicBezTo>
                <a:lnTo>
                  <a:pt x="4537075" y="3306756"/>
                </a:lnTo>
                <a:cubicBezTo>
                  <a:pt x="4537075" y="3359365"/>
                  <a:pt x="4494427" y="3402013"/>
                  <a:pt x="4441819" y="3402013"/>
                </a:cubicBezTo>
                <a:lnTo>
                  <a:pt x="95256" y="3402013"/>
                </a:lnTo>
                <a:cubicBezTo>
                  <a:pt x="42648" y="3402013"/>
                  <a:pt x="0" y="3359365"/>
                  <a:pt x="0" y="3306756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3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0320">
            <a:solidFill>
              <a:srgbClr val="4ECD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622" y="17208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758825" y="1695451"/>
            <a:ext cx="398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6575" y="2044701"/>
            <a:ext cx="4127500" cy="936625"/>
          </a:xfrm>
          <a:custGeom>
            <a:avLst/>
            <a:gdLst/>
            <a:ahLst/>
            <a:cxnLst/>
            <a:rect l="l" t="t" r="r" b="b"/>
            <a:pathLst>
              <a:path w="4127500" h="936625">
                <a:moveTo>
                  <a:pt x="31750" y="0"/>
                </a:moveTo>
                <a:lnTo>
                  <a:pt x="4063997" y="0"/>
                </a:lnTo>
                <a:cubicBezTo>
                  <a:pt x="4099069" y="0"/>
                  <a:pt x="4127500" y="28431"/>
                  <a:pt x="4127500" y="63503"/>
                </a:cubicBezTo>
                <a:lnTo>
                  <a:pt x="4127500" y="873122"/>
                </a:lnTo>
                <a:cubicBezTo>
                  <a:pt x="4127500" y="908194"/>
                  <a:pt x="4099069" y="936625"/>
                  <a:pt x="4063997" y="936625"/>
                </a:cubicBezTo>
                <a:lnTo>
                  <a:pt x="31750" y="936625"/>
                </a:lnTo>
                <a:cubicBezTo>
                  <a:pt x="14227" y="936625"/>
                  <a:pt x="0" y="922398"/>
                  <a:pt x="0" y="904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6575" y="2044701"/>
            <a:ext cx="31750" cy="936625"/>
          </a:xfrm>
          <a:custGeom>
            <a:avLst/>
            <a:gdLst/>
            <a:ahLst/>
            <a:cxnLst/>
            <a:rect l="l" t="t" r="r" b="b"/>
            <a:pathLst>
              <a:path w="31750" h="936625">
                <a:moveTo>
                  <a:pt x="31750" y="0"/>
                </a:moveTo>
                <a:lnTo>
                  <a:pt x="31750" y="0"/>
                </a:lnTo>
                <a:lnTo>
                  <a:pt x="31750" y="936625"/>
                </a:lnTo>
                <a:lnTo>
                  <a:pt x="31750" y="936625"/>
                </a:lnTo>
                <a:cubicBezTo>
                  <a:pt x="14227" y="936625"/>
                  <a:pt x="0" y="922398"/>
                  <a:pt x="0" y="904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" y="2203451"/>
            <a:ext cx="3889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"How do product associations differ across customer segments?"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0700" y="3108326"/>
            <a:ext cx="42068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where our approach becomes truly powerful. By combining association rules with customer segments, we discover that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customer groups have distinct purchasing patterns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0700" y="387032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Shape 12"/>
          <p:cNvSpPr/>
          <p:nvPr/>
        </p:nvSpPr>
        <p:spPr>
          <a:xfrm>
            <a:off x="574278" y="391795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5" name="Text 13"/>
          <p:cNvSpPr/>
          <p:nvPr/>
        </p:nvSpPr>
        <p:spPr>
          <a:xfrm>
            <a:off x="806450" y="3854451"/>
            <a:ext cx="278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Champions may prefer premium product bundles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0700" y="417195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Shape 15"/>
          <p:cNvSpPr/>
          <p:nvPr/>
        </p:nvSpPr>
        <p:spPr>
          <a:xfrm>
            <a:off x="574278" y="4219576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8" name="Text 16"/>
          <p:cNvSpPr/>
          <p:nvPr/>
        </p:nvSpPr>
        <p:spPr>
          <a:xfrm>
            <a:off x="806450" y="4156076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Price-sensitive segments show different associations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0700" y="447357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Shape 18"/>
          <p:cNvSpPr/>
          <p:nvPr/>
        </p:nvSpPr>
        <p:spPr>
          <a:xfrm>
            <a:off x="574278" y="4521201"/>
            <a:ext cx="83344" cy="95250"/>
          </a:xfrm>
          <a:custGeom>
            <a:avLst/>
            <a:gdLst/>
            <a:ahLst/>
            <a:cxnLst/>
            <a:rect l="l" t="t" r="r" b="b"/>
            <a:pathLst>
              <a:path w="83344" h="95250">
                <a:moveTo>
                  <a:pt x="80888" y="13041"/>
                </a:moveTo>
                <a:cubicBezTo>
                  <a:pt x="83548" y="14976"/>
                  <a:pt x="84144" y="18697"/>
                  <a:pt x="82209" y="21357"/>
                </a:cubicBezTo>
                <a:lnTo>
                  <a:pt x="34584" y="86841"/>
                </a:lnTo>
                <a:cubicBezTo>
                  <a:pt x="33561" y="88255"/>
                  <a:pt x="31979" y="89129"/>
                  <a:pt x="30231" y="89278"/>
                </a:cubicBezTo>
                <a:cubicBezTo>
                  <a:pt x="28482" y="89427"/>
                  <a:pt x="26789" y="88776"/>
                  <a:pt x="25561" y="87548"/>
                </a:cubicBezTo>
                <a:lnTo>
                  <a:pt x="1749" y="63736"/>
                </a:lnTo>
                <a:cubicBezTo>
                  <a:pt x="-577" y="61410"/>
                  <a:pt x="-577" y="57634"/>
                  <a:pt x="1749" y="55308"/>
                </a:cubicBezTo>
                <a:cubicBezTo>
                  <a:pt x="4074" y="52983"/>
                  <a:pt x="7851" y="52983"/>
                  <a:pt x="10176" y="55308"/>
                </a:cubicBezTo>
                <a:lnTo>
                  <a:pt x="29059" y="74191"/>
                </a:lnTo>
                <a:lnTo>
                  <a:pt x="72591" y="14343"/>
                </a:lnTo>
                <a:cubicBezTo>
                  <a:pt x="74526" y="11683"/>
                  <a:pt x="78246" y="11088"/>
                  <a:pt x="80907" y="13022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1" name="Text 19"/>
          <p:cNvSpPr/>
          <p:nvPr/>
        </p:nvSpPr>
        <p:spPr>
          <a:xfrm>
            <a:off x="806450" y="4457701"/>
            <a:ext cx="3119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customers have unique cross-selling opportunities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675" y="5070474"/>
            <a:ext cx="4538663" cy="1466850"/>
          </a:xfrm>
          <a:custGeom>
            <a:avLst/>
            <a:gdLst/>
            <a:ahLst/>
            <a:cxnLst/>
            <a:rect l="l" t="t" r="r" b="b"/>
            <a:pathLst>
              <a:path w="4538663" h="1466850">
                <a:moveTo>
                  <a:pt x="95257" y="0"/>
                </a:moveTo>
                <a:lnTo>
                  <a:pt x="4443405" y="0"/>
                </a:lnTo>
                <a:cubicBezTo>
                  <a:pt x="4496014" y="0"/>
                  <a:pt x="4538663" y="42648"/>
                  <a:pt x="4538663" y="95257"/>
                </a:cubicBezTo>
                <a:lnTo>
                  <a:pt x="4538663" y="1371593"/>
                </a:lnTo>
                <a:cubicBezTo>
                  <a:pt x="4538663" y="1424202"/>
                  <a:pt x="4496014" y="1466850"/>
                  <a:pt x="4443405" y="1466850"/>
                </a:cubicBezTo>
                <a:lnTo>
                  <a:pt x="95257" y="1466850"/>
                </a:lnTo>
                <a:cubicBezTo>
                  <a:pt x="42648" y="1466850"/>
                  <a:pt x="0" y="1424202"/>
                  <a:pt x="0" y="1371593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0537" y="525779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7099" y="59531"/>
                </a:moveTo>
                <a:lnTo>
                  <a:pt x="83443" y="59531"/>
                </a:lnTo>
                <a:cubicBezTo>
                  <a:pt x="79053" y="59531"/>
                  <a:pt x="75505" y="55984"/>
                  <a:pt x="75505" y="51594"/>
                </a:cubicBezTo>
                <a:lnTo>
                  <a:pt x="75505" y="7938"/>
                </a:lnTo>
                <a:cubicBezTo>
                  <a:pt x="75505" y="3547"/>
                  <a:pt x="79077" y="-50"/>
                  <a:pt x="83418" y="521"/>
                </a:cubicBezTo>
                <a:cubicBezTo>
                  <a:pt x="109959" y="4043"/>
                  <a:pt x="130994" y="25078"/>
                  <a:pt x="134516" y="51619"/>
                </a:cubicBezTo>
                <a:cubicBezTo>
                  <a:pt x="135086" y="55959"/>
                  <a:pt x="131490" y="59531"/>
                  <a:pt x="127099" y="59531"/>
                </a:cubicBezTo>
                <a:close/>
                <a:moveTo>
                  <a:pt x="55215" y="9227"/>
                </a:moveTo>
                <a:cubicBezTo>
                  <a:pt x="59705" y="8285"/>
                  <a:pt x="63599" y="11956"/>
                  <a:pt x="63599" y="16545"/>
                </a:cubicBezTo>
                <a:lnTo>
                  <a:pt x="63599" y="65484"/>
                </a:lnTo>
                <a:cubicBezTo>
                  <a:pt x="63599" y="66873"/>
                  <a:pt x="64095" y="68213"/>
                  <a:pt x="64963" y="69279"/>
                </a:cubicBezTo>
                <a:lnTo>
                  <a:pt x="97730" y="108818"/>
                </a:lnTo>
                <a:cubicBezTo>
                  <a:pt x="100633" y="112316"/>
                  <a:pt x="100013" y="117599"/>
                  <a:pt x="96019" y="119757"/>
                </a:cubicBezTo>
                <a:cubicBezTo>
                  <a:pt x="87561" y="124371"/>
                  <a:pt x="77862" y="127000"/>
                  <a:pt x="67568" y="127000"/>
                </a:cubicBezTo>
                <a:cubicBezTo>
                  <a:pt x="34702" y="127000"/>
                  <a:pt x="8037" y="100335"/>
                  <a:pt x="8037" y="67469"/>
                </a:cubicBezTo>
                <a:cubicBezTo>
                  <a:pt x="8037" y="38819"/>
                  <a:pt x="28253" y="14908"/>
                  <a:pt x="55215" y="9227"/>
                </a:cubicBezTo>
                <a:close/>
                <a:moveTo>
                  <a:pt x="118517" y="71438"/>
                </a:moveTo>
                <a:lnTo>
                  <a:pt x="134392" y="71438"/>
                </a:lnTo>
                <a:cubicBezTo>
                  <a:pt x="138981" y="71438"/>
                  <a:pt x="142652" y="75332"/>
                  <a:pt x="141709" y="79821"/>
                </a:cubicBezTo>
                <a:cubicBezTo>
                  <a:pt x="139179" y="91827"/>
                  <a:pt x="133028" y="102493"/>
                  <a:pt x="124445" y="110629"/>
                </a:cubicBezTo>
                <a:cubicBezTo>
                  <a:pt x="121394" y="113531"/>
                  <a:pt x="116607" y="112911"/>
                  <a:pt x="113928" y="109662"/>
                </a:cubicBezTo>
                <a:lnTo>
                  <a:pt x="92993" y="84435"/>
                </a:lnTo>
                <a:cubicBezTo>
                  <a:pt x="88702" y="79251"/>
                  <a:pt x="92397" y="71438"/>
                  <a:pt x="99095" y="71438"/>
                </a:cubicBezTo>
                <a:lnTo>
                  <a:pt x="118492" y="7143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681037" y="5232402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Insight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2600" y="5486402"/>
            <a:ext cx="4214813" cy="889000"/>
          </a:xfrm>
          <a:custGeom>
            <a:avLst/>
            <a:gdLst/>
            <a:ahLst/>
            <a:cxnLst/>
            <a:rect l="l" t="t" r="r" b="b"/>
            <a:pathLst>
              <a:path w="4214813" h="889000">
                <a:moveTo>
                  <a:pt x="63501" y="0"/>
                </a:moveTo>
                <a:lnTo>
                  <a:pt x="4151311" y="0"/>
                </a:lnTo>
                <a:cubicBezTo>
                  <a:pt x="4186382" y="0"/>
                  <a:pt x="4214813" y="28430"/>
                  <a:pt x="4214813" y="63501"/>
                </a:cubicBezTo>
                <a:lnTo>
                  <a:pt x="4214813" y="825499"/>
                </a:lnTo>
                <a:cubicBezTo>
                  <a:pt x="4214813" y="860570"/>
                  <a:pt x="4186382" y="889000"/>
                  <a:pt x="415131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3">
              <a:alpha val="7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9600" y="5613402"/>
            <a:ext cx="401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Rule: {Laptop} → {Mouse, Keyboard}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5835652"/>
            <a:ext cx="402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Champions: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85% confidence |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3A5F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Price-sensitive: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45% confidence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9600" y="6089652"/>
            <a:ext cx="401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Different strategies needed for each segment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57775" y="1495425"/>
            <a:ext cx="6816725" cy="2641600"/>
          </a:xfrm>
          <a:custGeom>
            <a:avLst/>
            <a:gdLst/>
            <a:ahLst/>
            <a:cxnLst/>
            <a:rect l="l" t="t" r="r" b="b"/>
            <a:pathLst>
              <a:path w="6816725" h="2641600">
                <a:moveTo>
                  <a:pt x="95256" y="0"/>
                </a:moveTo>
                <a:lnTo>
                  <a:pt x="6721469" y="0"/>
                </a:lnTo>
                <a:cubicBezTo>
                  <a:pt x="6774077" y="0"/>
                  <a:pt x="6816725" y="42648"/>
                  <a:pt x="6816725" y="95256"/>
                </a:cubicBezTo>
                <a:lnTo>
                  <a:pt x="6816725" y="2546344"/>
                </a:lnTo>
                <a:cubicBezTo>
                  <a:pt x="6816725" y="2598952"/>
                  <a:pt x="6774077" y="2641600"/>
                  <a:pt x="6721469" y="2641600"/>
                </a:cubicBezTo>
                <a:lnTo>
                  <a:pt x="95256" y="2641600"/>
                </a:lnTo>
                <a:cubicBezTo>
                  <a:pt x="42648" y="2641600"/>
                  <a:pt x="0" y="2598952"/>
                  <a:pt x="0" y="254634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71294" y="1714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9575" y="1689102"/>
            <a:ext cx="627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Workflow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51450" y="20383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19229" y="2117727"/>
            <a:ext cx="11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59450" y="2038352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Association Rules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59450" y="2228852"/>
            <a:ext cx="597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Mine product relationships from full dataset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51450" y="25463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05537" y="2625727"/>
            <a:ext cx="14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59450" y="2546352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Customers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59450" y="2736852"/>
            <a:ext cx="597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K-Means clustering with RFM features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51450" y="30543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403652" y="3133727"/>
            <a:ext cx="15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759450" y="3054352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by Segment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59450" y="3244852"/>
            <a:ext cx="597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Re-run association mining for each customer group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51450" y="35623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5" name="Text 43"/>
          <p:cNvSpPr/>
          <p:nvPr/>
        </p:nvSpPr>
        <p:spPr>
          <a:xfrm>
            <a:off x="5405636" y="3641727"/>
            <a:ext cx="14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759450" y="3562352"/>
            <a:ext cx="598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&amp; Analyze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759450" y="3752852"/>
            <a:ext cx="597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segment-specific patterns and differences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57775" y="4302126"/>
            <a:ext cx="6816725" cy="2236788"/>
          </a:xfrm>
          <a:custGeom>
            <a:avLst/>
            <a:gdLst/>
            <a:ahLst/>
            <a:cxnLst/>
            <a:rect l="l" t="t" r="r" b="b"/>
            <a:pathLst>
              <a:path w="6816725" h="2236788">
                <a:moveTo>
                  <a:pt x="95242" y="0"/>
                </a:moveTo>
                <a:lnTo>
                  <a:pt x="6721483" y="0"/>
                </a:lnTo>
                <a:cubicBezTo>
                  <a:pt x="6774084" y="0"/>
                  <a:pt x="6816725" y="42641"/>
                  <a:pt x="6816725" y="95242"/>
                </a:cubicBezTo>
                <a:lnTo>
                  <a:pt x="6816725" y="2141545"/>
                </a:lnTo>
                <a:cubicBezTo>
                  <a:pt x="6816725" y="2194146"/>
                  <a:pt x="6774084" y="2236787"/>
                  <a:pt x="6721483" y="2236788"/>
                </a:cubicBezTo>
                <a:lnTo>
                  <a:pt x="95242" y="2236788"/>
                </a:lnTo>
                <a:cubicBezTo>
                  <a:pt x="42641" y="2236788"/>
                  <a:pt x="0" y="2194146"/>
                  <a:pt x="0" y="2141545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91138" y="4521201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5489575" y="4495799"/>
            <a:ext cx="627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Discover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51450" y="4845049"/>
            <a:ext cx="3151188" cy="666750"/>
          </a:xfrm>
          <a:custGeom>
            <a:avLst/>
            <a:gdLst/>
            <a:ahLst/>
            <a:cxnLst/>
            <a:rect l="l" t="t" r="r" b="b"/>
            <a:pathLst>
              <a:path w="3151188" h="666750">
                <a:moveTo>
                  <a:pt x="63501" y="0"/>
                </a:moveTo>
                <a:lnTo>
                  <a:pt x="3087686" y="0"/>
                </a:lnTo>
                <a:cubicBezTo>
                  <a:pt x="3122757" y="0"/>
                  <a:pt x="3151188" y="28430"/>
                  <a:pt x="3151188" y="63501"/>
                </a:cubicBezTo>
                <a:lnTo>
                  <a:pt x="3151188" y="603249"/>
                </a:lnTo>
                <a:cubicBezTo>
                  <a:pt x="3151188" y="638320"/>
                  <a:pt x="3122757" y="666750"/>
                  <a:pt x="3087686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402263" y="4997451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3911" y="20290"/>
                </a:moveTo>
                <a:cubicBezTo>
                  <a:pt x="96341" y="16644"/>
                  <a:pt x="95349" y="11708"/>
                  <a:pt x="91703" y="9277"/>
                </a:cubicBezTo>
                <a:cubicBezTo>
                  <a:pt x="88057" y="6846"/>
                  <a:pt x="83121" y="7838"/>
                  <a:pt x="80690" y="11485"/>
                </a:cubicBezTo>
                <a:lnTo>
                  <a:pt x="67196" y="31750"/>
                </a:lnTo>
                <a:lnTo>
                  <a:pt x="7938" y="31750"/>
                </a:lnTo>
                <a:cubicBezTo>
                  <a:pt x="3547" y="31750"/>
                  <a:pt x="0" y="35297"/>
                  <a:pt x="0" y="39688"/>
                </a:cubicBezTo>
                <a:cubicBezTo>
                  <a:pt x="0" y="44078"/>
                  <a:pt x="3547" y="47625"/>
                  <a:pt x="7938" y="47625"/>
                </a:cubicBezTo>
                <a:lnTo>
                  <a:pt x="56604" y="47625"/>
                </a:lnTo>
                <a:lnTo>
                  <a:pt x="35446" y="79375"/>
                </a:lnTo>
                <a:lnTo>
                  <a:pt x="7937" y="79375"/>
                </a:lnTo>
                <a:cubicBezTo>
                  <a:pt x="3547" y="79375"/>
                  <a:pt x="0" y="82922"/>
                  <a:pt x="0" y="87313"/>
                </a:cubicBezTo>
                <a:cubicBezTo>
                  <a:pt x="0" y="91703"/>
                  <a:pt x="3547" y="95250"/>
                  <a:pt x="7937" y="95250"/>
                </a:cubicBezTo>
                <a:lnTo>
                  <a:pt x="24854" y="95250"/>
                </a:lnTo>
                <a:lnTo>
                  <a:pt x="17214" y="106710"/>
                </a:lnTo>
                <a:cubicBezTo>
                  <a:pt x="14784" y="110356"/>
                  <a:pt x="15776" y="115292"/>
                  <a:pt x="19422" y="117723"/>
                </a:cubicBezTo>
                <a:cubicBezTo>
                  <a:pt x="23068" y="120154"/>
                  <a:pt x="28004" y="119162"/>
                  <a:pt x="30435" y="115515"/>
                </a:cubicBezTo>
                <a:lnTo>
                  <a:pt x="43929" y="95250"/>
                </a:lnTo>
                <a:lnTo>
                  <a:pt x="103188" y="95250"/>
                </a:lnTo>
                <a:cubicBezTo>
                  <a:pt x="107578" y="95250"/>
                  <a:pt x="111125" y="91703"/>
                  <a:pt x="111125" y="87313"/>
                </a:cubicBezTo>
                <a:cubicBezTo>
                  <a:pt x="111125" y="82922"/>
                  <a:pt x="107578" y="79375"/>
                  <a:pt x="103188" y="79375"/>
                </a:cubicBezTo>
                <a:lnTo>
                  <a:pt x="54521" y="79375"/>
                </a:lnTo>
                <a:lnTo>
                  <a:pt x="75679" y="47625"/>
                </a:lnTo>
                <a:lnTo>
                  <a:pt x="103188" y="47625"/>
                </a:lnTo>
                <a:cubicBezTo>
                  <a:pt x="107578" y="47625"/>
                  <a:pt x="111125" y="44078"/>
                  <a:pt x="111125" y="39688"/>
                </a:cubicBezTo>
                <a:cubicBezTo>
                  <a:pt x="111125" y="35297"/>
                  <a:pt x="107578" y="31750"/>
                  <a:pt x="103188" y="31750"/>
                </a:cubicBezTo>
                <a:lnTo>
                  <a:pt x="86271" y="31750"/>
                </a:lnTo>
                <a:lnTo>
                  <a:pt x="93911" y="2029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3" name="Text 51"/>
          <p:cNvSpPr/>
          <p:nvPr/>
        </p:nvSpPr>
        <p:spPr>
          <a:xfrm>
            <a:off x="5576888" y="4972049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Patterns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78450" y="5226049"/>
            <a:ext cx="295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products, different associations per segment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28050" y="4845049"/>
            <a:ext cx="3151188" cy="666750"/>
          </a:xfrm>
          <a:custGeom>
            <a:avLst/>
            <a:gdLst/>
            <a:ahLst/>
            <a:cxnLst/>
            <a:rect l="l" t="t" r="r" b="b"/>
            <a:pathLst>
              <a:path w="3151188" h="666750">
                <a:moveTo>
                  <a:pt x="63501" y="0"/>
                </a:moveTo>
                <a:lnTo>
                  <a:pt x="3087686" y="0"/>
                </a:lnTo>
                <a:cubicBezTo>
                  <a:pt x="3122757" y="0"/>
                  <a:pt x="3151188" y="28430"/>
                  <a:pt x="3151188" y="63501"/>
                </a:cubicBezTo>
                <a:lnTo>
                  <a:pt x="3151188" y="603249"/>
                </a:lnTo>
                <a:cubicBezTo>
                  <a:pt x="3151188" y="638320"/>
                  <a:pt x="3122757" y="666750"/>
                  <a:pt x="3087686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8863" y="4997451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47625" y="31750"/>
                </a:moveTo>
                <a:cubicBezTo>
                  <a:pt x="47625" y="18608"/>
                  <a:pt x="36955" y="7938"/>
                  <a:pt x="23812" y="7938"/>
                </a:cubicBezTo>
                <a:cubicBezTo>
                  <a:pt x="10670" y="7938"/>
                  <a:pt x="0" y="18608"/>
                  <a:pt x="0" y="31750"/>
                </a:cubicBezTo>
                <a:cubicBezTo>
                  <a:pt x="0" y="44892"/>
                  <a:pt x="10670" y="55563"/>
                  <a:pt x="23812" y="55563"/>
                </a:cubicBezTo>
                <a:cubicBezTo>
                  <a:pt x="36955" y="55563"/>
                  <a:pt x="47625" y="44892"/>
                  <a:pt x="47625" y="31750"/>
                </a:cubicBezTo>
                <a:close/>
                <a:moveTo>
                  <a:pt x="111125" y="95250"/>
                </a:moveTo>
                <a:cubicBezTo>
                  <a:pt x="111125" y="82108"/>
                  <a:pt x="100455" y="71438"/>
                  <a:pt x="87313" y="71438"/>
                </a:cubicBezTo>
                <a:cubicBezTo>
                  <a:pt x="74170" y="71438"/>
                  <a:pt x="63500" y="82108"/>
                  <a:pt x="63500" y="95250"/>
                </a:cubicBezTo>
                <a:cubicBezTo>
                  <a:pt x="63500" y="108392"/>
                  <a:pt x="74170" y="119063"/>
                  <a:pt x="87313" y="119063"/>
                </a:cubicBezTo>
                <a:cubicBezTo>
                  <a:pt x="100455" y="119063"/>
                  <a:pt x="111125" y="108392"/>
                  <a:pt x="111125" y="95250"/>
                </a:cubicBezTo>
                <a:close/>
                <a:moveTo>
                  <a:pt x="108793" y="21481"/>
                </a:moveTo>
                <a:cubicBezTo>
                  <a:pt x="111894" y="18380"/>
                  <a:pt x="111894" y="13345"/>
                  <a:pt x="108793" y="10244"/>
                </a:cubicBezTo>
                <a:cubicBezTo>
                  <a:pt x="105693" y="7144"/>
                  <a:pt x="100657" y="7144"/>
                  <a:pt x="97557" y="10244"/>
                </a:cubicBezTo>
                <a:lnTo>
                  <a:pt x="2307" y="105494"/>
                </a:lnTo>
                <a:cubicBezTo>
                  <a:pt x="-794" y="108595"/>
                  <a:pt x="-794" y="113630"/>
                  <a:pt x="2307" y="116731"/>
                </a:cubicBezTo>
                <a:cubicBezTo>
                  <a:pt x="5407" y="119831"/>
                  <a:pt x="10443" y="119831"/>
                  <a:pt x="13543" y="116731"/>
                </a:cubicBezTo>
                <a:lnTo>
                  <a:pt x="108793" y="2148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7" name="Text 55"/>
          <p:cNvSpPr/>
          <p:nvPr/>
        </p:nvSpPr>
        <p:spPr>
          <a:xfrm>
            <a:off x="8853488" y="4972049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Varying Strengths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55050" y="5226049"/>
            <a:ext cx="295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&amp; lift differ across customer groups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251450" y="5638799"/>
            <a:ext cx="3151188" cy="666750"/>
          </a:xfrm>
          <a:custGeom>
            <a:avLst/>
            <a:gdLst/>
            <a:ahLst/>
            <a:cxnLst/>
            <a:rect l="l" t="t" r="r" b="b"/>
            <a:pathLst>
              <a:path w="3151188" h="666750">
                <a:moveTo>
                  <a:pt x="63501" y="0"/>
                </a:moveTo>
                <a:lnTo>
                  <a:pt x="3087686" y="0"/>
                </a:lnTo>
                <a:cubicBezTo>
                  <a:pt x="3122757" y="0"/>
                  <a:pt x="3151188" y="28430"/>
                  <a:pt x="3151188" y="63501"/>
                </a:cubicBezTo>
                <a:lnTo>
                  <a:pt x="3151188" y="603249"/>
                </a:lnTo>
                <a:cubicBezTo>
                  <a:pt x="3151188" y="638320"/>
                  <a:pt x="3122757" y="666750"/>
                  <a:pt x="3087686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5394325" y="579120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1125" y="63500"/>
                </a:moveTo>
                <a:cubicBezTo>
                  <a:pt x="111125" y="37215"/>
                  <a:pt x="89785" y="15875"/>
                  <a:pt x="63500" y="15875"/>
                </a:cubicBezTo>
                <a:cubicBezTo>
                  <a:pt x="37215" y="15875"/>
                  <a:pt x="15875" y="37215"/>
                  <a:pt x="15875" y="63500"/>
                </a:cubicBezTo>
                <a:cubicBezTo>
                  <a:pt x="15875" y="89785"/>
                  <a:pt x="37215" y="111125"/>
                  <a:pt x="63500" y="111125"/>
                </a:cubicBezTo>
                <a:cubicBezTo>
                  <a:pt x="89785" y="111125"/>
                  <a:pt x="111125" y="89785"/>
                  <a:pt x="111125" y="63500"/>
                </a:cubicBez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  <a:moveTo>
                  <a:pt x="63500" y="83344"/>
                </a:moveTo>
                <a:cubicBezTo>
                  <a:pt x="74452" y="83344"/>
                  <a:pt x="83344" y="74452"/>
                  <a:pt x="83344" y="63500"/>
                </a:cubicBezTo>
                <a:cubicBezTo>
                  <a:pt x="83344" y="52548"/>
                  <a:pt x="74452" y="43656"/>
                  <a:pt x="63500" y="43656"/>
                </a:cubicBezTo>
                <a:cubicBezTo>
                  <a:pt x="52548" y="43656"/>
                  <a:pt x="43656" y="52548"/>
                  <a:pt x="43656" y="63500"/>
                </a:cubicBezTo>
                <a:cubicBezTo>
                  <a:pt x="43656" y="74452"/>
                  <a:pt x="52548" y="83344"/>
                  <a:pt x="63500" y="83344"/>
                </a:cubicBezTo>
                <a:close/>
                <a:moveTo>
                  <a:pt x="63500" y="27781"/>
                </a:moveTo>
                <a:cubicBezTo>
                  <a:pt x="83214" y="27781"/>
                  <a:pt x="99219" y="43786"/>
                  <a:pt x="99219" y="63500"/>
                </a:cubicBezTo>
                <a:cubicBezTo>
                  <a:pt x="99219" y="83214"/>
                  <a:pt x="83214" y="99219"/>
                  <a:pt x="63500" y="99219"/>
                </a:cubicBezTo>
                <a:cubicBezTo>
                  <a:pt x="43786" y="99219"/>
                  <a:pt x="27781" y="83214"/>
                  <a:pt x="27781" y="63500"/>
                </a:cubicBezTo>
                <a:cubicBezTo>
                  <a:pt x="27781" y="43786"/>
                  <a:pt x="43786" y="27781"/>
                  <a:pt x="63500" y="27781"/>
                </a:cubicBezTo>
                <a:close/>
                <a:moveTo>
                  <a:pt x="55563" y="63500"/>
                </a:moveTo>
                <a:cubicBezTo>
                  <a:pt x="55563" y="59119"/>
                  <a:pt x="59119" y="55563"/>
                  <a:pt x="63500" y="55563"/>
                </a:cubicBezTo>
                <a:cubicBezTo>
                  <a:pt x="67881" y="55563"/>
                  <a:pt x="71438" y="59119"/>
                  <a:pt x="71438" y="63500"/>
                </a:cubicBezTo>
                <a:cubicBezTo>
                  <a:pt x="71438" y="67881"/>
                  <a:pt x="67881" y="71438"/>
                  <a:pt x="63500" y="71438"/>
                </a:cubicBezTo>
                <a:cubicBezTo>
                  <a:pt x="59119" y="71438"/>
                  <a:pt x="55563" y="67881"/>
                  <a:pt x="55563" y="635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1" name="Text 59"/>
          <p:cNvSpPr/>
          <p:nvPr/>
        </p:nvSpPr>
        <p:spPr>
          <a:xfrm>
            <a:off x="5576888" y="5765799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Opportunities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378450" y="6019799"/>
            <a:ext cx="295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Segment-specific cross-selling strategies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528050" y="5638799"/>
            <a:ext cx="3151188" cy="666750"/>
          </a:xfrm>
          <a:custGeom>
            <a:avLst/>
            <a:gdLst/>
            <a:ahLst/>
            <a:cxnLst/>
            <a:rect l="l" t="t" r="r" b="b"/>
            <a:pathLst>
              <a:path w="3151188" h="666750">
                <a:moveTo>
                  <a:pt x="63501" y="0"/>
                </a:moveTo>
                <a:lnTo>
                  <a:pt x="3087686" y="0"/>
                </a:lnTo>
                <a:cubicBezTo>
                  <a:pt x="3122757" y="0"/>
                  <a:pt x="3151188" y="28430"/>
                  <a:pt x="3151188" y="63501"/>
                </a:cubicBezTo>
                <a:lnTo>
                  <a:pt x="3151188" y="603249"/>
                </a:lnTo>
                <a:cubicBezTo>
                  <a:pt x="3151188" y="638320"/>
                  <a:pt x="3122757" y="666750"/>
                  <a:pt x="3087686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655050" y="5791201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63624" y="1984"/>
                </a:moveTo>
                <a:cubicBezTo>
                  <a:pt x="80052" y="1984"/>
                  <a:pt x="93390" y="15322"/>
                  <a:pt x="93390" y="31750"/>
                </a:cubicBezTo>
                <a:cubicBezTo>
                  <a:pt x="93390" y="48178"/>
                  <a:pt x="80052" y="61516"/>
                  <a:pt x="63624" y="61516"/>
                </a:cubicBezTo>
                <a:cubicBezTo>
                  <a:pt x="47196" y="61516"/>
                  <a:pt x="33858" y="48178"/>
                  <a:pt x="33858" y="31750"/>
                </a:cubicBezTo>
                <a:cubicBezTo>
                  <a:pt x="33858" y="15322"/>
                  <a:pt x="47196" y="1984"/>
                  <a:pt x="63624" y="1984"/>
                </a:cubicBezTo>
                <a:close/>
                <a:moveTo>
                  <a:pt x="56232" y="75406"/>
                </a:moveTo>
                <a:lnTo>
                  <a:pt x="70966" y="75406"/>
                </a:lnTo>
                <a:lnTo>
                  <a:pt x="71338" y="75406"/>
                </a:lnTo>
                <a:cubicBezTo>
                  <a:pt x="68138" y="82054"/>
                  <a:pt x="69404" y="89843"/>
                  <a:pt x="74191" y="95126"/>
                </a:cubicBezTo>
                <a:cubicBezTo>
                  <a:pt x="69180" y="100657"/>
                  <a:pt x="68039" y="108967"/>
                  <a:pt x="71859" y="115813"/>
                </a:cubicBezTo>
                <a:lnTo>
                  <a:pt x="77440" y="125834"/>
                </a:lnTo>
                <a:cubicBezTo>
                  <a:pt x="77663" y="126231"/>
                  <a:pt x="77912" y="126628"/>
                  <a:pt x="78160" y="127000"/>
                </a:cubicBezTo>
                <a:lnTo>
                  <a:pt x="19372" y="127000"/>
                </a:lnTo>
                <a:cubicBezTo>
                  <a:pt x="15304" y="127000"/>
                  <a:pt x="12005" y="123701"/>
                  <a:pt x="12005" y="119633"/>
                </a:cubicBezTo>
                <a:cubicBezTo>
                  <a:pt x="12005" y="95200"/>
                  <a:pt x="31800" y="75406"/>
                  <a:pt x="56232" y="75406"/>
                </a:cubicBezTo>
                <a:close/>
                <a:moveTo>
                  <a:pt x="107305" y="61416"/>
                </a:moveTo>
                <a:cubicBezTo>
                  <a:pt x="107305" y="58117"/>
                  <a:pt x="109959" y="55463"/>
                  <a:pt x="113258" y="55463"/>
                </a:cubicBezTo>
                <a:lnTo>
                  <a:pt x="125164" y="55463"/>
                </a:lnTo>
                <a:cubicBezTo>
                  <a:pt x="128463" y="55463"/>
                  <a:pt x="131118" y="58117"/>
                  <a:pt x="131118" y="61416"/>
                </a:cubicBezTo>
                <a:lnTo>
                  <a:pt x="131118" y="62929"/>
                </a:lnTo>
                <a:cubicBezTo>
                  <a:pt x="131118" y="67618"/>
                  <a:pt x="137096" y="71065"/>
                  <a:pt x="141163" y="68734"/>
                </a:cubicBezTo>
                <a:lnTo>
                  <a:pt x="142404" y="68014"/>
                </a:lnTo>
                <a:cubicBezTo>
                  <a:pt x="145281" y="66353"/>
                  <a:pt x="148977" y="67370"/>
                  <a:pt x="150589" y="70272"/>
                </a:cubicBezTo>
                <a:lnTo>
                  <a:pt x="156146" y="80243"/>
                </a:lnTo>
                <a:cubicBezTo>
                  <a:pt x="157683" y="83021"/>
                  <a:pt x="156790" y="86494"/>
                  <a:pt x="154112" y="88181"/>
                </a:cubicBezTo>
                <a:lnTo>
                  <a:pt x="152946" y="88900"/>
                </a:lnTo>
                <a:cubicBezTo>
                  <a:pt x="148927" y="91405"/>
                  <a:pt x="148927" y="98797"/>
                  <a:pt x="152946" y="101327"/>
                </a:cubicBezTo>
                <a:lnTo>
                  <a:pt x="154087" y="102046"/>
                </a:lnTo>
                <a:cubicBezTo>
                  <a:pt x="156766" y="103733"/>
                  <a:pt x="157683" y="107206"/>
                  <a:pt x="156146" y="109984"/>
                </a:cubicBezTo>
                <a:lnTo>
                  <a:pt x="150564" y="120005"/>
                </a:lnTo>
                <a:cubicBezTo>
                  <a:pt x="148952" y="122907"/>
                  <a:pt x="145256" y="123949"/>
                  <a:pt x="142379" y="122262"/>
                </a:cubicBezTo>
                <a:lnTo>
                  <a:pt x="141163" y="121543"/>
                </a:lnTo>
                <a:cubicBezTo>
                  <a:pt x="137096" y="119187"/>
                  <a:pt x="131118" y="122659"/>
                  <a:pt x="131118" y="127347"/>
                </a:cubicBezTo>
                <a:lnTo>
                  <a:pt x="131118" y="128860"/>
                </a:lnTo>
                <a:cubicBezTo>
                  <a:pt x="131118" y="132159"/>
                  <a:pt x="128463" y="134813"/>
                  <a:pt x="125164" y="134813"/>
                </a:cubicBezTo>
                <a:lnTo>
                  <a:pt x="113258" y="134813"/>
                </a:lnTo>
                <a:cubicBezTo>
                  <a:pt x="109959" y="134813"/>
                  <a:pt x="107305" y="132159"/>
                  <a:pt x="107305" y="128860"/>
                </a:cubicBezTo>
                <a:lnTo>
                  <a:pt x="107305" y="127397"/>
                </a:lnTo>
                <a:cubicBezTo>
                  <a:pt x="107305" y="122684"/>
                  <a:pt x="101302" y="119211"/>
                  <a:pt x="97210" y="121568"/>
                </a:cubicBezTo>
                <a:lnTo>
                  <a:pt x="96019" y="122262"/>
                </a:lnTo>
                <a:cubicBezTo>
                  <a:pt x="93142" y="123924"/>
                  <a:pt x="89471" y="122907"/>
                  <a:pt x="87833" y="120005"/>
                </a:cubicBezTo>
                <a:lnTo>
                  <a:pt x="82228" y="109984"/>
                </a:lnTo>
                <a:cubicBezTo>
                  <a:pt x="80690" y="107206"/>
                  <a:pt x="81583" y="103708"/>
                  <a:pt x="84286" y="102022"/>
                </a:cubicBezTo>
                <a:lnTo>
                  <a:pt x="85378" y="101352"/>
                </a:lnTo>
                <a:cubicBezTo>
                  <a:pt x="89421" y="98847"/>
                  <a:pt x="89421" y="91405"/>
                  <a:pt x="85378" y="88900"/>
                </a:cubicBezTo>
                <a:lnTo>
                  <a:pt x="84262" y="88205"/>
                </a:lnTo>
                <a:cubicBezTo>
                  <a:pt x="81558" y="86519"/>
                  <a:pt x="80665" y="83021"/>
                  <a:pt x="82203" y="80243"/>
                </a:cubicBezTo>
                <a:lnTo>
                  <a:pt x="87784" y="70247"/>
                </a:lnTo>
                <a:cubicBezTo>
                  <a:pt x="89396" y="67345"/>
                  <a:pt x="93092" y="66328"/>
                  <a:pt x="95945" y="67990"/>
                </a:cubicBezTo>
                <a:lnTo>
                  <a:pt x="97135" y="68684"/>
                </a:lnTo>
                <a:cubicBezTo>
                  <a:pt x="101228" y="71041"/>
                  <a:pt x="107231" y="67568"/>
                  <a:pt x="107231" y="62855"/>
                </a:cubicBezTo>
                <a:lnTo>
                  <a:pt x="107231" y="61392"/>
                </a:lnTo>
                <a:close/>
                <a:moveTo>
                  <a:pt x="132085" y="95200"/>
                </a:moveTo>
                <a:cubicBezTo>
                  <a:pt x="132085" y="88082"/>
                  <a:pt x="126305" y="82302"/>
                  <a:pt x="119187" y="82302"/>
                </a:cubicBezTo>
                <a:cubicBezTo>
                  <a:pt x="112068" y="82302"/>
                  <a:pt x="106288" y="88082"/>
                  <a:pt x="106288" y="95200"/>
                </a:cubicBezTo>
                <a:cubicBezTo>
                  <a:pt x="106288" y="102319"/>
                  <a:pt x="112068" y="108099"/>
                  <a:pt x="119187" y="108099"/>
                </a:cubicBezTo>
                <a:cubicBezTo>
                  <a:pt x="126305" y="108099"/>
                  <a:pt x="132085" y="102319"/>
                  <a:pt x="132085" y="952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5" name="Text 63"/>
          <p:cNvSpPr/>
          <p:nvPr/>
        </p:nvSpPr>
        <p:spPr>
          <a:xfrm>
            <a:off x="8853488" y="5765799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655050" y="6019799"/>
            <a:ext cx="295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Tailored recommendations for each group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Expected Outcomes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335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raw data to strategic 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794510"/>
            <a:ext cx="3674745" cy="3093720"/>
          </a:xfrm>
          <a:custGeom>
            <a:avLst/>
            <a:gdLst/>
            <a:ahLst/>
            <a:cxnLst/>
            <a:rect l="l" t="t" r="r" b="b"/>
            <a:pathLst>
              <a:path w="3674745" h="3093720">
                <a:moveTo>
                  <a:pt x="114313" y="0"/>
                </a:moveTo>
                <a:lnTo>
                  <a:pt x="3560432" y="0"/>
                </a:lnTo>
                <a:cubicBezTo>
                  <a:pt x="3623565" y="0"/>
                  <a:pt x="3674745" y="51180"/>
                  <a:pt x="3674745" y="114313"/>
                </a:cubicBezTo>
                <a:lnTo>
                  <a:pt x="3674745" y="2979407"/>
                </a:lnTo>
                <a:cubicBezTo>
                  <a:pt x="3674745" y="3042540"/>
                  <a:pt x="3623565" y="3093720"/>
                  <a:pt x="3560432" y="3093720"/>
                </a:cubicBezTo>
                <a:lnTo>
                  <a:pt x="114313" y="3093720"/>
                </a:lnTo>
                <a:cubicBezTo>
                  <a:pt x="51180" y="3093720"/>
                  <a:pt x="0" y="3042540"/>
                  <a:pt x="0" y="2979407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20269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5333" y="217932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" y="2712723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Cross-Selling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3093723"/>
            <a:ext cx="32861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Segment-specific recommendations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actual purchasing patterns. Champions get premium bundles, price-sensitive customers see value deals.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" y="4236723"/>
            <a:ext cx="3209925" cy="419100"/>
          </a:xfrm>
          <a:custGeom>
            <a:avLst/>
            <a:gdLst/>
            <a:ahLst/>
            <a:cxnLst/>
            <a:rect l="l" t="t" r="r" b="b"/>
            <a:pathLst>
              <a:path w="3209925" h="419100">
                <a:moveTo>
                  <a:pt x="76201" y="0"/>
                </a:moveTo>
                <a:lnTo>
                  <a:pt x="3133724" y="0"/>
                </a:lnTo>
                <a:cubicBezTo>
                  <a:pt x="3175809" y="0"/>
                  <a:pt x="3209925" y="34116"/>
                  <a:pt x="3209925" y="76201"/>
                </a:cubicBezTo>
                <a:lnTo>
                  <a:pt x="3209925" y="342899"/>
                </a:lnTo>
                <a:cubicBezTo>
                  <a:pt x="3209925" y="384984"/>
                  <a:pt x="3175809" y="419100"/>
                  <a:pt x="31337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7239" y="437388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931545" y="4351023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basket size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8270" y="1794510"/>
            <a:ext cx="3674745" cy="3093720"/>
          </a:xfrm>
          <a:custGeom>
            <a:avLst/>
            <a:gdLst/>
            <a:ahLst/>
            <a:cxnLst/>
            <a:rect l="l" t="t" r="r" b="b"/>
            <a:pathLst>
              <a:path w="3674745" h="3093720">
                <a:moveTo>
                  <a:pt x="114313" y="0"/>
                </a:moveTo>
                <a:lnTo>
                  <a:pt x="3560432" y="0"/>
                </a:lnTo>
                <a:cubicBezTo>
                  <a:pt x="3623565" y="0"/>
                  <a:pt x="3674745" y="51180"/>
                  <a:pt x="3674745" y="114313"/>
                </a:cubicBezTo>
                <a:lnTo>
                  <a:pt x="3674745" y="2979407"/>
                </a:lnTo>
                <a:cubicBezTo>
                  <a:pt x="3674745" y="3042540"/>
                  <a:pt x="3623565" y="3093720"/>
                  <a:pt x="3560432" y="3093720"/>
                </a:cubicBezTo>
                <a:lnTo>
                  <a:pt x="114313" y="3093720"/>
                </a:lnTo>
                <a:cubicBezTo>
                  <a:pt x="51180" y="3093720"/>
                  <a:pt x="0" y="3042540"/>
                  <a:pt x="0" y="2979407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0680" y="20269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43080" y="21793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5919" y="8439"/>
                </a:moveTo>
                <a:cubicBezTo>
                  <a:pt x="211053" y="10716"/>
                  <a:pt x="214313" y="15806"/>
                  <a:pt x="214313" y="21431"/>
                </a:cubicBezTo>
                <a:lnTo>
                  <a:pt x="214313" y="207169"/>
                </a:lnTo>
                <a:cubicBezTo>
                  <a:pt x="214313" y="212794"/>
                  <a:pt x="211053" y="217884"/>
                  <a:pt x="205919" y="220161"/>
                </a:cubicBezTo>
                <a:cubicBezTo>
                  <a:pt x="200784" y="222439"/>
                  <a:pt x="194846" y="221590"/>
                  <a:pt x="190604" y="217884"/>
                </a:cubicBezTo>
                <a:lnTo>
                  <a:pt x="169798" y="199712"/>
                </a:lnTo>
                <a:cubicBezTo>
                  <a:pt x="150331" y="182701"/>
                  <a:pt x="125730" y="172789"/>
                  <a:pt x="99968" y="171584"/>
                </a:cubicBezTo>
                <a:lnTo>
                  <a:pt x="99968" y="214313"/>
                </a:lnTo>
                <a:cubicBezTo>
                  <a:pt x="99968" y="222215"/>
                  <a:pt x="93583" y="228600"/>
                  <a:pt x="85680" y="228600"/>
                </a:cubicBezTo>
                <a:lnTo>
                  <a:pt x="71393" y="228600"/>
                </a:lnTo>
                <a:cubicBezTo>
                  <a:pt x="63490" y="228600"/>
                  <a:pt x="57105" y="222215"/>
                  <a:pt x="57105" y="214313"/>
                </a:cubicBezTo>
                <a:lnTo>
                  <a:pt x="57105" y="171450"/>
                </a:lnTo>
                <a:cubicBezTo>
                  <a:pt x="25584" y="171450"/>
                  <a:pt x="0" y="145866"/>
                  <a:pt x="0" y="114300"/>
                </a:cubicBezTo>
                <a:cubicBezTo>
                  <a:pt x="0" y="82734"/>
                  <a:pt x="25584" y="57150"/>
                  <a:pt x="57150" y="57150"/>
                </a:cubicBezTo>
                <a:lnTo>
                  <a:pt x="94878" y="57150"/>
                </a:lnTo>
                <a:cubicBezTo>
                  <a:pt x="122471" y="57061"/>
                  <a:pt x="149081" y="47015"/>
                  <a:pt x="169843" y="28888"/>
                </a:cubicBezTo>
                <a:lnTo>
                  <a:pt x="190649" y="10716"/>
                </a:lnTo>
                <a:cubicBezTo>
                  <a:pt x="194846" y="7010"/>
                  <a:pt x="200873" y="6161"/>
                  <a:pt x="205963" y="8439"/>
                </a:cubicBezTo>
                <a:close/>
                <a:moveTo>
                  <a:pt x="100013" y="142875"/>
                </a:moveTo>
                <a:lnTo>
                  <a:pt x="100013" y="142964"/>
                </a:lnTo>
                <a:cubicBezTo>
                  <a:pt x="131400" y="144170"/>
                  <a:pt x="161538" y="155689"/>
                  <a:pt x="185738" y="175736"/>
                </a:cubicBezTo>
                <a:lnTo>
                  <a:pt x="185738" y="52819"/>
                </a:lnTo>
                <a:cubicBezTo>
                  <a:pt x="161538" y="72866"/>
                  <a:pt x="131400" y="84386"/>
                  <a:pt x="100013" y="85591"/>
                </a:cubicBezTo>
                <a:lnTo>
                  <a:pt x="100013" y="14287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4490680" y="2712723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Targeted Marketing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0680" y="3093723"/>
            <a:ext cx="32861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campaigns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each customer segment. Different messaging, offers, and channels based on segment behavior and preferences.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90680" y="4236723"/>
            <a:ext cx="3209925" cy="419100"/>
          </a:xfrm>
          <a:custGeom>
            <a:avLst/>
            <a:gdLst/>
            <a:ahLst/>
            <a:cxnLst/>
            <a:rect l="l" t="t" r="r" b="b"/>
            <a:pathLst>
              <a:path w="3209925" h="419100">
                <a:moveTo>
                  <a:pt x="76201" y="0"/>
                </a:moveTo>
                <a:lnTo>
                  <a:pt x="3133724" y="0"/>
                </a:lnTo>
                <a:cubicBezTo>
                  <a:pt x="3175809" y="0"/>
                  <a:pt x="3209925" y="34116"/>
                  <a:pt x="3209925" y="76201"/>
                </a:cubicBezTo>
                <a:lnTo>
                  <a:pt x="3209925" y="342899"/>
                </a:lnTo>
                <a:cubicBezTo>
                  <a:pt x="3209925" y="384984"/>
                  <a:pt x="3175809" y="419100"/>
                  <a:pt x="31337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40699" y="437388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4805005" y="4351023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conversion rates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31731" y="1794510"/>
            <a:ext cx="3674745" cy="3093720"/>
          </a:xfrm>
          <a:custGeom>
            <a:avLst/>
            <a:gdLst/>
            <a:ahLst/>
            <a:cxnLst/>
            <a:rect l="l" t="t" r="r" b="b"/>
            <a:pathLst>
              <a:path w="3674745" h="3093720">
                <a:moveTo>
                  <a:pt x="114313" y="0"/>
                </a:moveTo>
                <a:lnTo>
                  <a:pt x="3560432" y="0"/>
                </a:lnTo>
                <a:cubicBezTo>
                  <a:pt x="3623565" y="0"/>
                  <a:pt x="3674745" y="51180"/>
                  <a:pt x="3674745" y="114313"/>
                </a:cubicBezTo>
                <a:lnTo>
                  <a:pt x="3674745" y="2979407"/>
                </a:lnTo>
                <a:cubicBezTo>
                  <a:pt x="3674745" y="3042540"/>
                  <a:pt x="3623565" y="3093720"/>
                  <a:pt x="3560432" y="3093720"/>
                </a:cubicBezTo>
                <a:lnTo>
                  <a:pt x="114313" y="3093720"/>
                </a:lnTo>
                <a:cubicBezTo>
                  <a:pt x="51180" y="3093720"/>
                  <a:pt x="0" y="3042540"/>
                  <a:pt x="0" y="2979407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4141" y="20269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87966" y="217932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73427" y="59248"/>
                </a:moveTo>
                <a:lnTo>
                  <a:pt x="237708" y="116398"/>
                </a:lnTo>
                <a:cubicBezTo>
                  <a:pt x="235833" y="119390"/>
                  <a:pt x="232618" y="121265"/>
                  <a:pt x="229091" y="121444"/>
                </a:cubicBezTo>
                <a:cubicBezTo>
                  <a:pt x="225564" y="121622"/>
                  <a:pt x="222171" y="120015"/>
                  <a:pt x="220072" y="117157"/>
                </a:cubicBezTo>
                <a:lnTo>
                  <a:pt x="198641" y="88582"/>
                </a:lnTo>
                <a:cubicBezTo>
                  <a:pt x="195069" y="83850"/>
                  <a:pt x="196051" y="77152"/>
                  <a:pt x="200784" y="73581"/>
                </a:cubicBezTo>
                <a:cubicBezTo>
                  <a:pt x="205517" y="70009"/>
                  <a:pt x="212214" y="70991"/>
                  <a:pt x="215786" y="75724"/>
                </a:cubicBezTo>
                <a:lnTo>
                  <a:pt x="227841" y="91797"/>
                </a:lnTo>
                <a:lnTo>
                  <a:pt x="255255" y="47908"/>
                </a:lnTo>
                <a:cubicBezTo>
                  <a:pt x="258381" y="42907"/>
                  <a:pt x="264988" y="41344"/>
                  <a:pt x="270034" y="44514"/>
                </a:cubicBezTo>
                <a:cubicBezTo>
                  <a:pt x="275079" y="47685"/>
                  <a:pt x="276597" y="54248"/>
                  <a:pt x="273427" y="5929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8364141" y="2712723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4141" y="3093723"/>
            <a:ext cx="32861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Tailored shopping experiences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match each segment's expectations. Relevant products, appropriate pricing, personalized journeys.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64141" y="4236723"/>
            <a:ext cx="3209925" cy="419100"/>
          </a:xfrm>
          <a:custGeom>
            <a:avLst/>
            <a:gdLst/>
            <a:ahLst/>
            <a:cxnLst/>
            <a:rect l="l" t="t" r="r" b="b"/>
            <a:pathLst>
              <a:path w="3209925" h="419100">
                <a:moveTo>
                  <a:pt x="76201" y="0"/>
                </a:moveTo>
                <a:lnTo>
                  <a:pt x="3133724" y="0"/>
                </a:lnTo>
                <a:cubicBezTo>
                  <a:pt x="3175809" y="0"/>
                  <a:pt x="3209925" y="34116"/>
                  <a:pt x="3209925" y="76201"/>
                </a:cubicBezTo>
                <a:lnTo>
                  <a:pt x="3209925" y="342899"/>
                </a:lnTo>
                <a:cubicBezTo>
                  <a:pt x="3209925" y="384984"/>
                  <a:pt x="3175809" y="419100"/>
                  <a:pt x="31337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514159" y="437388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8678466" y="4351023"/>
            <a:ext cx="2847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satisfaction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8620" y="5090161"/>
            <a:ext cx="5606415" cy="1577340"/>
          </a:xfrm>
          <a:custGeom>
            <a:avLst/>
            <a:gdLst/>
            <a:ahLst/>
            <a:cxnLst/>
            <a:rect l="l" t="t" r="r" b="b"/>
            <a:pathLst>
              <a:path w="5606415" h="1577340">
                <a:moveTo>
                  <a:pt x="114294" y="0"/>
                </a:moveTo>
                <a:lnTo>
                  <a:pt x="5492121" y="0"/>
                </a:lnTo>
                <a:cubicBezTo>
                  <a:pt x="5555244" y="0"/>
                  <a:pt x="5606415" y="51171"/>
                  <a:pt x="5606415" y="114294"/>
                </a:cubicBezTo>
                <a:lnTo>
                  <a:pt x="5606415" y="1463046"/>
                </a:lnTo>
                <a:cubicBezTo>
                  <a:pt x="5606415" y="1526169"/>
                  <a:pt x="5555244" y="1577340"/>
                  <a:pt x="5492121" y="1577340"/>
                </a:cubicBezTo>
                <a:lnTo>
                  <a:pt x="114294" y="1577340"/>
                </a:lnTo>
                <a:cubicBezTo>
                  <a:pt x="51171" y="1577340"/>
                  <a:pt x="0" y="1526169"/>
                  <a:pt x="0" y="146304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3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0320">
            <a:solidFill>
              <a:srgbClr val="4ECD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740" y="52882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2" name="Shape 30"/>
          <p:cNvSpPr/>
          <p:nvPr/>
        </p:nvSpPr>
        <p:spPr>
          <a:xfrm>
            <a:off x="696277" y="542163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08471" y="88255"/>
                </a:moveTo>
                <a:cubicBezTo>
                  <a:pt x="212341" y="92646"/>
                  <a:pt x="219001" y="93613"/>
                  <a:pt x="224024" y="90301"/>
                </a:cubicBezTo>
                <a:cubicBezTo>
                  <a:pt x="229493" y="86655"/>
                  <a:pt x="230981" y="79251"/>
                  <a:pt x="227335" y="73782"/>
                </a:cubicBezTo>
                <a:lnTo>
                  <a:pt x="209476" y="46992"/>
                </a:lnTo>
                <a:cubicBezTo>
                  <a:pt x="208434" y="45430"/>
                  <a:pt x="207020" y="44128"/>
                  <a:pt x="205346" y="43197"/>
                </a:cubicBezTo>
                <a:lnTo>
                  <a:pt x="130746" y="1749"/>
                </a:lnTo>
                <a:cubicBezTo>
                  <a:pt x="123565" y="-2232"/>
                  <a:pt x="114821" y="-2232"/>
                  <a:pt x="107603" y="1749"/>
                </a:cubicBezTo>
                <a:lnTo>
                  <a:pt x="33040" y="43160"/>
                </a:lnTo>
                <a:cubicBezTo>
                  <a:pt x="31031" y="44276"/>
                  <a:pt x="29431" y="45913"/>
                  <a:pt x="28352" y="47923"/>
                </a:cubicBezTo>
                <a:lnTo>
                  <a:pt x="10306" y="81372"/>
                </a:lnTo>
                <a:cubicBezTo>
                  <a:pt x="5618" y="90078"/>
                  <a:pt x="8892" y="100905"/>
                  <a:pt x="17599" y="105594"/>
                </a:cubicBezTo>
                <a:lnTo>
                  <a:pt x="29877" y="112179"/>
                </a:lnTo>
                <a:lnTo>
                  <a:pt x="29877" y="132011"/>
                </a:lnTo>
                <a:cubicBezTo>
                  <a:pt x="29877" y="140568"/>
                  <a:pt x="34491" y="148493"/>
                  <a:pt x="41932" y="152735"/>
                </a:cubicBezTo>
                <a:lnTo>
                  <a:pt x="107417" y="189830"/>
                </a:lnTo>
                <a:cubicBezTo>
                  <a:pt x="114709" y="193960"/>
                  <a:pt x="123602" y="193960"/>
                  <a:pt x="130894" y="189830"/>
                </a:cubicBezTo>
                <a:lnTo>
                  <a:pt x="196379" y="152735"/>
                </a:lnTo>
                <a:cubicBezTo>
                  <a:pt x="203857" y="148493"/>
                  <a:pt x="208434" y="140605"/>
                  <a:pt x="208434" y="132011"/>
                </a:cubicBezTo>
                <a:lnTo>
                  <a:pt x="208434" y="88292"/>
                </a:lnTo>
                <a:close/>
                <a:moveTo>
                  <a:pt x="119174" y="84609"/>
                </a:moveTo>
                <a:lnTo>
                  <a:pt x="63326" y="53578"/>
                </a:lnTo>
                <a:lnTo>
                  <a:pt x="119174" y="22547"/>
                </a:lnTo>
                <a:lnTo>
                  <a:pt x="175022" y="53578"/>
                </a:lnTo>
                <a:lnTo>
                  <a:pt x="119174" y="84609"/>
                </a:lnTo>
                <a:close/>
                <a:moveTo>
                  <a:pt x="103733" y="103287"/>
                </a:moveTo>
                <a:lnTo>
                  <a:pt x="95808" y="120476"/>
                </a:lnTo>
                <a:lnTo>
                  <a:pt x="34119" y="87437"/>
                </a:lnTo>
                <a:lnTo>
                  <a:pt x="43569" y="69875"/>
                </a:lnTo>
                <a:lnTo>
                  <a:pt x="103733" y="103287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33" name="Text 31"/>
          <p:cNvSpPr/>
          <p:nvPr/>
        </p:nvSpPr>
        <p:spPr>
          <a:xfrm>
            <a:off x="1158240" y="5383532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Strategy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6740" y="5859782"/>
            <a:ext cx="2543175" cy="609600"/>
          </a:xfrm>
          <a:custGeom>
            <a:avLst/>
            <a:gdLst/>
            <a:ahLst/>
            <a:cxnLst/>
            <a:rect l="l" t="t" r="r" b="b"/>
            <a:pathLst>
              <a:path w="2543175" h="609600">
                <a:moveTo>
                  <a:pt x="76200" y="0"/>
                </a:moveTo>
                <a:lnTo>
                  <a:pt x="2466975" y="0"/>
                </a:lnTo>
                <a:cubicBezTo>
                  <a:pt x="2509031" y="0"/>
                  <a:pt x="2543175" y="34144"/>
                  <a:pt x="2543175" y="76200"/>
                </a:cubicBezTo>
                <a:lnTo>
                  <a:pt x="2543175" y="533400"/>
                </a:lnTo>
                <a:cubicBezTo>
                  <a:pt x="2543175" y="575456"/>
                  <a:pt x="2509031" y="609600"/>
                  <a:pt x="2466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8424" y="599694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00013" y="25003"/>
                </a:moveTo>
                <a:lnTo>
                  <a:pt x="66675" y="25003"/>
                </a:lnTo>
                <a:lnTo>
                  <a:pt x="66675" y="58341"/>
                </a:lnTo>
                <a:lnTo>
                  <a:pt x="100013" y="58341"/>
                </a:lnTo>
                <a:lnTo>
                  <a:pt x="100013" y="25003"/>
                </a:lnTo>
                <a:close/>
                <a:moveTo>
                  <a:pt x="116681" y="58341"/>
                </a:move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00013" y="8334"/>
                </a:lnTo>
                <a:cubicBezTo>
                  <a:pt x="109206" y="8334"/>
                  <a:pt x="116681" y="15809"/>
                  <a:pt x="116681" y="25003"/>
                </a:cubicBezTo>
                <a:lnTo>
                  <a:pt x="116681" y="58341"/>
                </a:lnTo>
                <a:close/>
                <a:moveTo>
                  <a:pt x="16669" y="75009"/>
                </a:moveTo>
                <a:lnTo>
                  <a:pt x="16669" y="108347"/>
                </a:lnTo>
                <a:lnTo>
                  <a:pt x="50006" y="108347"/>
                </a:lnTo>
                <a:lnTo>
                  <a:pt x="50006" y="75009"/>
                </a:lnTo>
                <a:lnTo>
                  <a:pt x="16669" y="75009"/>
                </a:lnTo>
                <a:close/>
                <a:moveTo>
                  <a:pt x="50006" y="58341"/>
                </a:moveTo>
                <a:lnTo>
                  <a:pt x="50006" y="25003"/>
                </a:lnTo>
                <a:lnTo>
                  <a:pt x="16669" y="25003"/>
                </a:lnTo>
                <a:lnTo>
                  <a:pt x="16669" y="58341"/>
                </a:lnTo>
                <a:lnTo>
                  <a:pt x="50006" y="58341"/>
                </a:lnTo>
                <a:close/>
                <a:moveTo>
                  <a:pt x="66675" y="75009"/>
                </a:moveTo>
                <a:lnTo>
                  <a:pt x="66675" y="108347"/>
                </a:lnTo>
                <a:lnTo>
                  <a:pt x="100013" y="108347"/>
                </a:lnTo>
                <a:lnTo>
                  <a:pt x="100013" y="75009"/>
                </a:lnTo>
                <a:lnTo>
                  <a:pt x="66675" y="7500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929640" y="5974082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Bundling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1040" y="6202682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segment-specific packages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48025" y="5859782"/>
            <a:ext cx="2543175" cy="609600"/>
          </a:xfrm>
          <a:custGeom>
            <a:avLst/>
            <a:gdLst/>
            <a:ahLst/>
            <a:cxnLst/>
            <a:rect l="l" t="t" r="r" b="b"/>
            <a:pathLst>
              <a:path w="2543175" h="609600">
                <a:moveTo>
                  <a:pt x="76200" y="0"/>
                </a:moveTo>
                <a:lnTo>
                  <a:pt x="2466975" y="0"/>
                </a:lnTo>
                <a:cubicBezTo>
                  <a:pt x="2509031" y="0"/>
                  <a:pt x="2543175" y="34144"/>
                  <a:pt x="2543175" y="76200"/>
                </a:cubicBezTo>
                <a:lnTo>
                  <a:pt x="2543175" y="533400"/>
                </a:lnTo>
                <a:cubicBezTo>
                  <a:pt x="2543175" y="575456"/>
                  <a:pt x="2509031" y="609600"/>
                  <a:pt x="2466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81375" y="599694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996" y="18830"/>
                </a:moveTo>
                <a:cubicBezTo>
                  <a:pt x="9793" y="12606"/>
                  <a:pt x="15497" y="8334"/>
                  <a:pt x="21982" y="8334"/>
                </a:cubicBezTo>
                <a:lnTo>
                  <a:pt x="111576" y="8334"/>
                </a:lnTo>
                <a:cubicBezTo>
                  <a:pt x="118062" y="8334"/>
                  <a:pt x="123765" y="12606"/>
                  <a:pt x="125589" y="18830"/>
                </a:cubicBezTo>
                <a:lnTo>
                  <a:pt x="131683" y="39719"/>
                </a:lnTo>
                <a:cubicBezTo>
                  <a:pt x="135017" y="51100"/>
                  <a:pt x="126448" y="62508"/>
                  <a:pt x="114598" y="62508"/>
                </a:cubicBezTo>
                <a:cubicBezTo>
                  <a:pt x="107748" y="62508"/>
                  <a:pt x="101731" y="58627"/>
                  <a:pt x="98762" y="52845"/>
                </a:cubicBezTo>
                <a:cubicBezTo>
                  <a:pt x="95741" y="58549"/>
                  <a:pt x="89751" y="62508"/>
                  <a:pt x="82771" y="62508"/>
                </a:cubicBezTo>
                <a:cubicBezTo>
                  <a:pt x="75843" y="62508"/>
                  <a:pt x="69826" y="58601"/>
                  <a:pt x="66805" y="52871"/>
                </a:cubicBezTo>
                <a:cubicBezTo>
                  <a:pt x="63784" y="58601"/>
                  <a:pt x="57768" y="62508"/>
                  <a:pt x="50840" y="62508"/>
                </a:cubicBezTo>
                <a:cubicBezTo>
                  <a:pt x="43860" y="62508"/>
                  <a:pt x="37869" y="58575"/>
                  <a:pt x="34848" y="52845"/>
                </a:cubicBezTo>
                <a:cubicBezTo>
                  <a:pt x="31879" y="58601"/>
                  <a:pt x="25863" y="62508"/>
                  <a:pt x="19013" y="62508"/>
                </a:cubicBezTo>
                <a:cubicBezTo>
                  <a:pt x="7136" y="62508"/>
                  <a:pt x="-1406" y="51126"/>
                  <a:pt x="1927" y="39719"/>
                </a:cubicBezTo>
                <a:lnTo>
                  <a:pt x="7996" y="18830"/>
                </a:lnTo>
                <a:close/>
                <a:moveTo>
                  <a:pt x="25107" y="91678"/>
                </a:moveTo>
                <a:lnTo>
                  <a:pt x="108451" y="91678"/>
                </a:lnTo>
                <a:lnTo>
                  <a:pt x="108451" y="74384"/>
                </a:lnTo>
                <a:cubicBezTo>
                  <a:pt x="110430" y="74801"/>
                  <a:pt x="112488" y="75009"/>
                  <a:pt x="114572" y="75009"/>
                </a:cubicBezTo>
                <a:cubicBezTo>
                  <a:pt x="118296" y="75009"/>
                  <a:pt x="121864" y="74332"/>
                  <a:pt x="125120" y="73134"/>
                </a:cubicBezTo>
                <a:lnTo>
                  <a:pt x="125120" y="112514"/>
                </a:lnTo>
                <a:cubicBezTo>
                  <a:pt x="125120" y="119416"/>
                  <a:pt x="119520" y="125016"/>
                  <a:pt x="112618" y="125016"/>
                </a:cubicBezTo>
                <a:lnTo>
                  <a:pt x="20940" y="125016"/>
                </a:lnTo>
                <a:cubicBezTo>
                  <a:pt x="14038" y="125016"/>
                  <a:pt x="8439" y="119416"/>
                  <a:pt x="8439" y="112514"/>
                </a:cubicBezTo>
                <a:lnTo>
                  <a:pt x="8439" y="73134"/>
                </a:lnTo>
                <a:cubicBezTo>
                  <a:pt x="11694" y="74332"/>
                  <a:pt x="15236" y="75009"/>
                  <a:pt x="18987" y="75009"/>
                </a:cubicBezTo>
                <a:cubicBezTo>
                  <a:pt x="21096" y="75009"/>
                  <a:pt x="23128" y="74801"/>
                  <a:pt x="25107" y="74384"/>
                </a:cubicBezTo>
                <a:lnTo>
                  <a:pt x="25107" y="9167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3590925" y="5974082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62325" y="6202682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store/website layout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8870" y="5090161"/>
            <a:ext cx="5606415" cy="1577340"/>
          </a:xfrm>
          <a:custGeom>
            <a:avLst/>
            <a:gdLst/>
            <a:ahLst/>
            <a:cxnLst/>
            <a:rect l="l" t="t" r="r" b="b"/>
            <a:pathLst>
              <a:path w="5606415" h="1577340">
                <a:moveTo>
                  <a:pt x="114294" y="0"/>
                </a:moveTo>
                <a:lnTo>
                  <a:pt x="5492121" y="0"/>
                </a:lnTo>
                <a:cubicBezTo>
                  <a:pt x="5555244" y="0"/>
                  <a:pt x="5606415" y="51171"/>
                  <a:pt x="5606415" y="114294"/>
                </a:cubicBezTo>
                <a:lnTo>
                  <a:pt x="5606415" y="1463046"/>
                </a:lnTo>
                <a:cubicBezTo>
                  <a:pt x="5606415" y="1526169"/>
                  <a:pt x="5555244" y="1577340"/>
                  <a:pt x="5492121" y="1577340"/>
                </a:cubicBezTo>
                <a:lnTo>
                  <a:pt x="114294" y="1577340"/>
                </a:lnTo>
                <a:cubicBezTo>
                  <a:pt x="51171" y="1577340"/>
                  <a:pt x="0" y="1526169"/>
                  <a:pt x="0" y="146304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3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0320">
            <a:solidFill>
              <a:srgbClr val="4ECD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96990" y="52882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4" name="Shape 42"/>
          <p:cNvSpPr/>
          <p:nvPr/>
        </p:nvSpPr>
        <p:spPr>
          <a:xfrm>
            <a:off x="6530340" y="54216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45" name="Text 43"/>
          <p:cNvSpPr/>
          <p:nvPr/>
        </p:nvSpPr>
        <p:spPr>
          <a:xfrm>
            <a:off x="6968490" y="5383532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Growth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6990" y="5859782"/>
            <a:ext cx="2543175" cy="609600"/>
          </a:xfrm>
          <a:custGeom>
            <a:avLst/>
            <a:gdLst/>
            <a:ahLst/>
            <a:cxnLst/>
            <a:rect l="l" t="t" r="r" b="b"/>
            <a:pathLst>
              <a:path w="2543175" h="609600">
                <a:moveTo>
                  <a:pt x="76200" y="0"/>
                </a:moveTo>
                <a:lnTo>
                  <a:pt x="2466975" y="0"/>
                </a:lnTo>
                <a:cubicBezTo>
                  <a:pt x="2509031" y="0"/>
                  <a:pt x="2543175" y="34144"/>
                  <a:pt x="2543175" y="76200"/>
                </a:cubicBezTo>
                <a:lnTo>
                  <a:pt x="2543175" y="533400"/>
                </a:lnTo>
                <a:cubicBezTo>
                  <a:pt x="2543175" y="575456"/>
                  <a:pt x="2509031" y="609600"/>
                  <a:pt x="2466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55343" y="5996941"/>
            <a:ext cx="83344" cy="133350"/>
          </a:xfrm>
          <a:custGeom>
            <a:avLst/>
            <a:gdLst/>
            <a:ahLst/>
            <a:cxnLst/>
            <a:rect l="l" t="t" r="r" b="b"/>
            <a:pathLst>
              <a:path w="83344" h="133350">
                <a:moveTo>
                  <a:pt x="35421" y="6251"/>
                </a:moveTo>
                <a:cubicBezTo>
                  <a:pt x="35421" y="2787"/>
                  <a:pt x="38208" y="0"/>
                  <a:pt x="41672" y="0"/>
                </a:cubicBezTo>
                <a:cubicBezTo>
                  <a:pt x="45136" y="0"/>
                  <a:pt x="47923" y="2787"/>
                  <a:pt x="47923" y="6251"/>
                </a:cubicBezTo>
                <a:lnTo>
                  <a:pt x="47923" y="16669"/>
                </a:lnTo>
                <a:lnTo>
                  <a:pt x="62508" y="16669"/>
                </a:lnTo>
                <a:cubicBezTo>
                  <a:pt x="67118" y="16669"/>
                  <a:pt x="70842" y="20393"/>
                  <a:pt x="70842" y="25003"/>
                </a:cubicBezTo>
                <a:cubicBezTo>
                  <a:pt x="70842" y="29613"/>
                  <a:pt x="67118" y="33337"/>
                  <a:pt x="62508" y="33337"/>
                </a:cubicBezTo>
                <a:lnTo>
                  <a:pt x="32582" y="33337"/>
                </a:lnTo>
                <a:cubicBezTo>
                  <a:pt x="26097" y="33337"/>
                  <a:pt x="20836" y="38599"/>
                  <a:pt x="20836" y="45084"/>
                </a:cubicBezTo>
                <a:cubicBezTo>
                  <a:pt x="20836" y="50944"/>
                  <a:pt x="25133" y="55892"/>
                  <a:pt x="30915" y="56726"/>
                </a:cubicBezTo>
                <a:lnTo>
                  <a:pt x="54772" y="60138"/>
                </a:lnTo>
                <a:cubicBezTo>
                  <a:pt x="68785" y="62143"/>
                  <a:pt x="79177" y="74124"/>
                  <a:pt x="79177" y="88266"/>
                </a:cubicBezTo>
                <a:cubicBezTo>
                  <a:pt x="79177" y="103971"/>
                  <a:pt x="66441" y="116681"/>
                  <a:pt x="50762" y="116681"/>
                </a:cubicBezTo>
                <a:lnTo>
                  <a:pt x="47923" y="116681"/>
                </a:lnTo>
                <a:lnTo>
                  <a:pt x="47923" y="127099"/>
                </a:lnTo>
                <a:cubicBezTo>
                  <a:pt x="47923" y="130563"/>
                  <a:pt x="45136" y="133350"/>
                  <a:pt x="41672" y="133350"/>
                </a:cubicBezTo>
                <a:cubicBezTo>
                  <a:pt x="38208" y="133350"/>
                  <a:pt x="35421" y="130563"/>
                  <a:pt x="35421" y="127099"/>
                </a:cubicBezTo>
                <a:lnTo>
                  <a:pt x="35421" y="116681"/>
                </a:lnTo>
                <a:lnTo>
                  <a:pt x="16669" y="116681"/>
                </a:lnTo>
                <a:cubicBezTo>
                  <a:pt x="12059" y="116681"/>
                  <a:pt x="8334" y="112957"/>
                  <a:pt x="8334" y="108347"/>
                </a:cubicBezTo>
                <a:cubicBezTo>
                  <a:pt x="8334" y="103737"/>
                  <a:pt x="12059" y="100013"/>
                  <a:pt x="16669" y="100013"/>
                </a:cubicBezTo>
                <a:lnTo>
                  <a:pt x="50762" y="100013"/>
                </a:lnTo>
                <a:cubicBezTo>
                  <a:pt x="57247" y="100013"/>
                  <a:pt x="62508" y="94751"/>
                  <a:pt x="62508" y="88266"/>
                </a:cubicBezTo>
                <a:cubicBezTo>
                  <a:pt x="62508" y="82406"/>
                  <a:pt x="58210" y="77458"/>
                  <a:pt x="52428" y="76624"/>
                </a:cubicBezTo>
                <a:lnTo>
                  <a:pt x="28571" y="73212"/>
                </a:lnTo>
                <a:cubicBezTo>
                  <a:pt x="14559" y="71233"/>
                  <a:pt x="4167" y="59226"/>
                  <a:pt x="4167" y="45084"/>
                </a:cubicBezTo>
                <a:cubicBezTo>
                  <a:pt x="4167" y="29405"/>
                  <a:pt x="16903" y="16669"/>
                  <a:pt x="32582" y="16669"/>
                </a:cubicBezTo>
                <a:lnTo>
                  <a:pt x="35421" y="16669"/>
                </a:lnTo>
                <a:lnTo>
                  <a:pt x="35421" y="625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6739890" y="5974082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Upselling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11290" y="6202682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average order value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58275" y="5859782"/>
            <a:ext cx="2543175" cy="609600"/>
          </a:xfrm>
          <a:custGeom>
            <a:avLst/>
            <a:gdLst/>
            <a:ahLst/>
            <a:cxnLst/>
            <a:rect l="l" t="t" r="r" b="b"/>
            <a:pathLst>
              <a:path w="2543175" h="609600">
                <a:moveTo>
                  <a:pt x="76200" y="0"/>
                </a:moveTo>
                <a:lnTo>
                  <a:pt x="2466975" y="0"/>
                </a:lnTo>
                <a:cubicBezTo>
                  <a:pt x="2509031" y="0"/>
                  <a:pt x="2543175" y="34144"/>
                  <a:pt x="2543175" y="76200"/>
                </a:cubicBezTo>
                <a:lnTo>
                  <a:pt x="2543175" y="533400"/>
                </a:lnTo>
                <a:cubicBezTo>
                  <a:pt x="2543175" y="575456"/>
                  <a:pt x="2509031" y="609600"/>
                  <a:pt x="24669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3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191625" y="599694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3738" y="19456"/>
                </a:moveTo>
                <a:lnTo>
                  <a:pt x="116681" y="22242"/>
                </a:lnTo>
                <a:lnTo>
                  <a:pt x="116681" y="8334"/>
                </a:lnTo>
                <a:cubicBezTo>
                  <a:pt x="116681" y="3724"/>
                  <a:pt x="120406" y="0"/>
                  <a:pt x="125016" y="0"/>
                </a:cubicBezTo>
                <a:cubicBezTo>
                  <a:pt x="129626" y="0"/>
                  <a:pt x="133350" y="3724"/>
                  <a:pt x="133350" y="8334"/>
                </a:cubicBezTo>
                <a:lnTo>
                  <a:pt x="133350" y="41672"/>
                </a:lnTo>
                <a:cubicBezTo>
                  <a:pt x="133350" y="46282"/>
                  <a:pt x="129626" y="50006"/>
                  <a:pt x="125016" y="50006"/>
                </a:cubicBezTo>
                <a:lnTo>
                  <a:pt x="91678" y="50006"/>
                </a:lnTo>
                <a:cubicBezTo>
                  <a:pt x="87068" y="50006"/>
                  <a:pt x="83344" y="46282"/>
                  <a:pt x="83344" y="41672"/>
                </a:cubicBezTo>
                <a:cubicBezTo>
                  <a:pt x="83344" y="37062"/>
                  <a:pt x="87068" y="33337"/>
                  <a:pt x="91678" y="33337"/>
                </a:cubicBezTo>
                <a:lnTo>
                  <a:pt x="104154" y="33337"/>
                </a:lnTo>
                <a:lnTo>
                  <a:pt x="102174" y="31462"/>
                </a:lnTo>
                <a:cubicBezTo>
                  <a:pt x="102122" y="31410"/>
                  <a:pt x="102070" y="31358"/>
                  <a:pt x="102018" y="31306"/>
                </a:cubicBezTo>
                <a:cubicBezTo>
                  <a:pt x="82484" y="11772"/>
                  <a:pt x="50840" y="11772"/>
                  <a:pt x="31306" y="31306"/>
                </a:cubicBezTo>
                <a:cubicBezTo>
                  <a:pt x="11772" y="50840"/>
                  <a:pt x="11772" y="82484"/>
                  <a:pt x="31306" y="102018"/>
                </a:cubicBezTo>
                <a:cubicBezTo>
                  <a:pt x="50840" y="121552"/>
                  <a:pt x="82484" y="121552"/>
                  <a:pt x="102018" y="102018"/>
                </a:cubicBezTo>
                <a:cubicBezTo>
                  <a:pt x="104154" y="99882"/>
                  <a:pt x="106055" y="97616"/>
                  <a:pt x="107722" y="95220"/>
                </a:cubicBezTo>
                <a:cubicBezTo>
                  <a:pt x="110352" y="91444"/>
                  <a:pt x="115561" y="90532"/>
                  <a:pt x="119338" y="93163"/>
                </a:cubicBezTo>
                <a:cubicBezTo>
                  <a:pt x="123114" y="95793"/>
                  <a:pt x="124026" y="101002"/>
                  <a:pt x="121395" y="104779"/>
                </a:cubicBezTo>
                <a:cubicBezTo>
                  <a:pt x="119182" y="107956"/>
                  <a:pt x="116655" y="110977"/>
                  <a:pt x="113816" y="113816"/>
                </a:cubicBezTo>
                <a:cubicBezTo>
                  <a:pt x="87771" y="139861"/>
                  <a:pt x="45553" y="139861"/>
                  <a:pt x="19534" y="113816"/>
                </a:cubicBezTo>
                <a:cubicBezTo>
                  <a:pt x="-6485" y="87771"/>
                  <a:pt x="-6511" y="45579"/>
                  <a:pt x="19534" y="19534"/>
                </a:cubicBezTo>
                <a:cubicBezTo>
                  <a:pt x="45553" y="-6485"/>
                  <a:pt x="87693" y="-6511"/>
                  <a:pt x="113738" y="1945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2" name="Text 50"/>
          <p:cNvSpPr/>
          <p:nvPr/>
        </p:nvSpPr>
        <p:spPr>
          <a:xfrm>
            <a:off x="9401175" y="5974082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72575" y="6202682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customer loyalty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81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Project Plan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 &amp; Deliverables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51610"/>
            <a:ext cx="6713220" cy="5017770"/>
          </a:xfrm>
          <a:custGeom>
            <a:avLst/>
            <a:gdLst/>
            <a:ahLst/>
            <a:cxnLst/>
            <a:rect l="l" t="t" r="r" b="b"/>
            <a:pathLst>
              <a:path w="6713220" h="5017770">
                <a:moveTo>
                  <a:pt x="114305" y="0"/>
                </a:moveTo>
                <a:lnTo>
                  <a:pt x="6598915" y="0"/>
                </a:lnTo>
                <a:cubicBezTo>
                  <a:pt x="6662044" y="0"/>
                  <a:pt x="6713220" y="51176"/>
                  <a:pt x="6713220" y="114305"/>
                </a:cubicBezTo>
                <a:lnTo>
                  <a:pt x="6713220" y="4903465"/>
                </a:lnTo>
                <a:cubicBezTo>
                  <a:pt x="6713220" y="4966594"/>
                  <a:pt x="6662044" y="5017770"/>
                  <a:pt x="6598915" y="5017770"/>
                </a:cubicBezTo>
                <a:lnTo>
                  <a:pt x="114305" y="5017770"/>
                </a:lnTo>
                <a:cubicBezTo>
                  <a:pt x="51176" y="5017770"/>
                  <a:pt x="0" y="4966594"/>
                  <a:pt x="0" y="490346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3A5F7F">
                  <a:alpha val="30000"/>
                </a:srgbClr>
              </a:gs>
              <a:gs pos="100000">
                <a:srgbClr val="3A5F7F">
                  <a:alpha val="10000"/>
                </a:srgbClr>
              </a:gs>
            </a:gsLst>
            <a:lin ang="2700000" scaled="1"/>
          </a:gradFill>
          <a:ln w="10160">
            <a:solidFill>
              <a:srgbClr val="3A5F7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2939" y="1714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912495" y="1684023"/>
            <a:ext cx="604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Phases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" y="2141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1650" y="2255523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6820" y="2141223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Preprocessing &amp; EDA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9233" y="2141223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38101" y="0"/>
                </a:moveTo>
                <a:lnTo>
                  <a:pt x="590549" y="0"/>
                </a:lnTo>
                <a:cubicBezTo>
                  <a:pt x="611592" y="0"/>
                  <a:pt x="628650" y="17058"/>
                  <a:pt x="628650" y="38101"/>
                </a:cubicBezTo>
                <a:lnTo>
                  <a:pt x="628650" y="190499"/>
                </a:lnTo>
                <a:cubicBezTo>
                  <a:pt x="628650" y="211542"/>
                  <a:pt x="611592" y="228600"/>
                  <a:pt x="5905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39233" y="2141223"/>
            <a:ext cx="6858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1-2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6820" y="2407923"/>
            <a:ext cx="570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data, merge tables, engineer features, explore patterns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" y="2750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07006" y="2865123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6820" y="275082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 Mining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4467" y="2750823"/>
            <a:ext cx="647700" cy="228600"/>
          </a:xfrm>
          <a:custGeom>
            <a:avLst/>
            <a:gdLst/>
            <a:ahLst/>
            <a:cxnLst/>
            <a:rect l="l" t="t" r="r" b="b"/>
            <a:pathLst>
              <a:path w="647700" h="228600">
                <a:moveTo>
                  <a:pt x="38101" y="0"/>
                </a:moveTo>
                <a:lnTo>
                  <a:pt x="609599" y="0"/>
                </a:lnTo>
                <a:cubicBezTo>
                  <a:pt x="630642" y="0"/>
                  <a:pt x="647700" y="17058"/>
                  <a:pt x="647700" y="38101"/>
                </a:cubicBezTo>
                <a:lnTo>
                  <a:pt x="647700" y="190499"/>
                </a:lnTo>
                <a:cubicBezTo>
                  <a:pt x="647700" y="211542"/>
                  <a:pt x="630642" y="228600"/>
                  <a:pt x="609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14467" y="2750823"/>
            <a:ext cx="7048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3-4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6820" y="3017523"/>
            <a:ext cx="570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Apriori &amp; FP-Growth, evaluate rules, identify patterns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" y="3360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4982" y="3474718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6820" y="3360423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9229" y="3360423"/>
            <a:ext cx="657225" cy="228600"/>
          </a:xfrm>
          <a:custGeom>
            <a:avLst/>
            <a:gdLst/>
            <a:ahLst/>
            <a:cxnLst/>
            <a:rect l="l" t="t" r="r" b="b"/>
            <a:pathLst>
              <a:path w="657225" h="228600">
                <a:moveTo>
                  <a:pt x="38101" y="0"/>
                </a:moveTo>
                <a:lnTo>
                  <a:pt x="619124" y="0"/>
                </a:lnTo>
                <a:cubicBezTo>
                  <a:pt x="640167" y="0"/>
                  <a:pt x="657225" y="17058"/>
                  <a:pt x="657225" y="38101"/>
                </a:cubicBezTo>
                <a:lnTo>
                  <a:pt x="657225" y="190499"/>
                </a:lnTo>
                <a:cubicBezTo>
                  <a:pt x="657225" y="211542"/>
                  <a:pt x="640167" y="228600"/>
                  <a:pt x="6191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09229" y="3360423"/>
            <a:ext cx="7143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5-6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6820" y="3627118"/>
            <a:ext cx="570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RFM features, apply K-Means, profile segments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" y="39700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07006" y="4084318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6820" y="3970018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&amp;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682" y="3970018"/>
            <a:ext cx="647700" cy="228600"/>
          </a:xfrm>
          <a:custGeom>
            <a:avLst/>
            <a:gdLst/>
            <a:ahLst/>
            <a:cxnLst/>
            <a:rect l="l" t="t" r="r" b="b"/>
            <a:pathLst>
              <a:path w="647700" h="228600">
                <a:moveTo>
                  <a:pt x="38101" y="0"/>
                </a:moveTo>
                <a:lnTo>
                  <a:pt x="609599" y="0"/>
                </a:lnTo>
                <a:cubicBezTo>
                  <a:pt x="630642" y="0"/>
                  <a:pt x="647700" y="17058"/>
                  <a:pt x="647700" y="38101"/>
                </a:cubicBezTo>
                <a:lnTo>
                  <a:pt x="647700" y="190499"/>
                </a:lnTo>
                <a:cubicBezTo>
                  <a:pt x="647700" y="211542"/>
                  <a:pt x="630642" y="228600"/>
                  <a:pt x="6095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17682" y="3970018"/>
            <a:ext cx="7048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7-8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6820" y="4236718"/>
            <a:ext cx="570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insights, analyze segment-specific patterns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220" y="45796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804743" y="4693918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26820" y="4579618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&amp; Recommendations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60175" y="4579618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>
                <a:moveTo>
                  <a:pt x="38101" y="0"/>
                </a:moveTo>
                <a:lnTo>
                  <a:pt x="666749" y="0"/>
                </a:lnTo>
                <a:cubicBezTo>
                  <a:pt x="687792" y="0"/>
                  <a:pt x="704850" y="17058"/>
                  <a:pt x="704850" y="38101"/>
                </a:cubicBezTo>
                <a:lnTo>
                  <a:pt x="704850" y="190499"/>
                </a:lnTo>
                <a:cubicBezTo>
                  <a:pt x="704850" y="211542"/>
                  <a:pt x="687792" y="228600"/>
                  <a:pt x="666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160175" y="4579618"/>
            <a:ext cx="7620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9-10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26820" y="4846318"/>
            <a:ext cx="570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 business insights, create actionable recommendations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38060" y="1455420"/>
            <a:ext cx="4463415" cy="3587115"/>
          </a:xfrm>
          <a:custGeom>
            <a:avLst/>
            <a:gdLst/>
            <a:ahLst/>
            <a:cxnLst/>
            <a:rect l="l" t="t" r="r" b="b"/>
            <a:pathLst>
              <a:path w="4463415" h="3587115">
                <a:moveTo>
                  <a:pt x="114285" y="0"/>
                </a:moveTo>
                <a:lnTo>
                  <a:pt x="4349130" y="0"/>
                </a:lnTo>
                <a:cubicBezTo>
                  <a:pt x="4412248" y="0"/>
                  <a:pt x="4463415" y="51167"/>
                  <a:pt x="4463415" y="114285"/>
                </a:cubicBezTo>
                <a:lnTo>
                  <a:pt x="4463415" y="3472830"/>
                </a:lnTo>
                <a:cubicBezTo>
                  <a:pt x="4463415" y="3535948"/>
                  <a:pt x="4412248" y="3587115"/>
                  <a:pt x="4349130" y="3587115"/>
                </a:cubicBezTo>
                <a:lnTo>
                  <a:pt x="114285" y="3587115"/>
                </a:lnTo>
                <a:cubicBezTo>
                  <a:pt x="51167" y="3587115"/>
                  <a:pt x="0" y="3535948"/>
                  <a:pt x="0" y="347283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gradFill rotWithShape="1" flip="none">
            <a:gsLst>
              <a:gs pos="0">
                <a:srgbClr val="4ECDC4">
                  <a:alpha val="30000"/>
                </a:srgbClr>
              </a:gs>
              <a:gs pos="100000">
                <a:srgbClr val="4ECDC4">
                  <a:alpha val="10000"/>
                </a:srgbClr>
              </a:gs>
            </a:gsLst>
            <a:lin ang="2700000" scaled="1"/>
          </a:gradFill>
          <a:ln w="20320">
            <a:solidFill>
              <a:srgbClr val="4ECD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21905" y="172212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7869555" y="1691641"/>
            <a:ext cx="3790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74280" y="21107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70721" y="219646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3" name="Text 41"/>
          <p:cNvSpPr/>
          <p:nvPr/>
        </p:nvSpPr>
        <p:spPr>
          <a:xfrm>
            <a:off x="7993380" y="2110741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Processed Dataset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93380" y="2339341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integrated, analysis-ready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74280" y="26441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654052" y="2729866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9258" y="25003"/>
                </a:moveTo>
                <a:cubicBezTo>
                  <a:pt x="104935" y="25003"/>
                  <a:pt x="100742" y="26175"/>
                  <a:pt x="97069" y="28311"/>
                </a:cubicBezTo>
                <a:cubicBezTo>
                  <a:pt x="92954" y="24144"/>
                  <a:pt x="88162" y="20654"/>
                  <a:pt x="82875" y="18023"/>
                </a:cubicBezTo>
                <a:cubicBezTo>
                  <a:pt x="90220" y="11772"/>
                  <a:pt x="99570" y="8334"/>
                  <a:pt x="109258" y="8334"/>
                </a:cubicBezTo>
                <a:cubicBezTo>
                  <a:pt x="131761" y="8334"/>
                  <a:pt x="150019" y="26566"/>
                  <a:pt x="150019" y="49095"/>
                </a:cubicBezTo>
                <a:cubicBezTo>
                  <a:pt x="150019" y="59903"/>
                  <a:pt x="145721" y="70269"/>
                  <a:pt x="138090" y="77900"/>
                </a:cubicBezTo>
                <a:lnTo>
                  <a:pt x="119572" y="96418"/>
                </a:lnTo>
                <a:cubicBezTo>
                  <a:pt x="111941" y="104049"/>
                  <a:pt x="101575" y="108347"/>
                  <a:pt x="90767" y="108347"/>
                </a:cubicBezTo>
                <a:cubicBezTo>
                  <a:pt x="68264" y="108347"/>
                  <a:pt x="50006" y="90115"/>
                  <a:pt x="50006" y="67587"/>
                </a:cubicBezTo>
                <a:cubicBezTo>
                  <a:pt x="50006" y="67196"/>
                  <a:pt x="50006" y="66805"/>
                  <a:pt x="50032" y="66415"/>
                </a:cubicBezTo>
                <a:cubicBezTo>
                  <a:pt x="50163" y="61805"/>
                  <a:pt x="53991" y="58184"/>
                  <a:pt x="58601" y="58315"/>
                </a:cubicBezTo>
                <a:cubicBezTo>
                  <a:pt x="63211" y="58445"/>
                  <a:pt x="66831" y="62273"/>
                  <a:pt x="66701" y="66883"/>
                </a:cubicBezTo>
                <a:cubicBezTo>
                  <a:pt x="66701" y="67118"/>
                  <a:pt x="66701" y="67352"/>
                  <a:pt x="66701" y="67561"/>
                </a:cubicBezTo>
                <a:cubicBezTo>
                  <a:pt x="66701" y="80869"/>
                  <a:pt x="77484" y="91652"/>
                  <a:pt x="90793" y="91652"/>
                </a:cubicBezTo>
                <a:cubicBezTo>
                  <a:pt x="97174" y="91652"/>
                  <a:pt x="103294" y="89126"/>
                  <a:pt x="107826" y="84594"/>
                </a:cubicBezTo>
                <a:lnTo>
                  <a:pt x="126344" y="66076"/>
                </a:lnTo>
                <a:cubicBezTo>
                  <a:pt x="130850" y="61570"/>
                  <a:pt x="133402" y="55424"/>
                  <a:pt x="133402" y="49043"/>
                </a:cubicBezTo>
                <a:cubicBezTo>
                  <a:pt x="133402" y="35734"/>
                  <a:pt x="122619" y="24951"/>
                  <a:pt x="109311" y="24951"/>
                </a:cubicBezTo>
                <a:close/>
                <a:moveTo>
                  <a:pt x="71676" y="45136"/>
                </a:moveTo>
                <a:cubicBezTo>
                  <a:pt x="71181" y="44927"/>
                  <a:pt x="70686" y="44641"/>
                  <a:pt x="70243" y="44328"/>
                </a:cubicBezTo>
                <a:cubicBezTo>
                  <a:pt x="66961" y="42636"/>
                  <a:pt x="63211" y="41672"/>
                  <a:pt x="59278" y="41672"/>
                </a:cubicBezTo>
                <a:cubicBezTo>
                  <a:pt x="52897" y="41672"/>
                  <a:pt x="46777" y="44198"/>
                  <a:pt x="42245" y="48730"/>
                </a:cubicBezTo>
                <a:lnTo>
                  <a:pt x="23727" y="67248"/>
                </a:lnTo>
                <a:cubicBezTo>
                  <a:pt x="19221" y="71754"/>
                  <a:pt x="16669" y="77900"/>
                  <a:pt x="16669" y="84281"/>
                </a:cubicBezTo>
                <a:cubicBezTo>
                  <a:pt x="16669" y="97590"/>
                  <a:pt x="27451" y="108373"/>
                  <a:pt x="40760" y="108373"/>
                </a:cubicBezTo>
                <a:cubicBezTo>
                  <a:pt x="45058" y="108373"/>
                  <a:pt x="49251" y="107227"/>
                  <a:pt x="52923" y="105091"/>
                </a:cubicBezTo>
                <a:cubicBezTo>
                  <a:pt x="57038" y="109258"/>
                  <a:pt x="61831" y="112748"/>
                  <a:pt x="67144" y="115379"/>
                </a:cubicBezTo>
                <a:cubicBezTo>
                  <a:pt x="59799" y="121604"/>
                  <a:pt x="50475" y="125068"/>
                  <a:pt x="40760" y="125068"/>
                </a:cubicBezTo>
                <a:cubicBezTo>
                  <a:pt x="18257" y="125068"/>
                  <a:pt x="0" y="106836"/>
                  <a:pt x="0" y="84307"/>
                </a:cubicBezTo>
                <a:cubicBezTo>
                  <a:pt x="0" y="73499"/>
                  <a:pt x="4297" y="63133"/>
                  <a:pt x="11929" y="55502"/>
                </a:cubicBezTo>
                <a:lnTo>
                  <a:pt x="30447" y="36984"/>
                </a:lnTo>
                <a:cubicBezTo>
                  <a:pt x="38078" y="29353"/>
                  <a:pt x="48444" y="25055"/>
                  <a:pt x="59252" y="25055"/>
                </a:cubicBezTo>
                <a:cubicBezTo>
                  <a:pt x="81807" y="25055"/>
                  <a:pt x="100013" y="43443"/>
                  <a:pt x="100013" y="65920"/>
                </a:cubicBezTo>
                <a:cubicBezTo>
                  <a:pt x="100013" y="66258"/>
                  <a:pt x="100013" y="66597"/>
                  <a:pt x="100013" y="66935"/>
                </a:cubicBezTo>
                <a:cubicBezTo>
                  <a:pt x="99908" y="71545"/>
                  <a:pt x="96080" y="75166"/>
                  <a:pt x="91470" y="75061"/>
                </a:cubicBezTo>
                <a:cubicBezTo>
                  <a:pt x="86860" y="74957"/>
                  <a:pt x="83240" y="71129"/>
                  <a:pt x="83344" y="66519"/>
                </a:cubicBezTo>
                <a:cubicBezTo>
                  <a:pt x="83344" y="66310"/>
                  <a:pt x="83344" y="66128"/>
                  <a:pt x="83344" y="65920"/>
                </a:cubicBezTo>
                <a:cubicBezTo>
                  <a:pt x="83344" y="57143"/>
                  <a:pt x="78656" y="49433"/>
                  <a:pt x="71676" y="4518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7" name="Text 45"/>
          <p:cNvSpPr/>
          <p:nvPr/>
        </p:nvSpPr>
        <p:spPr>
          <a:xfrm>
            <a:off x="7993380" y="2644141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993380" y="2872741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support, confidence, lift metrics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74280" y="31775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645718" y="3263266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Text 49"/>
          <p:cNvSpPr/>
          <p:nvPr/>
        </p:nvSpPr>
        <p:spPr>
          <a:xfrm>
            <a:off x="7993380" y="3177541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993380" y="3406146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Profiled and interpreted groups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74280" y="371094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62386" y="379667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5" name="Text 53"/>
          <p:cNvSpPr/>
          <p:nvPr/>
        </p:nvSpPr>
        <p:spPr>
          <a:xfrm>
            <a:off x="7993380" y="3710946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Analysis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993380" y="3939546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Segment-specific patterns report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74280" y="424434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79055" y="433007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9" name="Text 57"/>
          <p:cNvSpPr/>
          <p:nvPr/>
        </p:nvSpPr>
        <p:spPr>
          <a:xfrm>
            <a:off x="7993380" y="4244346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Recommendations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993380" y="4472946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strategic insights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334250" y="5246606"/>
            <a:ext cx="4474845" cy="1226820"/>
          </a:xfrm>
          <a:custGeom>
            <a:avLst/>
            <a:gdLst/>
            <a:ahLst/>
            <a:cxnLst/>
            <a:rect l="l" t="t" r="r" b="b"/>
            <a:pathLst>
              <a:path w="4474845" h="1226820">
                <a:moveTo>
                  <a:pt x="114303" y="0"/>
                </a:moveTo>
                <a:lnTo>
                  <a:pt x="4360542" y="0"/>
                </a:lnTo>
                <a:cubicBezTo>
                  <a:pt x="4423670" y="0"/>
                  <a:pt x="4474845" y="51175"/>
                  <a:pt x="4474845" y="114303"/>
                </a:cubicBezTo>
                <a:lnTo>
                  <a:pt x="4474845" y="1112517"/>
                </a:lnTo>
                <a:cubicBezTo>
                  <a:pt x="4474845" y="1175603"/>
                  <a:pt x="4423628" y="1226820"/>
                  <a:pt x="4360542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3A5F7F">
              <a:alpha val="20000"/>
            </a:srgbClr>
          </a:solidFill>
          <a:ln w="10160">
            <a:solidFill>
              <a:srgbClr val="3A5F7F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38085" y="5471396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3" name="Text 61"/>
          <p:cNvSpPr/>
          <p:nvPr/>
        </p:nvSpPr>
        <p:spPr>
          <a:xfrm>
            <a:off x="7776210" y="5440924"/>
            <a:ext cx="391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528560" y="5745724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114300" y="0"/>
                </a:moveTo>
                <a:lnTo>
                  <a:pt x="457200" y="0"/>
                </a:lnTo>
                <a:cubicBezTo>
                  <a:pt x="520284" y="0"/>
                  <a:pt x="571500" y="51216"/>
                  <a:pt x="571500" y="114300"/>
                </a:cubicBezTo>
                <a:lnTo>
                  <a:pt x="571500" y="114300"/>
                </a:lnTo>
                <a:cubicBezTo>
                  <a:pt x="571500" y="177384"/>
                  <a:pt x="520284" y="228600"/>
                  <a:pt x="4572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F7F">
              <a:alpha val="4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528560" y="5745724"/>
            <a:ext cx="6286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177689" y="5745724"/>
            <a:ext cx="581025" cy="228600"/>
          </a:xfrm>
          <a:custGeom>
            <a:avLst/>
            <a:gdLst/>
            <a:ahLst/>
            <a:cxnLst/>
            <a:rect l="l" t="t" r="r" b="b"/>
            <a:pathLst>
              <a:path w="581025" h="228600">
                <a:moveTo>
                  <a:pt x="114300" y="0"/>
                </a:moveTo>
                <a:lnTo>
                  <a:pt x="466725" y="0"/>
                </a:lnTo>
                <a:cubicBezTo>
                  <a:pt x="529809" y="0"/>
                  <a:pt x="581025" y="51216"/>
                  <a:pt x="581025" y="114300"/>
                </a:cubicBezTo>
                <a:lnTo>
                  <a:pt x="581025" y="114300"/>
                </a:lnTo>
                <a:cubicBezTo>
                  <a:pt x="581025" y="177384"/>
                  <a:pt x="529809" y="228600"/>
                  <a:pt x="4667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F7F">
              <a:alpha val="4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177689" y="5745724"/>
            <a:ext cx="6381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835271" y="5745724"/>
            <a:ext cx="790575" cy="228600"/>
          </a:xfrm>
          <a:custGeom>
            <a:avLst/>
            <a:gdLst/>
            <a:ahLst/>
            <a:cxnLst/>
            <a:rect l="l" t="t" r="r" b="b"/>
            <a:pathLst>
              <a:path w="790575" h="228600">
                <a:moveTo>
                  <a:pt x="114300" y="0"/>
                </a:moveTo>
                <a:lnTo>
                  <a:pt x="676275" y="0"/>
                </a:lnTo>
                <a:cubicBezTo>
                  <a:pt x="739359" y="0"/>
                  <a:pt x="790575" y="51216"/>
                  <a:pt x="790575" y="114300"/>
                </a:cubicBezTo>
                <a:lnTo>
                  <a:pt x="790575" y="114300"/>
                </a:lnTo>
                <a:cubicBezTo>
                  <a:pt x="790575" y="177384"/>
                  <a:pt x="739359" y="228600"/>
                  <a:pt x="67627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F7F">
              <a:alpha val="4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835271" y="5745724"/>
            <a:ext cx="84772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703713" y="5745724"/>
            <a:ext cx="666750" cy="228600"/>
          </a:xfrm>
          <a:custGeom>
            <a:avLst/>
            <a:gdLst/>
            <a:ahLst/>
            <a:cxnLst/>
            <a:rect l="l" t="t" r="r" b="b"/>
            <a:pathLst>
              <a:path w="666750" h="228600">
                <a:moveTo>
                  <a:pt x="114300" y="0"/>
                </a:moveTo>
                <a:lnTo>
                  <a:pt x="552450" y="0"/>
                </a:lnTo>
                <a:cubicBezTo>
                  <a:pt x="615534" y="0"/>
                  <a:pt x="666750" y="51216"/>
                  <a:pt x="666750" y="114300"/>
                </a:cubicBezTo>
                <a:lnTo>
                  <a:pt x="666750" y="114300"/>
                </a:lnTo>
                <a:cubicBezTo>
                  <a:pt x="666750" y="177384"/>
                  <a:pt x="615534" y="228600"/>
                  <a:pt x="5524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F7F">
              <a:alpha val="4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9703713" y="5745724"/>
            <a:ext cx="72390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MLxtend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442496" y="5745724"/>
            <a:ext cx="733425" cy="228600"/>
          </a:xfrm>
          <a:custGeom>
            <a:avLst/>
            <a:gdLst/>
            <a:ahLst/>
            <a:cxnLst/>
            <a:rect l="l" t="t" r="r" b="b"/>
            <a:pathLst>
              <a:path w="733425" h="228600">
                <a:moveTo>
                  <a:pt x="114300" y="0"/>
                </a:moveTo>
                <a:lnTo>
                  <a:pt x="619125" y="0"/>
                </a:lnTo>
                <a:cubicBezTo>
                  <a:pt x="682209" y="0"/>
                  <a:pt x="733425" y="51216"/>
                  <a:pt x="733425" y="114300"/>
                </a:cubicBezTo>
                <a:lnTo>
                  <a:pt x="733425" y="114300"/>
                </a:lnTo>
                <a:cubicBezTo>
                  <a:pt x="733425" y="177384"/>
                  <a:pt x="682209" y="228600"/>
                  <a:pt x="6191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F7F">
              <a:alpha val="4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442496" y="5745724"/>
            <a:ext cx="79057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528560" y="6050403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114300" y="0"/>
                </a:moveTo>
                <a:lnTo>
                  <a:pt x="523875" y="0"/>
                </a:lnTo>
                <a:cubicBezTo>
                  <a:pt x="586959" y="0"/>
                  <a:pt x="638175" y="51216"/>
                  <a:pt x="638175" y="114300"/>
                </a:cubicBezTo>
                <a:lnTo>
                  <a:pt x="638175" y="114300"/>
                </a:lnTo>
                <a:cubicBezTo>
                  <a:pt x="638175" y="177384"/>
                  <a:pt x="586959" y="228600"/>
                  <a:pt x="52387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5F7F">
              <a:alpha val="4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7528560" y="6050403"/>
            <a:ext cx="695325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Seaborn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022a829db3161f007b38e0250d2418f763c9d21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3">
                  <a:alpha val="95000"/>
                </a:srgbClr>
              </a:gs>
              <a:gs pos="50000">
                <a:srgbClr val="1A1D23">
                  <a:alpha val="90000"/>
                </a:srgbClr>
              </a:gs>
              <a:gs pos="100000">
                <a:srgbClr val="3A5F7F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953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38200"/>
            <a:ext cx="100393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Unlock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2499360"/>
            <a:ext cx="9742170" cy="2131695"/>
          </a:xfrm>
          <a:custGeom>
            <a:avLst/>
            <a:gdLst/>
            <a:ahLst/>
            <a:cxnLst/>
            <a:rect l="l" t="t" r="r" b="b"/>
            <a:pathLst>
              <a:path w="9742170" h="2131695">
                <a:moveTo>
                  <a:pt x="152395" y="0"/>
                </a:moveTo>
                <a:lnTo>
                  <a:pt x="9589775" y="0"/>
                </a:lnTo>
                <a:cubicBezTo>
                  <a:pt x="9673940" y="0"/>
                  <a:pt x="9742170" y="68230"/>
                  <a:pt x="9742170" y="152395"/>
                </a:cubicBezTo>
                <a:lnTo>
                  <a:pt x="9742170" y="1979300"/>
                </a:lnTo>
                <a:cubicBezTo>
                  <a:pt x="9742170" y="2063465"/>
                  <a:pt x="9673940" y="2131695"/>
                  <a:pt x="9589775" y="2131695"/>
                </a:cubicBezTo>
                <a:lnTo>
                  <a:pt x="152395" y="2131695"/>
                </a:lnTo>
                <a:cubicBezTo>
                  <a:pt x="68286" y="2131695"/>
                  <a:pt x="0" y="2063409"/>
                  <a:pt x="0" y="197930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A5F7F">
              <a:alpha val="30196"/>
            </a:srgbClr>
          </a:solidFill>
          <a:ln w="10160">
            <a:solidFill>
              <a:srgbClr val="3A5F7F">
                <a:alpha val="5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3420" y="2807968"/>
            <a:ext cx="92392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360 goes beyond identifying customers — it reveals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their purchasing behaviors and product relationships differ across segments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3420" y="3703318"/>
            <a:ext cx="92202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isn't just data mining; it's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intelligence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transforms raw data into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business recommendations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810" y="4867281"/>
            <a:ext cx="3093720" cy="1341120"/>
          </a:xfrm>
          <a:custGeom>
            <a:avLst/>
            <a:gdLst/>
            <a:ahLst/>
            <a:cxnLst/>
            <a:rect l="l" t="t" r="r" b="b"/>
            <a:pathLst>
              <a:path w="3093720" h="1341120">
                <a:moveTo>
                  <a:pt x="114304" y="0"/>
                </a:moveTo>
                <a:lnTo>
                  <a:pt x="2979416" y="0"/>
                </a:lnTo>
                <a:cubicBezTo>
                  <a:pt x="3042545" y="0"/>
                  <a:pt x="3093720" y="51175"/>
                  <a:pt x="3093720" y="114304"/>
                </a:cubicBezTo>
                <a:lnTo>
                  <a:pt x="3093720" y="1226816"/>
                </a:lnTo>
                <a:cubicBezTo>
                  <a:pt x="3093720" y="1289945"/>
                  <a:pt x="3042545" y="1341120"/>
                  <a:pt x="2979416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016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9120" y="50615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Shape 9"/>
          <p:cNvSpPr/>
          <p:nvPr/>
        </p:nvSpPr>
        <p:spPr>
          <a:xfrm>
            <a:off x="686276" y="516636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3" name="Text 10"/>
          <p:cNvSpPr/>
          <p:nvPr/>
        </p:nvSpPr>
        <p:spPr>
          <a:xfrm>
            <a:off x="1074420" y="5118739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Analysis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9120" y="5556889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rules + segmentation combined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12131" y="4867281"/>
            <a:ext cx="3093720" cy="1341120"/>
          </a:xfrm>
          <a:custGeom>
            <a:avLst/>
            <a:gdLst/>
            <a:ahLst/>
            <a:cxnLst/>
            <a:rect l="l" t="t" r="r" b="b"/>
            <a:pathLst>
              <a:path w="3093720" h="1341120">
                <a:moveTo>
                  <a:pt x="114304" y="0"/>
                </a:moveTo>
                <a:lnTo>
                  <a:pt x="2979416" y="0"/>
                </a:lnTo>
                <a:cubicBezTo>
                  <a:pt x="3042545" y="0"/>
                  <a:pt x="3093720" y="51175"/>
                  <a:pt x="3093720" y="114304"/>
                </a:cubicBezTo>
                <a:lnTo>
                  <a:pt x="3093720" y="1226816"/>
                </a:lnTo>
                <a:cubicBezTo>
                  <a:pt x="3093720" y="1289945"/>
                  <a:pt x="3042545" y="1341120"/>
                  <a:pt x="2979416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016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06441" y="50615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Shape 14"/>
          <p:cNvSpPr/>
          <p:nvPr/>
        </p:nvSpPr>
        <p:spPr>
          <a:xfrm>
            <a:off x="4013597" y="516636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18" name="Text 15"/>
          <p:cNvSpPr/>
          <p:nvPr/>
        </p:nvSpPr>
        <p:spPr>
          <a:xfrm>
            <a:off x="4401741" y="5118739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Segment-Specific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906441" y="5556889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insights for each group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039571" y="4867281"/>
            <a:ext cx="3093720" cy="1341120"/>
          </a:xfrm>
          <a:custGeom>
            <a:avLst/>
            <a:gdLst/>
            <a:ahLst/>
            <a:cxnLst/>
            <a:rect l="l" t="t" r="r" b="b"/>
            <a:pathLst>
              <a:path w="3093720" h="1341120">
                <a:moveTo>
                  <a:pt x="114304" y="0"/>
                </a:moveTo>
                <a:lnTo>
                  <a:pt x="2979416" y="0"/>
                </a:lnTo>
                <a:cubicBezTo>
                  <a:pt x="3042545" y="0"/>
                  <a:pt x="3093720" y="51175"/>
                  <a:pt x="3093720" y="114304"/>
                </a:cubicBezTo>
                <a:lnTo>
                  <a:pt x="3093720" y="1226816"/>
                </a:lnTo>
                <a:cubicBezTo>
                  <a:pt x="3093720" y="1289945"/>
                  <a:pt x="3042545" y="1341120"/>
                  <a:pt x="2979416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0160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33881" y="50615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Shape 19"/>
          <p:cNvSpPr/>
          <p:nvPr/>
        </p:nvSpPr>
        <p:spPr>
          <a:xfrm>
            <a:off x="7341037" y="516636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1A1D23"/>
          </a:solidFill>
          <a:ln/>
        </p:spPr>
      </p:sp>
      <p:sp>
        <p:nvSpPr>
          <p:cNvPr id="23" name="Text 20"/>
          <p:cNvSpPr/>
          <p:nvPr/>
        </p:nvSpPr>
        <p:spPr>
          <a:xfrm>
            <a:off x="7729181" y="5118739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Ready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233881" y="5556889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recommendations delivered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81000" y="6212207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81000" y="6440807"/>
            <a:ext cx="3067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Saad Nasir • Ibrahim Moeed • Abdullah Azmat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887075" y="6212207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spc="53" kern="0" dirty="0">
                <a:solidFill>
                  <a:srgbClr val="5E7A9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877550" y="6440807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discuss!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360 - Data Mining Project</dc:title>
  <dc:subject>Customer 360 - Data Mining Project</dc:subject>
  <dc:creator>Kimi</dc:creator>
  <cp:lastModifiedBy>Kimi</cp:lastModifiedBy>
  <cp:revision>1</cp:revision>
  <dcterms:created xsi:type="dcterms:W3CDTF">2026-03-02T16:21:27Z</dcterms:created>
  <dcterms:modified xsi:type="dcterms:W3CDTF">2026-03-02T16:21:27Z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{"Label":"Customer 360 - Data Mining Project","ContentProducer":"001191110108MACG2KBH8F10000","ProduceID":"19caf353-a992-8eea-8000-00002ecfeaf2","ReservedCode1":"","ContentPropagator":"001191110108MACG2KBH8F20000","PropagateID":"19caf353-a992-8eea-8000-00002ecfeaf2","ReservedCode2":""}</vt:lpwstr>
  </property>
</Properties>
</file>